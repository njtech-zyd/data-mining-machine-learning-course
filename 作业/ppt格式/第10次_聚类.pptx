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96920" y="2124075"/>
            <a:ext cx="5998159" cy="2881313"/>
            <a:chOff x="3096920" y="2124075"/>
            <a:chExt cx="5998159" cy="2881313"/>
          </a:xfrm>
        </p:grpSpPr>
        <p:sp>
          <p:nvSpPr>
            <p:cNvPr id="8" name="TextBox 8"/>
            <p:cNvSpPr txBox="1"/>
            <p:nvPr/>
          </p:nvSpPr>
          <p:spPr>
            <a:xfrm>
              <a:off x="5161836" y="2124075"/>
              <a:ext cx="18683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机器学习 · 聚类分析</a:t>
              </a:r>
              <a:endParaRPr lang="zh-CN" sz="15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6920" y="2406015"/>
              <a:ext cx="599815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 + 层次聚类 Python</a:t>
              </a:r>
              <a:endParaRPr lang="zh-CN" sz="33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048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48543" y="3394710"/>
              <a:ext cx="3494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Iris鸢尾花数据集 · 4个特征 · 3类花 · 150条记录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6697" y="4251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作业完成内容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8928" y="4553902"/>
              <a:ext cx="3814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作业1：用花萼特征(列0,1)聚类 · 作业2：用全部4列特征聚类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880" y="4792028"/>
              <a:ext cx="4584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作业3：K=2实验 · 作业4：肘部法则 + 聚类中心可视化 + HC+Dendrogram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03650" y="5406390"/>
            <a:ext cx="5751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5313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作业1+2：K-means k=3 — 花瓣vs花萼 + 4D特征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095375"/>
            <a:ext cx="4381500" cy="2012156"/>
            <a:chOff x="571500" y="1095375"/>
            <a:chExt cx="4381500" cy="2012156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4381500" cy="200025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1522" y="1263491"/>
              <a:ext cx="19792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sklearn.cluster import KMeans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522" y="1453991"/>
              <a:ext cx="21442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sklearn.datasets import load_iris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644491"/>
              <a:ext cx="9175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iris = load_iris()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522" y="1834991"/>
              <a:ext cx="12531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= iris.data # (150, 4)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2101691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花瓣特征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292191"/>
              <a:ext cx="22212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X_petal = X[:, 2:4] # petal length, width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558891"/>
              <a:ext cx="7745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K-means k=3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749391"/>
              <a:ext cx="33158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kmeans = KMeans(n_clusters=3, n_init=10, random_state=42)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939891"/>
              <a:ext cx="2028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labels = kmeans.fit_predict(X_petal)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20754" y="1095375"/>
            <a:ext cx="6655866" cy="2667000"/>
            <a:chOff x="5220754" y="1095375"/>
            <a:chExt cx="6655866" cy="266700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20754" y="1095375"/>
              <a:ext cx="3226866" cy="266700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9754" y="1095375"/>
              <a:ext cx="3226866" cy="2667000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393065" y="3643630"/>
            <a:ext cx="5334000" cy="2571750"/>
            <a:chOff x="571500" y="3286125"/>
            <a:chExt cx="53340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571500" y="3286125"/>
              <a:ext cx="5334000" cy="2571750"/>
            </a:xfrm>
            <a:prstGeom prst="roundRect">
              <a:avLst>
                <a:gd name="adj" fmla="val 222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7712" y="3450431"/>
              <a:ext cx="17376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花瓣聚类结果（左图）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3704749"/>
              <a:ext cx="3554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聚类中心：C0[5.60,2.04] C1[1.46,0.25] C2[4.27,1.34]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3942874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三类划分清晰，基本对应setosa/versicolor/virginica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1809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setosa(小花)完全分开，versicolor和virginica有少量重叠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712" y="443150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花萼聚类结果（右图）</a:t>
              </a:r>
              <a:endParaRPr lang="zh-CN" sz="112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685824"/>
              <a:ext cx="1565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三类重叠严重，边界模糊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618" y="4895374"/>
              <a:ext cx="2937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花萼特征对鸢尾花区分能力弱→需要选择合适特征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3895725"/>
            <a:ext cx="5334000" cy="2705100"/>
            <a:chOff x="6286500" y="3286125"/>
            <a:chExt cx="5334000" cy="2705100"/>
          </a:xfrm>
        </p:grpSpPr>
        <p:sp>
          <p:nvSpPr>
            <p:cNvPr id="30" name="Rectangle 30"/>
            <p:cNvSpPr/>
            <p:nvPr/>
          </p:nvSpPr>
          <p:spPr>
            <a:xfrm>
              <a:off x="6286500" y="3286125"/>
              <a:ext cx="5334000" cy="2571750"/>
            </a:xfrm>
            <a:prstGeom prst="roundRect">
              <a:avLst>
                <a:gd name="adj" fmla="val 222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61760" y="3470910"/>
              <a:ext cx="28700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作业2：4维特征聚类 → PCA投影可视化</a:t>
              </a:r>
              <a:endParaRPr lang="zh-CN" sz="120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1141" y="3790950"/>
              <a:ext cx="2324718" cy="2000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465570" y="5808345"/>
              <a:ext cx="38453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4D数据通过PCA降到2D后，三类聚类效果较好（边界比花瓣聚类略模糊）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9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5489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作业3+4：K=2实验 + 肘部法则 + 聚类中心可视化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32576" y="1095375"/>
            <a:ext cx="11368924" cy="3048000"/>
            <a:chOff x="632576" y="1095375"/>
            <a:chExt cx="1136892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2576" y="1095375"/>
              <a:ext cx="3687847" cy="3048000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398681"/>
              <a:ext cx="3810000" cy="2441388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0" y="1202343"/>
              <a:ext cx="3429000" cy="2834063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864995" y="4236720"/>
            <a:ext cx="8856488" cy="182880"/>
            <a:chOff x="1864995" y="4236720"/>
            <a:chExt cx="8856488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1864995" y="4236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 K=2（花瓣）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505" y="4236720"/>
              <a:ext cx="1066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肘部法则（Elbow）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2517" y="4236720"/>
              <a:ext cx="868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HC层次聚类 K=3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4524375"/>
            <a:ext cx="11049000" cy="1333500"/>
            <a:chOff x="571500" y="4524375"/>
            <a:chExt cx="110490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571500" y="4524375"/>
              <a:ext cx="11049000" cy="1333500"/>
            </a:xfrm>
            <a:prstGeom prst="roundRect">
              <a:avLst>
                <a:gd name="adj" fmla="val 428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712" y="4688681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实验分析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4962049"/>
              <a:ext cx="51279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K=2（左图）：setosa独为一类，versicolor+virginica合并 → 2类也合理但信息损失大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5200174"/>
              <a:ext cx="44843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肘部法则（中图）：K=3处出现明显拐点 → K=3为最优值，与真实分类数一致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5438299"/>
              <a:ext cx="44973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HC层次聚类（右图）：Ward距离，与K-means结果基本一致，三类划分清晰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60440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作业4（续）：HC树状图 + K-means vs HC对比 + 总结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377393" y="1095375"/>
            <a:ext cx="5055715" cy="3238500"/>
            <a:chOff x="1377393" y="1095375"/>
            <a:chExt cx="5055715" cy="3238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77393" y="1095375"/>
              <a:ext cx="5055715" cy="323850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7429500" y="1095375"/>
            <a:ext cx="4191000" cy="3238500"/>
            <a:chOff x="7429500" y="1095375"/>
            <a:chExt cx="4191000" cy="3238500"/>
          </a:xfrm>
        </p:grpSpPr>
        <p:sp>
          <p:nvSpPr>
            <p:cNvPr id="9" name="Rectangle 9"/>
            <p:cNvSpPr/>
            <p:nvPr/>
          </p:nvSpPr>
          <p:spPr>
            <a:xfrm>
              <a:off x="7429500" y="1095375"/>
              <a:ext cx="4191000" cy="3238500"/>
            </a:xfrm>
            <a:prstGeom prst="roundRect">
              <a:avLst>
                <a:gd name="adj" fmla="val 1765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04760" y="12801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树状图解读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7618" y="1590199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横轴：样本点（30个节点）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07618" y="1828324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纵轴：距离（Ward距离）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07618" y="20664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红色虚线：切在d=3位置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07618" y="2275999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与3条垂直线相交=3类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07618" y="25426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橙色虚线：切在d=5位置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07618" y="2752249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与2条垂直线相交=2类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0" y="309562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06665" y="3239452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HC vs K-means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08570" y="3493770"/>
              <a:ext cx="1781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相同点：k=3时聚类结果基本一致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8570" y="3684270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不同点：HC展示层次结构·需dendrogram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8570" y="3874770"/>
              <a:ext cx="2201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K-means计算快·适合大数据·有聚类中心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524375"/>
            <a:ext cx="11049000" cy="1333500"/>
            <a:chOff x="571500" y="4524375"/>
            <a:chExt cx="110490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571500" y="4524375"/>
              <a:ext cx="11049000" cy="1333500"/>
            </a:xfrm>
            <a:prstGeom prst="roundRect">
              <a:avLst>
                <a:gd name="adj" fmla="val 571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47914" y="4664392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作业总结与知识收获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1905000" y="49530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9618" y="5114449"/>
              <a:ext cx="2254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花萼聚类效果差→特征选择很重要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1368" y="5114449"/>
              <a:ext cx="2196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4D+PCA投影聚类→高维也可聚类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83618" y="51144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K=2简单但信息损失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64868" y="511444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作业4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肘部法则确定K=3最优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5419249"/>
              <a:ext cx="7728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深入理解：花瓣特征&gt;花萼特征，特征选取直接影响聚类质量；肘部法则是K-means确定K值的重要方法；HC树状图可直观展示层次结构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56212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K-means深入：初始化方式 + n_init的影响 + 算法收敛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095375"/>
            <a:ext cx="5334000" cy="2667000"/>
            <a:chOff x="571500" y="1095375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初始化方式对比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01152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K-means对初始质心选择敏感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952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8665" y="2105978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随机初始化 (random)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352199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随机选取k个样本作为初始质心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5617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缺点：不同运行结果可能不同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820352"/>
              <a:ext cx="157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K-means++ (默认推荐)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3066574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第一个质心随机，后续离已有质心越远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2761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越可能被选为下一个质心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514249"/>
              <a:ext cx="1435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结果更稳定，收敛更快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095375"/>
            <a:ext cx="5334000" cy="3169444"/>
            <a:chOff x="6286500" y="1095375"/>
            <a:chExt cx="5334000" cy="3169444"/>
          </a:xfrm>
        </p:grpSpPr>
        <p:sp>
          <p:nvSpPr>
            <p:cNvPr id="19" name="Rectangle 19"/>
            <p:cNvSpPr/>
            <p:nvPr/>
          </p:nvSpPr>
          <p:spPr>
            <a:xfrm>
              <a:off x="6286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0808" y="1272064"/>
              <a:ext cx="17819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n_init参数与算法收敛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4618" y="160924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KMeans(n_clusters=3, n_init=10, random_state=42)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886902"/>
              <a:ext cx="2133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n_init=10：用10组不同的初始质心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212502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分别运行K-means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363152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最终选择inertia(SSE)最小的结果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77000" y="2714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3665" y="288702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本次实验中的inertia：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3152299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K=2: Inertia=152.35</a:t>
              </a:r>
              <a:endParaRPr lang="zh-CN" sz="975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371374"/>
              <a:ext cx="1703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K=3: Inertia=78.85 ✅ 最优</a:t>
              </a:r>
              <a:endParaRPr lang="zh-CN" sz="97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5904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K=4: Inertia=58.52</a:t>
              </a:r>
              <a:endParaRPr lang="zh-CN" sz="97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84762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Inertia随着K增大而减小，但K=3后下降趋缓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40666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肘部法则确认K=3为最优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952875"/>
            <a:ext cx="11049000" cy="1809750"/>
            <a:chOff x="571500" y="3952875"/>
            <a:chExt cx="11049000" cy="1809750"/>
          </a:xfrm>
        </p:grpSpPr>
        <p:sp>
          <p:nvSpPr>
            <p:cNvPr id="33" name="Rectangle 33"/>
            <p:cNvSpPr/>
            <p:nvPr/>
          </p:nvSpPr>
          <p:spPr>
            <a:xfrm>
              <a:off x="571500" y="3952875"/>
              <a:ext cx="11049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413766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聚类中心可视化（花瓣特征）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" y="44577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0570" y="4646295"/>
              <a:ext cx="37373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Cluster 0: center=[5.60, 2.04], size=48 → Iris-virginica (大花)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4855845"/>
              <a:ext cx="35693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Cluster 1: center=[1.46, 0.25], size=50 → Iris-setosa (小花)</a:t>
              </a:r>
              <a:endParaRPr lang="zh-CN" sz="90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570" y="5065395"/>
              <a:ext cx="38033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Cluster 2: center=[4.27, 1.34], size=52 → Iris-versicolor (中花)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618" y="5323999"/>
              <a:ext cx="6207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聚类中心反映了各类花的典型特征：setosa花瓣最小(1.46cm×0.25cm)，virginica最大(5.60cm×2.04cm)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42350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层次聚类深入：连接方式对比 + 完整代码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095375"/>
            <a:ext cx="5334000" cy="2836069"/>
            <a:chOff x="571500" y="1095375"/>
            <a:chExt cx="5334000" cy="2836069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层次聚类连接方式对比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618" y="1590199"/>
              <a:ext cx="37107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scipy.cluster.hierarchy import dendrogram, linkage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780699"/>
              <a:ext cx="3424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sklearn.cluster import AgglomerativeClustering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21431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8665" y="2296478"/>
              <a:ext cx="6735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Ward连接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542699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合并时使SSE增量最小（本次实验使用）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780824"/>
              <a:ext cx="2085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产生大小相近的簇，适合球形数据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3010852"/>
              <a:ext cx="1607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最大距离法 (complete)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2570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合并两簇中最远点之间的距离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487102"/>
              <a:ext cx="15336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平均距离法 (average)</a:t>
              </a:r>
              <a:endParaRPr lang="zh-CN" sz="1050" b="1" dirty="0">
                <a:solidFill>
                  <a:srgbClr val="5DAD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733324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合并两簇中所有点之间的平均距离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095375"/>
            <a:ext cx="5334000" cy="2997994"/>
            <a:chOff x="6286500" y="1095375"/>
            <a:chExt cx="5334000" cy="2997994"/>
          </a:xfrm>
        </p:grpSpPr>
        <p:sp>
          <p:nvSpPr>
            <p:cNvPr id="20" name="Rectangle 20"/>
            <p:cNvSpPr/>
            <p:nvPr/>
          </p:nvSpPr>
          <p:spPr>
            <a:xfrm>
              <a:off x="6286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0808" y="12720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树状图详细解读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1601152"/>
              <a:ext cx="2343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纵轴（距离）：数值越大→簇越不相似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18869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水平线：合并两个簇的位置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172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横切判断类数：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7492" y="2418874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红色虚线(d=3)→3条垂直线→3类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07492" y="26569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橙色虚线(d=5)→2条垂直线→2类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477000" y="3028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3665" y="320135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HC算法特点：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07492" y="3466624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可视化层次结构（树状图）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07492" y="3685699"/>
              <a:ext cx="18969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不需预先指定K（从树状图定）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7492" y="389524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计算复杂度O(n³)→适合小数据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952875"/>
            <a:ext cx="11049000" cy="2166937"/>
            <a:chOff x="571500" y="3952875"/>
            <a:chExt cx="11049000" cy="2166937"/>
          </a:xfrm>
        </p:grpSpPr>
        <p:sp>
          <p:nvSpPr>
            <p:cNvPr id="33" name="Rectangle 33"/>
            <p:cNvSpPr/>
            <p:nvPr/>
          </p:nvSpPr>
          <p:spPr>
            <a:xfrm>
              <a:off x="571500" y="3952875"/>
              <a:ext cx="11049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41376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完整聚类代码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475" y="4452938"/>
              <a:ext cx="306943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sklearn.cluster import KMeans, AgglomerativeClustering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75" y="4624388"/>
              <a:ext cx="194929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sklearn.datasets import load_iris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475" y="4795838"/>
              <a:ext cx="28544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scipy.cluster.hierarchy import dendrogram, linkage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475" y="4967288"/>
              <a:ext cx="153924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matplotlib.pyplot as plt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475" y="5205412"/>
              <a:ext cx="19192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iris = load_iris(); X = iris.data[:,2:4]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475" y="5395912"/>
              <a:ext cx="33744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kmeans = KMeans(n_clusters=3, n_init=10, random_state=42).fit(X)</a:t>
              </a:r>
              <a:endParaRPr lang="zh-CN" sz="7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475" y="5586412"/>
              <a:ext cx="335946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hc = AgglomerativeClustering(n_clusters=3, linkage='ward').fit(X)</a:t>
              </a:r>
              <a:endParaRPr lang="zh-CN" sz="7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475" y="5776912"/>
              <a:ext cx="175426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linked = linkage(X, method='ward')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475" y="5967412"/>
              <a:ext cx="222432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dendrogram(linked); plt.show() # 绘制树状图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44661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 vs HC + 评估指标 + 特征选择讨论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095375"/>
            <a:ext cx="5334000" cy="2066925"/>
            <a:chOff x="571500" y="1095375"/>
            <a:chExt cx="5334000" cy="2066925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21300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 vs 层次聚类对比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571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9618" y="1733074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979295"/>
              <a:ext cx="1901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需预指定K值·结果不稳定·球形假设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217420"/>
              <a:ext cx="1883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计算O(n)·适合大数据·有聚类中心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495074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层次聚类(HC)</a:t>
              </a:r>
              <a:endParaRPr lang="zh-CN" sz="975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741295"/>
              <a:ext cx="1781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树状图展层次·不需要预知K·稳定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979420"/>
              <a:ext cx="2129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计算O(n³)~O(n²)·适合小数据·无中心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095375"/>
            <a:ext cx="5334000" cy="1905000"/>
            <a:chOff x="6286500" y="1095375"/>
            <a:chExt cx="53340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6286500" y="1095375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0808" y="127206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聚类效果评估方法</a:t>
              </a:r>
              <a:endParaRPr lang="zh-CN" sz="12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1571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3665" y="174402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外部评估（有真实标签时）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4618" y="20092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调整兰德指数(ARI) / 互信息(NMI)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248852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内部评估（无真实标签时）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514124"/>
              <a:ext cx="25925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轮廓系数(Silhouette)：[-1,1]，越大越好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733199"/>
              <a:ext cx="24885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Inertia(SSE)：越小越好（肘部法则用）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238500"/>
            <a:ext cx="5334000" cy="2571750"/>
            <a:chOff x="571500" y="3238500"/>
            <a:chExt cx="5334000" cy="2571750"/>
          </a:xfrm>
        </p:grpSpPr>
        <p:sp>
          <p:nvSpPr>
            <p:cNvPr id="26" name="Rectangle 26"/>
            <p:cNvSpPr/>
            <p:nvPr/>
          </p:nvSpPr>
          <p:spPr>
            <a:xfrm>
              <a:off x="571500" y="3238500"/>
              <a:ext cx="5334000" cy="2571750"/>
            </a:xfrm>
            <a:prstGeom prst="roundRect">
              <a:avLst>
                <a:gd name="adj" fmla="val 296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6760" y="34232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特征选择讨论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37252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为什么花瓣特征优于花萼？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18" y="399049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花瓣长/宽在不同品种间差异显著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4200049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花萼长/宽在不同品种间有重叠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762000" y="4552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8665" y="469677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启发：聚类效果不仅取决于算法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4934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特征选择同样关键！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0570" y="5217795"/>
              <a:ext cx="2531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降维可视化(PCA/t-SNE)有助于发现有效特征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3238500"/>
            <a:ext cx="5334000" cy="2571750"/>
            <a:chOff x="6286500" y="3238500"/>
            <a:chExt cx="5334000" cy="2571750"/>
          </a:xfrm>
        </p:grpSpPr>
        <p:sp>
          <p:nvSpPr>
            <p:cNvPr id="36" name="Rectangle 36"/>
            <p:cNvSpPr/>
            <p:nvPr/>
          </p:nvSpPr>
          <p:spPr>
            <a:xfrm>
              <a:off x="6286500" y="3238500"/>
              <a:ext cx="5334000" cy="2571750"/>
            </a:xfrm>
            <a:prstGeom prst="roundRect">
              <a:avLst>
                <a:gd name="adj" fmla="val 296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61760" y="3442335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💡 重要认知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6477000" y="37623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63665" y="3963352"/>
              <a:ext cx="20219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1️⃣ 聚类是无监督学习→真实标签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7492" y="41809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仅用于评估，不参与训练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3665" y="44396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2️⃣ K-means假设数据是球形分布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7492" y="465724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非凸形状→DBSCAN等密度聚类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3665" y="4915852"/>
              <a:ext cx="19939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3️⃣ HC通过树状图直观展示层次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07492" y="51334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适合探索性数据分析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5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23175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作业总结与知识收获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143000"/>
            <a:ext cx="5334000" cy="2286000"/>
            <a:chOff x="571500" y="1143000"/>
            <a:chExt cx="5334000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作业完成情况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867852"/>
              <a:ext cx="19085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作业1：花萼特征(列0,1)聚类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04549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三类重叠严重→花萼区分能力弱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822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作业2：全部4列特征聚类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6188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PCA投影后聚类边界较好（优于花萼）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896552"/>
              <a:ext cx="10852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作业3：K=2实验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313324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setosa独为一类，versicolor+virginica合并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143000"/>
            <a:ext cx="5334000" cy="2562225"/>
            <a:chOff x="6286500" y="1143000"/>
            <a:chExt cx="5334000" cy="2562225"/>
          </a:xfrm>
        </p:grpSpPr>
        <p:sp>
          <p:nvSpPr>
            <p:cNvPr id="17" name="Rectangle 17"/>
            <p:cNvSpPr/>
            <p:nvPr/>
          </p:nvSpPr>
          <p:spPr>
            <a:xfrm>
              <a:off x="6286500" y="114300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9855" y="1330642"/>
              <a:ext cx="22553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作业4：聚类中心+肘部+HC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3665" y="18678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聚类中心可视化✅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665" y="2105978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肘部法则→K=3最优✅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3441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HC树状图+解读✅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6477000" y="2714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3665" y="28870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聚类中心：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5570" y="3141345"/>
              <a:ext cx="1661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setosa: [1.46, 0.25] (最小)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5570" y="3331845"/>
              <a:ext cx="1457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versicolor: [4.27, 1.34]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5570" y="3522345"/>
              <a:ext cx="17990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virginica: [5.60, 2.04] (最大)</a:t>
              </a:r>
              <a:endParaRPr lang="zh-CN" sz="90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667125"/>
            <a:ext cx="5334000" cy="2190750"/>
            <a:chOff x="571500" y="3667125"/>
            <a:chExt cx="5334000" cy="2190750"/>
          </a:xfrm>
        </p:grpSpPr>
        <p:sp>
          <p:nvSpPr>
            <p:cNvPr id="29" name="Rectangle 29"/>
            <p:cNvSpPr/>
            <p:nvPr/>
          </p:nvSpPr>
          <p:spPr>
            <a:xfrm>
              <a:off x="571500" y="3667125"/>
              <a:ext cx="5334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6760" y="3851910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🔑 核心收获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762000" y="4171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618" y="4352449"/>
              <a:ext cx="1805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1️⃣ 特征选择决定聚类质量上限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4590574"/>
              <a:ext cx="2514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2️⃣ 肘部法则+K=3验证了鸢尾花的三类分法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8286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3️⃣ K-means与HC结果一致→聚类有效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5066824"/>
              <a:ext cx="19880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4️⃣ HC的树状图比K-means更直观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53049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5️⃣ 聚类是无监督学习的核心方法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3667125"/>
            <a:ext cx="5334000" cy="2190750"/>
            <a:chOff x="6286500" y="3667125"/>
            <a:chExt cx="5334000" cy="2190750"/>
          </a:xfrm>
        </p:grpSpPr>
        <p:sp>
          <p:nvSpPr>
            <p:cNvPr id="38" name="Rectangle 38"/>
            <p:cNvSpPr/>
            <p:nvPr/>
          </p:nvSpPr>
          <p:spPr>
            <a:xfrm>
              <a:off x="6286500" y="3667125"/>
              <a:ext cx="5334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61760" y="3851910"/>
              <a:ext cx="1853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分类 vs 聚类 对比总结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6477000" y="4171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64618" y="43524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分类（有监督）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5570" y="4570095"/>
              <a:ext cx="2147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数据有标签·已知类别·KNN/SVM/决策树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4618" y="48001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聚类（无监督）</a:t>
              </a:r>
              <a:endParaRPr lang="zh-CN" sz="975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5570" y="5017770"/>
              <a:ext cx="2381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数据无标签·发现类别·K-means/HC/DBSCAN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4618" y="530494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两者都是数据挖掘中最基础的"两根柱子"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934551" y="65703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  <p:bldP spid="37" grpId="0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3657</Words>
  <Application>WPS 演示</Application>
  <PresentationFormat>On-screen Show (4:3)</PresentationFormat>
  <Paragraphs>348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3</cp:revision>
  <dcterms:created xsi:type="dcterms:W3CDTF">2013-01-27T09:14:00Z</dcterms:created>
  <dcterms:modified xsi:type="dcterms:W3CDTF">2026-06-14T09:28:41Z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06E987DB0BF24B20B86F2265C5CBD2AA_12</vt:lpwstr>
  </property>
  <property fmtid="{D5CDD505-2E9C-101B-9397-08002B2CF9AE}" pid="3" name="KSOProductBuildVer">
    <vt:lpwstr>2052-12.1.0.24034</vt:lpwstr>
  </property>
</Properties>
</file>