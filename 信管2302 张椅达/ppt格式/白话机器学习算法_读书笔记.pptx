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大家好，今天我来汇报《白话机器学习算法》的读书笔记。全书12章，涵盖无监督、监督和强化学习的完整知识体系。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全书共12章。第1章基础知识，第2-5章无监督学习，第6-11章监督学习，第12章强化学习。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第1章是全书基础，包含数据科学研究的4个主要步骤，后续每章都在这个框架下展开。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数据准备阶段需要理解表格数据格式、区分四种变量类型、处理缺失数据。特征工程也很重要。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算法分三大类。无监督学习发现模式，监督学习做预测，强化学习通过反馈改进。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过拟合和欠拟合是常见问题，通过正则化控制模型复杂度，提高泛化能力。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模型评价包括准确率、混淆矩阵和RMSE。训练集/测试集划分和交叉验证是常用验证方法。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第2章k均值聚类，将数据划分为k个群组，是经典的无监督学习算法。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k均值聚类的四步骤：确定k值、选择质心、分配数据点、更新质心。用肘部法则选择最优k值。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影迷性格特征示例：根据电影喜好将影迷分为文艺爱好者、动作迷和狂热影迷。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k均值聚类简单高效，但需注意k值选择、初始化敏感性和球形状假设。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原书关于k均值聚类的核心概念和距离度量的图文说明。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第3章主成分分析，通过提取主成分将高维数据降为低维，保留最重要的信息。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PCA的三步骤：标准化、计算协方差矩阵、特征值分解。用碎石图确定主成分数量。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PCA示例分析食物种类营养成分。应用包括可视化、降噪和特征提取。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PCA是线性降维方法，数据需先做标准化，主成分可解释性有限。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PCA原书图文：Kaiser准则、累积方差贡献率和碎石图确定主成分数量。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第4章关联规则，发现大规模数据中变量间的共现关系。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三个核心指标：支持度、置信度和提升度。提升度大于1表示正向关联。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购物篮分析示例。Apriori利用先验原则剪枝，大幅降低计算量。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关联规则原书要点。提升度比置信度更可靠，因为它考虑了基准频率。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第4章核心要点回顾。关联规则发现隐藏关系，但可能产生大量冗余规则。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第5章社会网络分析，用图结构表示实体及其关系。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Louvain发现社区结构，PageRank衡量节点重要性。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两种方法互补：Louvain发现群组归属，PageRank评估个体影响力。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社会网络分析在社交网络、推荐系统、反欺诈中有重要应用。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第6章回归分析，建立自变量与因变量的定量关系。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梯度下降法优化回归系数。R²决定系数衡量模型拟合优度。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回归分析需注意线性假设、异常值敏感性和多重共线性问题。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回归分析原书图文：简单线性回归、多元线性回归到Logistic回归。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第7章KNN和异常检测，基于物以类聚的思想。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KNN通过k个最近邻居分类。懒惰学习无需训练但预测成本高。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KNN简单直观但k值敏感、需特征缩放、有维度灾难问题。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第8章支持向量机，通过最大间隔提高泛化能力。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SVM的关键是支持向量和核技巧。C和gamma是核心参数。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SVM在中小数据集上表现出色，但对参数敏感、可解释性差。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第9章决策树。可解释性最强的模型，通过树形结构进行决策。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分裂指标包括信息增益、增益率和基尼系数。需剪枝防过拟合。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决策树可解释性强但易过拟合。随机森林通过集成提升性能。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Bagging有放回抽样训练多棵树。随机森林双重随机性降低相关性。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第11章神经网络，深度学习的基础。前向传播和反向传播训练网络。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第12章A/B测试与多臂老虎机。epsilon递减策略实现探索利用平衡。</a:t>
            </a:r>
            <a:endParaRPr 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全书总结。无监督发现模式，监督学习做预测，强化学习动态优化。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762000" y="-762000"/>
            <a:ext cx="14192250" cy="8858250"/>
            <a:chOff x="-762000" y="-762000"/>
            <a:chExt cx="14192250" cy="885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50000">
                  <a:srgbClr val="3498DB"/>
                </a:gs>
                <a:gs pos="100000">
                  <a:srgbClr val="1A527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762000" y="-762000"/>
              <a:ext cx="3810000" cy="3810000"/>
            </a:xfrm>
            <a:prstGeom prst="ellipse">
              <a:avLst/>
            </a:prstGeom>
            <a:solidFill>
              <a:srgbClr val="1A5276">
                <a:alpha val="3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667750" y="3333750"/>
              <a:ext cx="4762500" cy="4762500"/>
            </a:xfrm>
            <a:prstGeom prst="ellipse">
              <a:avLst/>
            </a:prstGeom>
            <a:solidFill>
              <a:srgbClr val="3498DB">
                <a:alpha val="3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247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529965" y="2087880"/>
            <a:ext cx="5132070" cy="2107882"/>
            <a:chOff x="3529965" y="2087880"/>
            <a:chExt cx="5132070" cy="2107882"/>
          </a:xfrm>
        </p:grpSpPr>
        <p:sp>
          <p:nvSpPr>
            <p:cNvPr id="8" name="TextBox 8"/>
            <p:cNvSpPr txBox="1"/>
            <p:nvPr/>
          </p:nvSpPr>
          <p:spPr>
            <a:xfrm>
              <a:off x="3529965" y="2087880"/>
              <a:ext cx="513207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《白话机器学习算法》</a:t>
              </a:r>
              <a:endParaRPr lang="zh-CN" sz="36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83244" y="2726055"/>
              <a:ext cx="142551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 书 笔 记</a:t>
              </a:r>
              <a:endParaRPr lang="zh-CN" sz="2100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143500" y="32385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84598" y="3661410"/>
              <a:ext cx="26228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参考教材3 · 全书12章·63页详细笔记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43985" y="3982402"/>
              <a:ext cx="29040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作者：[新加坡]黄莉婷 苏川集 · 译者：武传海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235464" y="6379845"/>
            <a:ext cx="1721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数据挖掘与机器学习 · 课堂作业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62070" y="4768215"/>
            <a:ext cx="53187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学生：张</a:t>
            </a:r>
            <a:r>
              <a:rPr lang="zh-CN" alt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椅</a:t>
            </a:r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   |   学号：202321054055   </a:t>
            </a:r>
            <a:endParaRPr lang="zh-CN" dirty="0">
              <a:solidFill>
                <a:srgbClr val="3498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382905"/>
              <a:ext cx="72962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 录</a:t>
              </a:r>
              <a:endParaRPr lang="zh-CN" sz="21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571500" y="1190625"/>
            <a:ext cx="11049000" cy="3238500"/>
            <a:chOff x="571500" y="1190625"/>
            <a:chExt cx="11049000" cy="3238500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1190625"/>
              <a:ext cx="2571750" cy="952500"/>
              <a:chOff x="571500" y="1190625"/>
              <a:chExt cx="2571750" cy="952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19062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190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46760" y="1365885"/>
                <a:ext cx="11394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第1章 基础知识</a:t>
                </a:r>
                <a:endPara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9618" y="1637824"/>
                <a:ext cx="20595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数据准备·算法选择·参数调优·评价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1522" y="1863566"/>
                <a:ext cx="9175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全书基础 P03-P07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381375" y="1190625"/>
              <a:ext cx="2571750" cy="952500"/>
              <a:chOff x="3381375" y="1190625"/>
              <a:chExt cx="2571750" cy="952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381375" y="119062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381375" y="1190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556635" y="1365885"/>
                <a:ext cx="12738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第2章 k均值聚类</a:t>
                </a:r>
                <a:endPara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559492" y="1637824"/>
                <a:ext cx="12664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找出顾客群·定义群组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561398" y="1863566"/>
                <a:ext cx="100007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无监督学习 P08-P12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91250" y="1190625"/>
              <a:ext cx="2571750" cy="952500"/>
              <a:chOff x="6191250" y="1190625"/>
              <a:chExt cx="2571750" cy="952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191250" y="119062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191250" y="1190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366510" y="1365885"/>
                <a:ext cx="134944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第3章 主成分分析</a:t>
                </a:r>
                <a:endPara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69368" y="1637824"/>
                <a:ext cx="10063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降维·主成分提取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71272" y="1863566"/>
                <a:ext cx="97257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无监督学习 P13-P17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9001125" y="1190625"/>
              <a:ext cx="2619375" cy="952500"/>
              <a:chOff x="9001125" y="1190625"/>
              <a:chExt cx="2619375" cy="952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9001125" y="1190625"/>
                <a:ext cx="2619375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9001125" y="1190625"/>
                <a:ext cx="2619375" cy="38100"/>
              </a:xfrm>
              <a:prstGeom prst="roundRect">
                <a:avLst>
                  <a:gd name="adj" fmla="val 5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176385" y="1365885"/>
                <a:ext cx="11814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第4章 关联规则</a:t>
                </a:r>
                <a:endParaRPr lang="zh-CN" sz="120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179242" y="1637824"/>
                <a:ext cx="13379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支持度·置信度·提升度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181148" y="1863566"/>
                <a:ext cx="100007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无监督学习 P18-P22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71500" y="2333625"/>
              <a:ext cx="2571750" cy="952500"/>
              <a:chOff x="571500" y="2333625"/>
              <a:chExt cx="2571750" cy="9525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71500" y="233362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571500" y="2333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46760" y="2508885"/>
                <a:ext cx="151746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第5章 社会网络分析</a:t>
                </a:r>
                <a:endPara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49618" y="2780824"/>
                <a:ext cx="11364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Louvain·PageRank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51522" y="3006566"/>
                <a:ext cx="102758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无监督学习 P23-P27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381375" y="2333625"/>
              <a:ext cx="2571750" cy="952500"/>
              <a:chOff x="3381375" y="2333625"/>
              <a:chExt cx="2571750" cy="9525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3381375" y="233362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3381375" y="2333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556635" y="2508885"/>
                <a:ext cx="11814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第6章 回归分析</a:t>
                </a:r>
                <a:endPara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559492" y="2780824"/>
                <a:ext cx="11364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梯度下降·回归系数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561398" y="3006566"/>
                <a:ext cx="9175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监督学习 P28-P32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191250" y="2333625"/>
              <a:ext cx="2571750" cy="952500"/>
              <a:chOff x="6191250" y="2333625"/>
              <a:chExt cx="2571750" cy="9525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6191250" y="233362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191250" y="2333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366510" y="2508885"/>
                <a:ext cx="1626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第7章 KNN与异常检测</a:t>
                </a:r>
                <a:endPara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369368" y="2780824"/>
                <a:ext cx="8763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最近邻·异常值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371272" y="3006566"/>
                <a:ext cx="9175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监督学习 P33-P37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001125" y="2333625"/>
              <a:ext cx="2619375" cy="952500"/>
              <a:chOff x="9001125" y="2333625"/>
              <a:chExt cx="2619375" cy="9525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9001125" y="2333625"/>
                <a:ext cx="2619375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9001125" y="2333625"/>
                <a:ext cx="2619375" cy="38100"/>
              </a:xfrm>
              <a:prstGeom prst="roundRect">
                <a:avLst>
                  <a:gd name="adj" fmla="val 5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176385" y="2508885"/>
                <a:ext cx="134944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第8章 支持向量机</a:t>
                </a:r>
                <a:endParaRPr lang="zh-CN" sz="120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179242" y="2780824"/>
                <a:ext cx="10063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最大间隔·核技巧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181148" y="3006566"/>
                <a:ext cx="9175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监督学习 P38-P42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71500" y="3476625"/>
              <a:ext cx="2571750" cy="952500"/>
              <a:chOff x="571500" y="3476625"/>
              <a:chExt cx="2571750" cy="9525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571500" y="347662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571500" y="3476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46760" y="3651885"/>
                <a:ext cx="10134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第9章 决策树</a:t>
                </a:r>
                <a:endPara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49618" y="3923824"/>
                <a:ext cx="11364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树形结构·特征分裂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51522" y="4149566"/>
                <a:ext cx="9175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监督学习 P43-P47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3381375" y="3476625"/>
              <a:ext cx="2571750" cy="952500"/>
              <a:chOff x="3381375" y="3476625"/>
              <a:chExt cx="2571750" cy="9525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3381375" y="347662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3381375" y="3476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3556635" y="3651885"/>
                <a:ext cx="12318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第10章 随机森林</a:t>
                </a:r>
                <a:endPara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3559492" y="3923824"/>
                <a:ext cx="10843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集成学习·Bagging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3561398" y="4149566"/>
                <a:ext cx="9175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监督学习 P48-P52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191250" y="3476625"/>
              <a:ext cx="2571750" cy="952500"/>
              <a:chOff x="6191250" y="3476625"/>
              <a:chExt cx="2571750" cy="9525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6191250" y="347662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6191250" y="3476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6366510" y="3651885"/>
                <a:ext cx="118982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第11章 神经网络</a:t>
                </a:r>
                <a:endPara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369368" y="3923824"/>
                <a:ext cx="12664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多层感知机·激活函数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371272" y="4149566"/>
                <a:ext cx="9175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监督学习 P53-P57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9001125" y="3476625"/>
              <a:ext cx="2619375" cy="952500"/>
              <a:chOff x="9001125" y="3476625"/>
              <a:chExt cx="2619375" cy="9525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001125" y="3476625"/>
                <a:ext cx="2619375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9001125" y="3476625"/>
                <a:ext cx="2619375" cy="38100"/>
              </a:xfrm>
              <a:prstGeom prst="roundRect">
                <a:avLst>
                  <a:gd name="adj" fmla="val 5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9176385" y="3651885"/>
                <a:ext cx="165188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第12章 A/B测试与MAB</a:t>
                </a:r>
                <a:endParaRPr lang="zh-CN" sz="120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179242" y="3923824"/>
                <a:ext cx="13119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epsilon递减·强化学习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9181148" y="4149566"/>
                <a:ext cx="9175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强化学习 P58-P62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2" name="Group 82"/>
          <p:cNvGrpSpPr/>
          <p:nvPr/>
        </p:nvGrpSpPr>
        <p:grpSpPr>
          <a:xfrm>
            <a:off x="571500" y="4714875"/>
            <a:ext cx="11049000" cy="381000"/>
            <a:chOff x="571500" y="4714875"/>
            <a:chExt cx="11049000" cy="381000"/>
          </a:xfrm>
        </p:grpSpPr>
        <p:sp>
          <p:nvSpPr>
            <p:cNvPr id="80" name="Rectangle 80"/>
            <p:cNvSpPr/>
            <p:nvPr/>
          </p:nvSpPr>
          <p:spPr>
            <a:xfrm>
              <a:off x="571500" y="4714875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3756327" y="4847749"/>
              <a:ext cx="4679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每章包含：思维导图 → 核心原理 → 原书图文 → 应用场景 → 局限性·小结，共4-5页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0" y="791528"/>
            <a:ext cx="1905000" cy="794385"/>
            <a:chOff x="5143500" y="791528"/>
            <a:chExt cx="1905000" cy="794385"/>
          </a:xfrm>
        </p:grpSpPr>
        <p:sp>
          <p:nvSpPr>
            <p:cNvPr id="5" name="TextBox 5"/>
            <p:cNvSpPr txBox="1"/>
            <p:nvPr/>
          </p:nvSpPr>
          <p:spPr>
            <a:xfrm>
              <a:off x="5561100" y="791528"/>
              <a:ext cx="1069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第1章 · 全书基础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73885" y="945833"/>
              <a:ext cx="18442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基础知识</a:t>
              </a:r>
              <a:endParaRPr lang="zh-CN" sz="31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524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71500" y="1762125"/>
            <a:ext cx="11049000" cy="3333750"/>
            <a:chOff x="571500" y="1762125"/>
            <a:chExt cx="11049000" cy="3333750"/>
          </a:xfrm>
        </p:grpSpPr>
        <p:sp>
          <p:nvSpPr>
            <p:cNvPr id="9" name="Rectangle 9"/>
            <p:cNvSpPr/>
            <p:nvPr/>
          </p:nvSpPr>
          <p:spPr>
            <a:xfrm>
              <a:off x="571500" y="1762125"/>
              <a:ext cx="11049000" cy="333375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963811" y="1914525"/>
              <a:ext cx="22643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第1章 知识体系思维导图</a:t>
              </a:r>
              <a:endParaRPr lang="zh-CN" sz="15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2238375"/>
              <a:ext cx="9525" cy="2714625"/>
            </a:xfrm>
            <a:custGeom>
              <a:avLst/>
              <a:gdLst/>
              <a:ahLst/>
              <a:cxnLst/>
              <a:rect l="l" t="t" r="r" b="b"/>
              <a:pathLst>
                <a:path w="9525" h="2714625">
                  <a:moveTo>
                    <a:pt x="0" y="0"/>
                  </a:moveTo>
                  <a:lnTo>
                    <a:pt x="0" y="2714625"/>
                  </a:lnTo>
                </a:path>
              </a:pathLst>
            </a:custGeom>
            <a:noFill/>
            <a:ln w="19050">
              <a:solidFill>
                <a:srgbClr val="3498DB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810000" y="2571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2571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048000" y="33337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0" y="33337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572000" y="40957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0" y="40957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829300" y="2209800"/>
              <a:ext cx="533400" cy="5334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788628" y="24203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数据科学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3600450" y="236220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46539" y="25317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准备数据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8172450" y="236220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18538" y="25317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选择算法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2838450" y="3124200"/>
              <a:ext cx="419100" cy="4191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784539" y="32937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调优参数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Ellipse 26"/>
            <p:cNvSpPr/>
            <p:nvPr/>
          </p:nvSpPr>
          <p:spPr>
            <a:xfrm>
              <a:off x="8934450" y="3124200"/>
              <a:ext cx="419100" cy="4191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80538" y="32937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评价模型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52500" y="3619500"/>
              <a:ext cx="34290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30618" y="3752374"/>
              <a:ext cx="768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1.1 准备数据</a:t>
              </a:r>
              <a:endParaRPr lang="zh-CN" sz="9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1570" y="3979545"/>
              <a:ext cx="1715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数据格式（行=观测，列=变量）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1570" y="4170045"/>
              <a:ext cx="1901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变量类型（二值·分类·整型·连续）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1570" y="4360545"/>
              <a:ext cx="1289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特征工程·缺失数据处理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0" y="3619500"/>
              <a:ext cx="34290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88618" y="3752374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1.2 选择算法</a:t>
              </a:r>
              <a:endParaRPr lang="zh-CN" sz="975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89570" y="39795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无监督学习（发现隐藏模式）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89570" y="41700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监督学习（做预测）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89570" y="4360545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强化学习（根据反馈改进）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15375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1.1 准备数据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095375"/>
            <a:ext cx="5334000" cy="476250"/>
            <a:chOff x="571500" y="1095375"/>
            <a:chExt cx="5334000" cy="476250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5334000" cy="476250"/>
            </a:xfrm>
            <a:prstGeom prst="roundRect">
              <a:avLst>
                <a:gd name="adj" fmla="val 16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8665" y="1267778"/>
              <a:ext cx="3807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表格格式：每一行是一个数据点（观测），每一列是一个变量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1711642"/>
            <a:ext cx="11049000" cy="1145858"/>
            <a:chOff x="571500" y="1711642"/>
            <a:chExt cx="11049000" cy="1145858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7116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四种变量类型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571500" y="2047875"/>
              <a:ext cx="2571750" cy="809625"/>
              <a:chOff x="571500" y="2047875"/>
              <a:chExt cx="2571750" cy="8096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2047875"/>
                <a:ext cx="2571750" cy="809625"/>
              </a:xfrm>
              <a:prstGeom prst="roundRect">
                <a:avLst>
                  <a:gd name="adj" fmla="val 941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71500" y="204787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47712" y="22121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二值变量</a:t>
                </a:r>
                <a:endPara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0570" y="2474595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只有两种可能的值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1522" y="2654141"/>
                <a:ext cx="108258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如"是否买鱼"：是/否</a:t>
                </a:r>
                <a:endPara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381375" y="2047875"/>
              <a:ext cx="2571750" cy="809625"/>
              <a:chOff x="3381375" y="2047875"/>
              <a:chExt cx="2571750" cy="80962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381375" y="2047875"/>
                <a:ext cx="2571750" cy="809625"/>
              </a:xfrm>
              <a:prstGeom prst="roundRect">
                <a:avLst>
                  <a:gd name="adj" fmla="val 941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381375" y="204787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557588" y="22121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分类变量</a:t>
                </a:r>
                <a:endPara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560445" y="2474595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可取两个以上的值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61398" y="2654141"/>
                <a:ext cx="136312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如"顾客类别"：兔子/猫/狗</a:t>
                </a:r>
                <a:endPara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191250" y="2047875"/>
              <a:ext cx="2571750" cy="809625"/>
              <a:chOff x="6191250" y="2047875"/>
              <a:chExt cx="2571750" cy="80962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191250" y="2047875"/>
                <a:ext cx="2571750" cy="809625"/>
              </a:xfrm>
              <a:prstGeom prst="roundRect">
                <a:avLst>
                  <a:gd name="adj" fmla="val 941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191250" y="204787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367462" y="22121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整型变量</a:t>
                </a:r>
                <a:endParaRPr lang="zh-CN" sz="1125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370320" y="2474595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用整数表示的信息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371272" y="2654141"/>
                <a:ext cx="136862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如"水果购买量"：0,1,2...</a:t>
                </a:r>
                <a:endPara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001125" y="2047875"/>
              <a:ext cx="2619375" cy="809625"/>
              <a:chOff x="9001125" y="2047875"/>
              <a:chExt cx="2619375" cy="809625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9001125" y="2047875"/>
                <a:ext cx="261937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9001125" y="2047875"/>
                <a:ext cx="2619375" cy="38100"/>
              </a:xfrm>
              <a:prstGeom prst="roundRect">
                <a:avLst>
                  <a:gd name="adj" fmla="val 5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177338" y="22121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连续变量</a:t>
                </a:r>
                <a:endParaRPr lang="zh-CN" sz="1125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180195" y="247459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用小数表示的值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181148" y="2654141"/>
                <a:ext cx="9175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如"支出"：$12.50</a:t>
                </a:r>
                <a:endPara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571500" y="3045142"/>
            <a:ext cx="11039475" cy="1031558"/>
            <a:chOff x="571500" y="3045142"/>
            <a:chExt cx="11039475" cy="1031558"/>
          </a:xfrm>
        </p:grpSpPr>
        <p:sp>
          <p:nvSpPr>
            <p:cNvPr id="36" name="TextBox 36"/>
            <p:cNvSpPr txBox="1"/>
            <p:nvPr/>
          </p:nvSpPr>
          <p:spPr>
            <a:xfrm>
              <a:off x="744855" y="3045142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三种缺失值处理方法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71500" y="3409950"/>
              <a:ext cx="3476625" cy="666750"/>
              <a:chOff x="571500" y="3409950"/>
              <a:chExt cx="3476625" cy="6667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3409950"/>
                <a:ext cx="3476625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47712" y="3526631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近似</a:t>
                </a:r>
                <a:endPara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50570" y="3760470"/>
                <a:ext cx="23151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二值/分类用众数替换，整型/连续用中位数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4352925" y="3409950"/>
              <a:ext cx="3476625" cy="666750"/>
              <a:chOff x="4352925" y="3409950"/>
              <a:chExt cx="3476625" cy="6667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4352925" y="3409950"/>
                <a:ext cx="3476625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529138" y="3526631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计算</a:t>
                </a:r>
                <a:endPara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531995" y="3760470"/>
                <a:ext cx="20631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用监督学习算法估算缺失值（更准确）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134350" y="3409950"/>
              <a:ext cx="3476625" cy="666750"/>
              <a:chOff x="8134350" y="3409950"/>
              <a:chExt cx="3476625" cy="666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8134350" y="3409950"/>
                <a:ext cx="3476625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8310562" y="3526631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移除</a:t>
                </a:r>
                <a:endParaRPr lang="zh-CN" sz="1125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313420" y="3760470"/>
                <a:ext cx="20631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万不得已时移除整行（会减少数据量）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571500" y="4333875"/>
            <a:ext cx="11049000" cy="523875"/>
            <a:chOff x="571500" y="4333875"/>
            <a:chExt cx="11049000" cy="523875"/>
          </a:xfrm>
        </p:grpSpPr>
        <p:sp>
          <p:nvSpPr>
            <p:cNvPr id="50" name="Rectangle 50"/>
            <p:cNvSpPr/>
            <p:nvPr/>
          </p:nvSpPr>
          <p:spPr>
            <a:xfrm>
              <a:off x="571500" y="4333875"/>
              <a:ext cx="11049000" cy="523875"/>
            </a:xfrm>
            <a:prstGeom prst="roundRect">
              <a:avLst>
                <a:gd name="adj" fmla="val 14545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8665" y="44396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特征工程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9618" y="4638199"/>
              <a:ext cx="7429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将原始变量重编码为更有用的变量。例如：将"猫、兔子、狗"重编码为"食肉动物、食草动物"。降维(PCA)也是特征工程的手段。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926904" y="1095375"/>
            <a:ext cx="4053191" cy="1905000"/>
            <a:chOff x="6926904" y="1095375"/>
            <a:chExt cx="4053191" cy="190500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26904" y="1095375"/>
              <a:ext cx="4053191" cy="1905000"/>
            </a:xfrm>
            <a:prstGeom prst="rect">
              <a:avLst/>
            </a:prstGeom>
          </p:spPr>
        </p:pic>
      </p:grpSp>
      <p:grpSp>
        <p:nvGrpSpPr>
          <p:cNvPr id="58" name="Group 58"/>
          <p:cNvGrpSpPr/>
          <p:nvPr/>
        </p:nvGrpSpPr>
        <p:grpSpPr>
          <a:xfrm>
            <a:off x="571500" y="5095875"/>
            <a:ext cx="11049000" cy="333375"/>
            <a:chOff x="571500" y="5095875"/>
            <a:chExt cx="11049000" cy="333375"/>
          </a:xfrm>
        </p:grpSpPr>
        <p:sp>
          <p:nvSpPr>
            <p:cNvPr id="56" name="Rectangle 56"/>
            <p:cNvSpPr/>
            <p:nvPr/>
          </p:nvSpPr>
          <p:spPr>
            <a:xfrm>
              <a:off x="571500" y="5095875"/>
              <a:ext cx="11049000" cy="333375"/>
            </a:xfrm>
            <a:prstGeom prst="roundRect">
              <a:avLst>
                <a:gd name="adj" fmla="val 17143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931849" y="5209699"/>
              <a:ext cx="43283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如果数据的质量差，那么分析得再精确也只能得到平淡无奇的结果。——原书</a:t>
              </a:r>
              <a:endParaRPr lang="zh-CN" sz="975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5" grpId="0"/>
      <p:bldP spid="49" grpId="0"/>
      <p:bldP spid="53" grpId="0"/>
      <p:bldP spid="55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160582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1.2 选择算法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684734" y="1095375"/>
            <a:ext cx="2917031" cy="2667000"/>
            <a:chOff x="1684734" y="1095375"/>
            <a:chExt cx="2917031" cy="2667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84734" y="1095375"/>
              <a:ext cx="2917031" cy="2667000"/>
            </a:xfrm>
            <a:prstGeom prst="rect">
              <a:avLst/>
            </a:prstGeom>
          </p:spPr>
        </p:pic>
      </p:grpSp>
      <p:grpSp>
        <p:nvGrpSpPr>
          <p:cNvPr id="27" name="Group 27"/>
          <p:cNvGrpSpPr/>
          <p:nvPr/>
        </p:nvGrpSpPr>
        <p:grpSpPr>
          <a:xfrm>
            <a:off x="6000750" y="1095375"/>
            <a:ext cx="5619750" cy="2667000"/>
            <a:chOff x="6000750" y="1095375"/>
            <a:chExt cx="5619750" cy="2667000"/>
          </a:xfrm>
        </p:grpSpPr>
        <p:grpSp>
          <p:nvGrpSpPr>
            <p:cNvPr id="14" name="Group 14"/>
            <p:cNvGrpSpPr/>
            <p:nvPr/>
          </p:nvGrpSpPr>
          <p:grpSpPr>
            <a:xfrm>
              <a:off x="6000750" y="1095375"/>
              <a:ext cx="5619750" cy="809625"/>
              <a:chOff x="6000750" y="1095375"/>
              <a:chExt cx="5619750" cy="80962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000750" y="1095375"/>
                <a:ext cx="5619750" cy="809625"/>
              </a:xfrm>
              <a:prstGeom prst="roundRect">
                <a:avLst>
                  <a:gd name="adj" fmla="val 941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6000750" y="1095375"/>
                <a:ext cx="38100" cy="809625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6176010" y="122301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无监督学习</a:t>
                </a:r>
                <a:endPara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178868" y="1466374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指出数据中隐藏的模式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179820" y="1664970"/>
                <a:ext cx="25251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算法：k均值聚类·PCA·关联规则·社会网络分析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000750" y="2019300"/>
              <a:ext cx="5619750" cy="809625"/>
              <a:chOff x="6000750" y="2019300"/>
              <a:chExt cx="5619750" cy="80962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000750" y="2019300"/>
                <a:ext cx="5619750" cy="809625"/>
              </a:xfrm>
              <a:prstGeom prst="roundRect">
                <a:avLst>
                  <a:gd name="adj" fmla="val 941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000750" y="2019300"/>
                <a:ext cx="38100" cy="809625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176010" y="214693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监督学习</a:t>
                </a:r>
                <a:endPara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178868" y="239029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使用数据中的模式做预测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179820" y="2588895"/>
                <a:ext cx="269319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算法：回归·KNN·SVM·决策树·随机森林·神经网络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00750" y="2952750"/>
              <a:ext cx="5619750" cy="809625"/>
              <a:chOff x="6000750" y="2952750"/>
              <a:chExt cx="5619750" cy="80962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000750" y="2952750"/>
                <a:ext cx="5619750" cy="809625"/>
              </a:xfrm>
              <a:prstGeom prst="roundRect">
                <a:avLst>
                  <a:gd name="adj" fmla="val 941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000750" y="2952750"/>
                <a:ext cx="38100" cy="809625"/>
              </a:xfrm>
              <a:prstGeom prst="roundRect">
                <a:avLst>
                  <a:gd name="adj" fmla="val 5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176010" y="308038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强化学习</a:t>
                </a:r>
                <a:endParaRPr lang="zh-CN" sz="120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178868" y="3323749"/>
                <a:ext cx="19750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根据越来越多的反馈结果不断改进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179820" y="3522345"/>
                <a:ext cx="24351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算法：A/B测试·多臂老虎机·epsilon递减策略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571500" y="4000500"/>
            <a:ext cx="11049000" cy="523875"/>
            <a:chOff x="571500" y="4000500"/>
            <a:chExt cx="11049000" cy="523875"/>
          </a:xfrm>
        </p:grpSpPr>
        <p:sp>
          <p:nvSpPr>
            <p:cNvPr id="28" name="Rectangle 28"/>
            <p:cNvSpPr/>
            <p:nvPr/>
          </p:nvSpPr>
          <p:spPr>
            <a:xfrm>
              <a:off x="571500" y="4000500"/>
              <a:ext cx="11049000" cy="523875"/>
            </a:xfrm>
            <a:prstGeom prst="roundRect">
              <a:avLst>
                <a:gd name="adj" fmla="val 14545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8665" y="4125278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回归 vs 分类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9618" y="4323874"/>
              <a:ext cx="6993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回归问题：预测连续数值（如房价）| 分类问题：预测离散值（如是否下雨）。大部分分类算法也可以生成连续的概率值。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4714875"/>
            <a:ext cx="11049000" cy="333375"/>
            <a:chOff x="571500" y="4714875"/>
            <a:chExt cx="11049000" cy="333375"/>
          </a:xfrm>
        </p:grpSpPr>
        <p:sp>
          <p:nvSpPr>
            <p:cNvPr id="32" name="Rectangle 32"/>
            <p:cNvSpPr/>
            <p:nvPr/>
          </p:nvSpPr>
          <p:spPr>
            <a:xfrm>
              <a:off x="571500" y="4714875"/>
              <a:ext cx="11049000" cy="333375"/>
            </a:xfrm>
            <a:prstGeom prst="roundRect">
              <a:avLst>
                <a:gd name="adj" fmla="val 17143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377154" y="4828699"/>
              <a:ext cx="34376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任务类型决定了算法的选择：想要发现模式还是做预测？</a:t>
              </a:r>
              <a:endParaRPr lang="zh-CN" sz="9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7" grpId="0"/>
      <p:bldP spid="31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160582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1.3 参数调优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71500" y="1143000"/>
            <a:ext cx="11049000" cy="1905000"/>
            <a:chOff x="571500" y="1143000"/>
            <a:chExt cx="11049000" cy="1905000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143000"/>
              <a:ext cx="5334000" cy="1905000"/>
              <a:chOff x="571500" y="1143000"/>
              <a:chExt cx="5334000" cy="1905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143000"/>
                <a:ext cx="5334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143000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44855" y="1302068"/>
                <a:ext cx="206629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过拟合（Overfitting）</a:t>
                </a:r>
                <a:endParaRPr lang="zh-CN" sz="13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9618" y="1609249"/>
                <a:ext cx="210502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算法过度敏感，把数据中的随机波动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49618" y="17997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错误地当成持久模式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49618" y="20664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对当前数据准确度高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9618" y="22569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对未知数据泛化能力差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9618" y="25236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原因：模型过于复杂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49618" y="2752249"/>
                <a:ext cx="19880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对策：正则化·增加数据·简化模型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286500" y="1143000"/>
              <a:ext cx="5334000" cy="1905000"/>
              <a:chOff x="6286500" y="1143000"/>
              <a:chExt cx="5334000" cy="1905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286500" y="1143000"/>
                <a:ext cx="5334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286500" y="1143000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459855" y="1302068"/>
                <a:ext cx="213245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欠拟合（Underfitting）</a:t>
                </a:r>
                <a:endParaRPr lang="zh-CN" sz="13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464618" y="16092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算法过于愚钝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64618" y="17997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忽视了数据中的基本模式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464618" y="20664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对当前数据和未知数据的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64618" y="22569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预测准确度均下降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4618" y="25236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原因：模型过于简单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4618" y="2752249"/>
                <a:ext cx="19165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对策：增加特征·提高模型复杂度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571500" y="3553097"/>
            <a:ext cx="3429000" cy="1716609"/>
            <a:chOff x="571500" y="3553097"/>
            <a:chExt cx="3429000" cy="1716609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1500" y="3553097"/>
              <a:ext cx="3429000" cy="1180556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1246894" y="5102066"/>
              <a:ext cx="20782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图1-2 同一个算法在不同参数下的预测结果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81500" y="3286125"/>
            <a:ext cx="7239000" cy="1714500"/>
            <a:chOff x="4381500" y="3286125"/>
            <a:chExt cx="7239000" cy="1714500"/>
          </a:xfrm>
        </p:grpSpPr>
        <p:sp>
          <p:nvSpPr>
            <p:cNvPr id="31" name="Rectangle 31"/>
            <p:cNvSpPr/>
            <p:nvPr/>
          </p:nvSpPr>
          <p:spPr>
            <a:xfrm>
              <a:off x="4381500" y="3286125"/>
              <a:ext cx="7239000" cy="1714500"/>
            </a:xfrm>
            <a:prstGeom prst="roundRect">
              <a:avLst>
                <a:gd name="adj" fmla="val 444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56760" y="3442335"/>
              <a:ext cx="2038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正则化（Regularization）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59618" y="3752374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通过引入惩罚参数来控制模型复杂度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59618" y="39904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惩罚参数会人为增大预测误差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59618" y="4228624"/>
              <a:ext cx="1857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对模型复杂度的增加进行"惩罚"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59618" y="446674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使算法同时考虑复杂度和准确度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59618" y="4704874"/>
              <a:ext cx="18199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保持模型简单 → 提高泛化能力</a:t>
              </a:r>
              <a:endParaRPr lang="zh-CN" sz="9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0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01195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1.4 评价模型 + 本章小结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71500" y="1143000"/>
            <a:ext cx="11039475" cy="1476375"/>
            <a:chOff x="571500" y="1143000"/>
            <a:chExt cx="11039475" cy="1476375"/>
          </a:xfrm>
        </p:grpSpPr>
        <p:grpSp>
          <p:nvGrpSpPr>
            <p:cNvPr id="14" name="Group 14"/>
            <p:cNvGrpSpPr/>
            <p:nvPr/>
          </p:nvGrpSpPr>
          <p:grpSpPr>
            <a:xfrm>
              <a:off x="571500" y="1143000"/>
              <a:ext cx="3476625" cy="1476375"/>
              <a:chOff x="571500" y="1143000"/>
              <a:chExt cx="3476625" cy="147637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143000"/>
                <a:ext cx="3476625" cy="1476375"/>
              </a:xfrm>
              <a:prstGeom prst="roundRect">
                <a:avLst>
                  <a:gd name="adj" fmla="val 5161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143000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46760" y="131826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预测准确率</a:t>
                </a:r>
                <a:endPara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9618" y="16092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正确的预测所占的比例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0570" y="1855470"/>
                <a:ext cx="152904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公式：正确预测数/总预测数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0570" y="207454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优点：直观易懂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0570" y="2265045"/>
                <a:ext cx="17030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缺点：无法得知误差产生的类型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352925" y="1143000"/>
              <a:ext cx="3476625" cy="1476375"/>
              <a:chOff x="4352925" y="1143000"/>
              <a:chExt cx="3476625" cy="147637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352925" y="1143000"/>
                <a:ext cx="3476625" cy="1476375"/>
              </a:xfrm>
              <a:prstGeom prst="roundRect">
                <a:avLst>
                  <a:gd name="adj" fmla="val 5161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4352925" y="1143000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528185" y="1318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混淆矩阵</a:t>
                </a:r>
                <a:endPara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31042" y="1609249"/>
                <a:ext cx="1448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真阳性(TP)·假阳性(FP)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531042" y="1847374"/>
                <a:ext cx="1448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假阴性(FN)·真阴性(TN)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31995" y="207454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有助于区分不同类型误差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31995" y="2265045"/>
                <a:ext cx="15770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用于计算精确率·召回率·F1值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134350" y="1143000"/>
              <a:ext cx="3476625" cy="1476375"/>
              <a:chOff x="8134350" y="1143000"/>
              <a:chExt cx="3476625" cy="14763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8134350" y="1143000"/>
                <a:ext cx="3476625" cy="1476375"/>
              </a:xfrm>
              <a:prstGeom prst="roundRect">
                <a:avLst>
                  <a:gd name="adj" fmla="val 5161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8134350" y="1143000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309610" y="1318260"/>
                <a:ext cx="4337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RMSE</a:t>
                </a:r>
                <a:endParaRPr lang="zh-CN" sz="120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312468" y="16092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均方根误差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312468" y="1847374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回归任务中的常用指标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313420" y="207454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对较大误差给予更高权重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13420" y="2265045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与原变量单位相同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71500" y="2857500"/>
            <a:ext cx="11049000" cy="523875"/>
            <a:chOff x="571500" y="2857500"/>
            <a:chExt cx="11049000" cy="523875"/>
          </a:xfrm>
        </p:grpSpPr>
        <p:sp>
          <p:nvSpPr>
            <p:cNvPr id="32" name="Rectangle 32"/>
            <p:cNvSpPr/>
            <p:nvPr/>
          </p:nvSpPr>
          <p:spPr>
            <a:xfrm>
              <a:off x="571500" y="2857500"/>
              <a:ext cx="11049000" cy="523875"/>
            </a:xfrm>
            <a:prstGeom prst="roundRect">
              <a:avLst>
                <a:gd name="adj" fmla="val 14545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8665" y="29822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验证方法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3180874"/>
              <a:ext cx="3307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训练集/测试集划分·交叉验证（k-fold）·留出法·自助法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3521392"/>
            <a:ext cx="11039475" cy="1288733"/>
            <a:chOff x="571500" y="3521392"/>
            <a:chExt cx="11039475" cy="1288733"/>
          </a:xfrm>
        </p:grpSpPr>
        <p:sp>
          <p:nvSpPr>
            <p:cNvPr id="36" name="TextBox 36"/>
            <p:cNvSpPr txBox="1"/>
            <p:nvPr/>
          </p:nvSpPr>
          <p:spPr>
            <a:xfrm>
              <a:off x="744855" y="3521392"/>
              <a:ext cx="847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第1章小结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571500" y="3857625"/>
              <a:ext cx="3476625" cy="952500"/>
              <a:chOff x="571500" y="3857625"/>
              <a:chExt cx="3476625" cy="9525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3857625"/>
                <a:ext cx="3476625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571500" y="385762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47712" y="40028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数据处理</a:t>
                </a:r>
                <a:endPara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50570" y="4265295"/>
                <a:ext cx="152904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理解数据格式·区分变量类型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50570" y="4455795"/>
                <a:ext cx="11690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特征工程·缺失值处理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352925" y="3857625"/>
              <a:ext cx="3476625" cy="952500"/>
              <a:chOff x="4352925" y="3857625"/>
              <a:chExt cx="3476625" cy="9525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4352925" y="3857625"/>
                <a:ext cx="3476625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4352925" y="385762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529138" y="40028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算法选择</a:t>
                </a:r>
                <a:endPara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531995" y="4265295"/>
                <a:ext cx="123501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无监督·监督·强化学习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531995" y="4455795"/>
                <a:ext cx="11870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回归问题 vs 分类问题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8134350" y="3857625"/>
              <a:ext cx="3476625" cy="952500"/>
              <a:chOff x="8134350" y="3857625"/>
              <a:chExt cx="3476625" cy="9525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134350" y="3857625"/>
                <a:ext cx="3476625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8134350" y="385762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310562" y="40028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模型优化</a:t>
                </a:r>
                <a:endParaRPr lang="zh-CN" sz="1125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313420" y="4265295"/>
                <a:ext cx="10489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过拟合控制·正则化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313420" y="4455795"/>
                <a:ext cx="128301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准确率·混淆矩阵·RMSE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56" name="TextBox 56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5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52595" y="791528"/>
            <a:ext cx="2086811" cy="794385"/>
            <a:chOff x="5052595" y="791528"/>
            <a:chExt cx="2086811" cy="794385"/>
          </a:xfrm>
        </p:grpSpPr>
        <p:sp>
          <p:nvSpPr>
            <p:cNvPr id="5" name="TextBox 5"/>
            <p:cNvSpPr txBox="1"/>
            <p:nvPr/>
          </p:nvSpPr>
          <p:spPr>
            <a:xfrm>
              <a:off x="5473589" y="791528"/>
              <a:ext cx="1244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第2章 · 无监督学习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052595" y="945833"/>
              <a:ext cx="208681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k均值聚类</a:t>
              </a:r>
              <a:endParaRPr lang="zh-CN" sz="31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524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571500" y="1762125"/>
            <a:ext cx="11049000" cy="3524250"/>
            <a:chOff x="571500" y="1762125"/>
            <a:chExt cx="11049000" cy="3524250"/>
          </a:xfrm>
        </p:grpSpPr>
        <p:sp>
          <p:nvSpPr>
            <p:cNvPr id="9" name="Rectangle 9"/>
            <p:cNvSpPr/>
            <p:nvPr/>
          </p:nvSpPr>
          <p:spPr>
            <a:xfrm>
              <a:off x="571500" y="1762125"/>
              <a:ext cx="11049000" cy="3524250"/>
            </a:xfrm>
            <a:prstGeom prst="roundRect">
              <a:avLst>
                <a:gd name="adj" fmla="val 270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829300" y="1924050"/>
              <a:ext cx="533400" cy="5334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48198" y="2134552"/>
              <a:ext cx="6956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k均值聚类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0" y="2457450"/>
              <a:ext cx="9525" cy="2686050"/>
            </a:xfrm>
            <a:custGeom>
              <a:avLst/>
              <a:gdLst/>
              <a:ahLst/>
              <a:cxnLst/>
              <a:rect l="l" t="t" r="r" b="b"/>
              <a:pathLst>
                <a:path w="9525" h="2686050">
                  <a:moveTo>
                    <a:pt x="0" y="0"/>
                  </a:moveTo>
                  <a:lnTo>
                    <a:pt x="0" y="268605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10000" y="2762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2762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048000" y="3524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96000" y="3524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600450" y="255270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46539" y="27222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算法步骤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8172450" y="255270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46892" y="2722245"/>
              <a:ext cx="4702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确定k值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2838450" y="3314700"/>
              <a:ext cx="419100" cy="4191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84539" y="34842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应用场景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8934450" y="3314700"/>
              <a:ext cx="419100" cy="4191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43546" y="34842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52500" y="3857625"/>
              <a:ext cx="3429000" cy="10477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0618" y="39904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三种典型应用</a:t>
              </a:r>
              <a:endParaRPr lang="zh-CN" sz="9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1570" y="4236720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客户分群：基于消费行为进行精准营销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1570" y="4427220"/>
              <a:ext cx="1889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图像压缩：用k个颜色替代全部颜色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1570" y="4617720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异常检测：远离质心的点可能是异常值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810500" y="3857625"/>
              <a:ext cx="3429000" cy="10477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88618" y="3990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主要局限</a:t>
              </a:r>
              <a:endParaRPr lang="zh-CN" sz="9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89570" y="4236720"/>
              <a:ext cx="9289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需要预先指定k值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89570" y="4427220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对初始质心选择敏感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9570" y="4617720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只能发现球形群组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5443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2.1 算法原理 · 2.2 定义群组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71500" y="1092518"/>
            <a:ext cx="11049000" cy="2050732"/>
            <a:chOff x="571500" y="1092518"/>
            <a:chExt cx="11049000" cy="2050732"/>
          </a:xfrm>
        </p:grpSpPr>
        <p:sp>
          <p:nvSpPr>
            <p:cNvPr id="7" name="TextBox 7"/>
            <p:cNvSpPr txBox="1"/>
            <p:nvPr/>
          </p:nvSpPr>
          <p:spPr>
            <a:xfrm>
              <a:off x="744855" y="1092518"/>
              <a:ext cx="14614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k均值聚类四步骤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71500" y="1428750"/>
              <a:ext cx="2571750" cy="1714500"/>
              <a:chOff x="571500" y="1428750"/>
              <a:chExt cx="2571750" cy="1714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28750"/>
                <a:ext cx="257175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28750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685925" y="1543050"/>
                <a:ext cx="342900" cy="342900"/>
              </a:xfrm>
              <a:prstGeom prst="ellipse">
                <a:avLst/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821987" y="1658302"/>
                <a:ext cx="707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47712" y="1926431"/>
                <a:ext cx="5877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确定k值</a:t>
                </a:r>
                <a:endPara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9618" y="21997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选择要将数据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9618" y="23902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分成多少个群组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381375" y="1428750"/>
              <a:ext cx="2571750" cy="1714500"/>
              <a:chOff x="3381375" y="1428750"/>
              <a:chExt cx="2571750" cy="1714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381375" y="1428750"/>
                <a:ext cx="257175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381375" y="1428750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4495800" y="1543050"/>
                <a:ext cx="342900" cy="342900"/>
              </a:xfrm>
              <a:prstGeom prst="ellipse">
                <a:avLst/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613485" y="1658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557588" y="1926431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选择初始质心</a:t>
                </a:r>
                <a:endPara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59492" y="2199799"/>
                <a:ext cx="8763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随机选取k个点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59492" y="23902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作为初始群组中心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191250" y="1428750"/>
              <a:ext cx="2571750" cy="1714500"/>
              <a:chOff x="6191250" y="1428750"/>
              <a:chExt cx="2571750" cy="1714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191250" y="1428750"/>
                <a:ext cx="257175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6191250" y="1428750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7305675" y="1543050"/>
                <a:ext cx="342900" cy="342900"/>
              </a:xfrm>
              <a:prstGeom prst="ellipse">
                <a:avLst/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423360" y="1658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67462" y="192643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分配数据点</a:t>
                </a:r>
                <a:endParaRPr lang="zh-CN" sz="1125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369368" y="21997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每个点归入距离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369368" y="239029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最近的质心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9001125" y="1428750"/>
              <a:ext cx="2619375" cy="1714500"/>
              <a:chOff x="9001125" y="1428750"/>
              <a:chExt cx="2619375" cy="1714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9001125" y="1428750"/>
                <a:ext cx="2619375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9001125" y="1428750"/>
                <a:ext cx="2619375" cy="38100"/>
              </a:xfrm>
              <a:prstGeom prst="roundRect">
                <a:avLst>
                  <a:gd name="adj" fmla="val 5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10134600" y="1543050"/>
                <a:ext cx="342900" cy="342900"/>
              </a:xfrm>
              <a:prstGeom prst="ellipse">
                <a:avLst/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252285" y="1658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177338" y="19264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更新质心</a:t>
                </a:r>
                <a:endParaRPr lang="zh-CN" sz="1125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179242" y="21997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重新计算每个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179242" y="23902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群组的中心点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571500" y="3381375"/>
            <a:ext cx="11049000" cy="381000"/>
            <a:chOff x="571500" y="3381375"/>
            <a:chExt cx="11049000" cy="381000"/>
          </a:xfrm>
        </p:grpSpPr>
        <p:sp>
          <p:nvSpPr>
            <p:cNvPr id="41" name="Rectangle 41"/>
            <p:cNvSpPr/>
            <p:nvPr/>
          </p:nvSpPr>
          <p:spPr>
            <a:xfrm>
              <a:off x="571500" y="3381375"/>
              <a:ext cx="11049000" cy="381000"/>
            </a:xfrm>
            <a:prstGeom prst="roundRect">
              <a:avLst>
                <a:gd name="adj" fmla="val 20000"/>
              </a:avLst>
            </a:prstGeom>
            <a:solidFill>
              <a:srgbClr val="E74C3C">
                <a:alpha val="6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65600" y="3506152"/>
              <a:ext cx="4260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重复步骤3-4，直到质心不再变化或达到最大迭代次数 → 算法收敛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3854768"/>
            <a:ext cx="11049000" cy="1669732"/>
            <a:chOff x="571500" y="3854768"/>
            <a:chExt cx="11049000" cy="1669732"/>
          </a:xfrm>
        </p:grpSpPr>
        <p:sp>
          <p:nvSpPr>
            <p:cNvPr id="44" name="TextBox 44"/>
            <p:cNvSpPr txBox="1"/>
            <p:nvPr/>
          </p:nvSpPr>
          <p:spPr>
            <a:xfrm>
              <a:off x="744855" y="3854768"/>
              <a:ext cx="14614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肘部法则确定k值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4191000"/>
              <a:ext cx="11049000" cy="1333500"/>
            </a:xfrm>
            <a:prstGeom prst="roundRect">
              <a:avLst>
                <a:gd name="adj" fmla="val 5714"/>
              </a:avLst>
            </a:prstGeom>
            <a:solidFill>
              <a:srgbClr val="F5F7FA"/>
            </a:solidFill>
            <a:ln>
              <a:noFill/>
            </a:ln>
          </p:spPr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3986" y="4333875"/>
              <a:ext cx="1802027" cy="1047750"/>
            </a:xfrm>
            <a:prstGeom prst="rect">
              <a:avLst/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3320415" y="4344352"/>
              <a:ext cx="18644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肘部法则（Elbow Method）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21368" y="4609624"/>
              <a:ext cx="2391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绘制SSE（误差平方和）随k值变化的曲线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21368" y="4828699"/>
              <a:ext cx="25990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曲线出现拐点（像"手肘"）的位置 → 最优k值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321368" y="5047774"/>
              <a:ext cx="27811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拐点处说明再增加k值对降低SSE的效果已不明显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22320" y="5274945"/>
              <a:ext cx="2303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本质是在群组数量和群组内紧密度之间取舍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09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3" grpId="0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31228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2.3 示例：影迷的性格特征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143000"/>
            <a:ext cx="11049000" cy="666750"/>
            <a:chOff x="571500" y="1143000"/>
            <a:chExt cx="11049000" cy="66675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666750"/>
            </a:xfrm>
            <a:prstGeom prst="roundRect">
              <a:avLst>
                <a:gd name="adj" fmla="val 11429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8665" y="1296352"/>
              <a:ext cx="61804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情景：一组影迷被问及对不同类型电影的喜好程度（1-5分）。通过k均值聚类将他们分成不同群组。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9618" y="1533049"/>
              <a:ext cx="19165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数据来源：原书第2章示例数据集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1949768"/>
            <a:ext cx="11039475" cy="2003107"/>
            <a:chOff x="571500" y="1949768"/>
            <a:chExt cx="11039475" cy="2003107"/>
          </a:xfrm>
        </p:grpSpPr>
        <p:sp>
          <p:nvSpPr>
            <p:cNvPr id="11" name="TextBox 11"/>
            <p:cNvSpPr txBox="1"/>
            <p:nvPr/>
          </p:nvSpPr>
          <p:spPr>
            <a:xfrm>
              <a:off x="744855" y="1949768"/>
              <a:ext cx="14803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聚类结果（k=3）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71500" y="2333625"/>
              <a:ext cx="3476625" cy="1619250"/>
              <a:chOff x="571500" y="2333625"/>
              <a:chExt cx="3476625" cy="1619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2333625"/>
                <a:ext cx="3476625" cy="1619250"/>
              </a:xfrm>
              <a:prstGeom prst="roundRect">
                <a:avLst>
                  <a:gd name="adj" fmla="val 4706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71500" y="233362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6760" y="2489835"/>
                <a:ext cx="163508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群组A：文艺片爱好者</a:t>
                </a:r>
                <a:endPara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49618" y="2780824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喜欢：艺术片、纪录片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49618" y="29998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不喜欢：商业大片、动作片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0570" y="3274695"/>
                <a:ext cx="12050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推荐文艺片和纪录片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352925" y="2333625"/>
              <a:ext cx="3476625" cy="1619250"/>
              <a:chOff x="4352925" y="2333625"/>
              <a:chExt cx="3476625" cy="1619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52925" y="2333625"/>
                <a:ext cx="3476625" cy="1619250"/>
              </a:xfrm>
              <a:prstGeom prst="roundRect">
                <a:avLst>
                  <a:gd name="adj" fmla="val 4706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52925" y="233362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528185" y="2489835"/>
                <a:ext cx="11310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群组B：动作迷</a:t>
                </a:r>
                <a:endPara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31042" y="2780824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喜欢：动作片、冒险片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31042" y="299989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不喜欢：爱情片、文艺片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31995" y="3274695"/>
                <a:ext cx="108499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推荐动作冒险大片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134350" y="2333625"/>
              <a:ext cx="3476625" cy="1619250"/>
              <a:chOff x="8134350" y="2333625"/>
              <a:chExt cx="3476625" cy="16192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134350" y="2333625"/>
                <a:ext cx="3476625" cy="1619250"/>
              </a:xfrm>
              <a:prstGeom prst="roundRect">
                <a:avLst>
                  <a:gd name="adj" fmla="val 4706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8134350" y="233362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309610" y="2489835"/>
                <a:ext cx="129903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群组C：狂热影迷</a:t>
                </a:r>
                <a:endPara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12468" y="2780824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对所有类型电影评分都很高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312468" y="2999899"/>
                <a:ext cx="15979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无特别偏好，平均评分&gt;4分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13420" y="3274695"/>
                <a:ext cx="12050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可推荐所有类型新片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571500" y="4092892"/>
            <a:ext cx="5334000" cy="1317308"/>
            <a:chOff x="571500" y="4092892"/>
            <a:chExt cx="5334000" cy="1317308"/>
          </a:xfrm>
        </p:grpSpPr>
        <p:sp>
          <p:nvSpPr>
            <p:cNvPr id="34" name="TextBox 34"/>
            <p:cNvSpPr txBox="1"/>
            <p:nvPr/>
          </p:nvSpPr>
          <p:spPr>
            <a:xfrm>
              <a:off x="744855" y="40928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应用价值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1500" y="4457700"/>
              <a:ext cx="5334000" cy="952500"/>
            </a:xfrm>
            <a:prstGeom prst="roundRect">
              <a:avLst>
                <a:gd name="adj" fmla="val 8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8665" y="46015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个性化推荐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9618" y="482869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根据影迷所属群组，推荐该群组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618" y="5038249"/>
              <a:ext cx="1994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喜欢的电影类型 → 提高观影满意度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4457700"/>
            <a:ext cx="5334000" cy="952500"/>
            <a:chOff x="6286500" y="4457700"/>
            <a:chExt cx="5334000" cy="952500"/>
          </a:xfrm>
        </p:grpSpPr>
        <p:sp>
          <p:nvSpPr>
            <p:cNvPr id="40" name="Rectangle 40"/>
            <p:cNvSpPr/>
            <p:nvPr/>
          </p:nvSpPr>
          <p:spPr>
            <a:xfrm>
              <a:off x="6286500" y="4457700"/>
              <a:ext cx="5334000" cy="952500"/>
            </a:xfrm>
            <a:prstGeom prst="roundRect">
              <a:avLst>
                <a:gd name="adj" fmla="val 8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63665" y="4601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注意事项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4618" y="48286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k值的选择影响聚类质量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4618" y="503824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不同初始质心可能导致不同结果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3" grpId="0"/>
      <p:bldP spid="39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95734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2.4 局限性 + 第2章小结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143000"/>
            <a:ext cx="5334000" cy="1000125"/>
            <a:chOff x="571500" y="1143000"/>
            <a:chExt cx="5334000" cy="1000125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1000125"/>
            </a:xfrm>
            <a:prstGeom prst="roundRect">
              <a:avLst>
                <a:gd name="adj" fmla="val 7619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6760" y="1318260"/>
              <a:ext cx="18535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局限1：需要预先指定k值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609249"/>
              <a:ext cx="2755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必须事先知道要将数据分成多少类，而领域知识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799749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可能不足以提供准确的k值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0" y="1143000"/>
            <a:ext cx="5334000" cy="1000125"/>
            <a:chOff x="6286500" y="1143000"/>
            <a:chExt cx="533400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286500" y="1143000"/>
              <a:ext cx="5334000" cy="1000125"/>
            </a:xfrm>
            <a:prstGeom prst="roundRect">
              <a:avLst>
                <a:gd name="adj" fmla="val 7619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61760" y="1318260"/>
              <a:ext cx="18031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局限2：对初始质心敏感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4618" y="1609249"/>
              <a:ext cx="2755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不同的初始质心选择可能导致不同的聚类结果，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4618" y="17997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算法可能收敛到局部最优而非全局最优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2333625"/>
            <a:ext cx="5334000" cy="1000125"/>
            <a:chOff x="571500" y="2333625"/>
            <a:chExt cx="5334000" cy="1000125"/>
          </a:xfrm>
        </p:grpSpPr>
        <p:sp>
          <p:nvSpPr>
            <p:cNvPr id="19" name="Rectangle 19"/>
            <p:cNvSpPr/>
            <p:nvPr/>
          </p:nvSpPr>
          <p:spPr>
            <a:xfrm>
              <a:off x="571500" y="2333625"/>
              <a:ext cx="5334000" cy="1000125"/>
            </a:xfrm>
            <a:prstGeom prst="roundRect">
              <a:avLst>
                <a:gd name="adj" fmla="val 7619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2333625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6760" y="2508885"/>
              <a:ext cx="19711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局限3：只能发现球形群组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2799874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k均值假设数据围绕质心呈球形分布，对非凸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2990374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形状和密度不均的群组聚类效果不佳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2333625"/>
            <a:ext cx="5334000" cy="1000125"/>
            <a:chOff x="6286500" y="2333625"/>
            <a:chExt cx="5334000" cy="1000125"/>
          </a:xfrm>
        </p:grpSpPr>
        <p:sp>
          <p:nvSpPr>
            <p:cNvPr id="25" name="Rectangle 25"/>
            <p:cNvSpPr/>
            <p:nvPr/>
          </p:nvSpPr>
          <p:spPr>
            <a:xfrm>
              <a:off x="6286500" y="2333625"/>
              <a:ext cx="5334000" cy="1000125"/>
            </a:xfrm>
            <a:prstGeom prst="roundRect">
              <a:avLst>
                <a:gd name="adj" fmla="val 7619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2333625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61760" y="2508885"/>
              <a:ext cx="16350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局限4：受离群点影响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2799874"/>
              <a:ext cx="2755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离群点会拉偏质心的位置，影响整体聚类质量，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4618" y="299037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需要先做数据预处理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3521392"/>
            <a:ext cx="11049000" cy="1764983"/>
            <a:chOff x="571500" y="3521392"/>
            <a:chExt cx="11049000" cy="1764983"/>
          </a:xfrm>
        </p:grpSpPr>
        <p:sp>
          <p:nvSpPr>
            <p:cNvPr id="31" name="TextBox 31"/>
            <p:cNvSpPr txBox="1"/>
            <p:nvPr/>
          </p:nvSpPr>
          <p:spPr>
            <a:xfrm>
              <a:off x="744855" y="3521392"/>
              <a:ext cx="8943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第2章小结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" y="3905250"/>
              <a:ext cx="11049000" cy="1381125"/>
            </a:xfrm>
            <a:prstGeom prst="roundRect">
              <a:avLst>
                <a:gd name="adj" fmla="val 551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97719" y="419338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34415" y="4172902"/>
              <a:ext cx="46612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k均值聚类是最经典的无监督学习算法，通过迭代优化将数据划分为k个群组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97719" y="457438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4415" y="4553902"/>
              <a:ext cx="34150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确定k值的常用方法：肘部法则（SSE拐点）、轮廓系数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Freeform 37"/>
            <p:cNvSpPr/>
            <p:nvPr/>
          </p:nvSpPr>
          <p:spPr>
            <a:xfrm>
              <a:off x="797719" y="4812506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34415" y="4792028"/>
              <a:ext cx="36671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应用场景包括客户分群、图像压缩、异常检测、个性化推荐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Freeform 39"/>
            <p:cNvSpPr/>
            <p:nvPr/>
          </p:nvSpPr>
          <p:spPr>
            <a:xfrm>
              <a:off x="797719" y="5050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34415" y="5030152"/>
              <a:ext cx="40241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局限性：需预知k值、对初始质心和离群点敏感、仅适合球形群组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6048566" y="6570345"/>
            <a:ext cx="948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51706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第2章 · 原书图文与核心概念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425348"/>
            <a:ext cx="4762500" cy="3327627"/>
            <a:chOff x="571500" y="1425348"/>
            <a:chExt cx="4762500" cy="3327627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1500" y="1425348"/>
              <a:ext cx="4762500" cy="2769054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2035207" y="4570095"/>
              <a:ext cx="1835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原书第2章插图：k均值聚类示意图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619750" y="1143000"/>
            <a:ext cx="6000750" cy="2190750"/>
            <a:chOff x="5619750" y="1143000"/>
            <a:chExt cx="6000750" cy="2190750"/>
          </a:xfrm>
        </p:grpSpPr>
        <p:sp>
          <p:nvSpPr>
            <p:cNvPr id="10" name="Rectangle 10"/>
            <p:cNvSpPr/>
            <p:nvPr/>
          </p:nvSpPr>
          <p:spPr>
            <a:xfrm>
              <a:off x="5619750" y="1143000"/>
              <a:ext cx="6000750" cy="2190750"/>
            </a:xfrm>
            <a:prstGeom prst="roundRect">
              <a:avLst>
                <a:gd name="adj" fmla="val 347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93105" y="13306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原书核心观点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96915" y="1696402"/>
              <a:ext cx="17418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"找出顾客群" — 将顾客根据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96915" y="193452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其消费行为划分为不同群组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96915" y="2248852"/>
              <a:ext cx="18819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"定义群组" — 每个数据点归入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96915" y="248697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距离最近的质心所在的群组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96915" y="2772728"/>
              <a:ext cx="15038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k均值通过不断迭代优化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96915" y="30108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让群组内差异最小化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19750" y="3571875"/>
            <a:ext cx="6000750" cy="1238250"/>
            <a:chOff x="5619750" y="3571875"/>
            <a:chExt cx="6000750" cy="1238250"/>
          </a:xfrm>
        </p:grpSpPr>
        <p:sp>
          <p:nvSpPr>
            <p:cNvPr id="19" name="Rectangle 19"/>
            <p:cNvSpPr/>
            <p:nvPr/>
          </p:nvSpPr>
          <p:spPr>
            <a:xfrm>
              <a:off x="5619750" y="3571875"/>
              <a:ext cx="6000750" cy="1238250"/>
            </a:xfrm>
            <a:prstGeom prst="roundRect">
              <a:avLst>
                <a:gd name="adj" fmla="val 615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5010" y="37280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距离度量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96915" y="403002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欧氏距离是最常用的距离度量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96915" y="42681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d(x, y) = (Σ(xi - yi)²)^½</a:t>
              </a:r>
              <a:endParaRPr lang="zh-CN" sz="10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97868" y="4561999"/>
              <a:ext cx="24950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计算每个点到质心的距离，归入最近的群组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953357" y="791528"/>
            <a:ext cx="2285286" cy="794385"/>
            <a:chOff x="4953357" y="791528"/>
            <a:chExt cx="2285286" cy="794385"/>
          </a:xfrm>
        </p:grpSpPr>
        <p:sp>
          <p:nvSpPr>
            <p:cNvPr id="5" name="TextBox 5"/>
            <p:cNvSpPr txBox="1"/>
            <p:nvPr/>
          </p:nvSpPr>
          <p:spPr>
            <a:xfrm>
              <a:off x="5473589" y="791528"/>
              <a:ext cx="1244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第3章 · 无监督学习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953357" y="945833"/>
              <a:ext cx="228528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主成分分析</a:t>
              </a:r>
              <a:endParaRPr lang="zh-CN" sz="31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524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71500" y="1762125"/>
            <a:ext cx="11049000" cy="3524250"/>
            <a:chOff x="571500" y="1762125"/>
            <a:chExt cx="11049000" cy="3524250"/>
          </a:xfrm>
        </p:grpSpPr>
        <p:sp>
          <p:nvSpPr>
            <p:cNvPr id="9" name="Rectangle 9"/>
            <p:cNvSpPr/>
            <p:nvPr/>
          </p:nvSpPr>
          <p:spPr>
            <a:xfrm>
              <a:off x="571500" y="1762125"/>
              <a:ext cx="11049000" cy="3524250"/>
            </a:xfrm>
            <a:prstGeom prst="roundRect">
              <a:avLst>
                <a:gd name="adj" fmla="val 270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829300" y="1924050"/>
              <a:ext cx="533400" cy="5334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61375" y="2134552"/>
              <a:ext cx="269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PCA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0" y="2457450"/>
              <a:ext cx="9525" cy="2686050"/>
            </a:xfrm>
            <a:custGeom>
              <a:avLst/>
              <a:gdLst/>
              <a:ahLst/>
              <a:cxnLst/>
              <a:rect l="l" t="t" r="r" b="b"/>
              <a:pathLst>
                <a:path w="9525" h="2686050">
                  <a:moveTo>
                    <a:pt x="0" y="0"/>
                  </a:moveTo>
                  <a:lnTo>
                    <a:pt x="0" y="268605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600450" y="255270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546539" y="27222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降维原理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72450" y="255270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5531" y="27222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确定主成分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2838450" y="3314700"/>
              <a:ext cx="419100" cy="4191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84539" y="34842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应用场景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8934450" y="3314700"/>
              <a:ext cx="419100" cy="4191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80538" y="34842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注意事项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857625"/>
              <a:ext cx="3429000" cy="10477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0618" y="3990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三大应用</a:t>
              </a:r>
              <a:endParaRPr lang="zh-CN" sz="9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1570" y="4236720"/>
              <a:ext cx="15530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数据可视化（降维到2D/3D）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570" y="4427220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降噪（舍弃小方差主成分）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1570" y="4617720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特征提取（减少特征数量）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3857625"/>
              <a:ext cx="3429000" cy="10477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88618" y="3990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使用注意</a:t>
              </a:r>
              <a:endParaRPr lang="zh-CN" sz="9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89570" y="4236720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数据需标准化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89570" y="4427220"/>
              <a:ext cx="8209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PCA是线性方法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89570" y="4617720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主成分可解释性有限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13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72183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3.1 PCA原理 · 3.2 主成分提取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143000"/>
            <a:ext cx="11049000" cy="619125"/>
            <a:chOff x="571500" y="1143000"/>
            <a:chExt cx="11049000" cy="619125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619125"/>
            </a:xfrm>
            <a:prstGeom prst="roundRect">
              <a:avLst>
                <a:gd name="adj" fmla="val 1230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8665" y="1296352"/>
              <a:ext cx="8378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PCA（主成分分析）通过提取数据中方差最大的方向（主成分），将高维数据映射到低维空间，在保留数据最主要信息的同时实现降维。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1949768"/>
            <a:ext cx="11039475" cy="1764982"/>
            <a:chOff x="571500" y="1949768"/>
            <a:chExt cx="11039475" cy="1764982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949768"/>
              <a:ext cx="12912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PCA的核心步骤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71500" y="2333625"/>
              <a:ext cx="3476625" cy="1381125"/>
              <a:chOff x="571500" y="2333625"/>
              <a:chExt cx="3476625" cy="13811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2333625"/>
                <a:ext cx="3476625" cy="1381125"/>
              </a:xfrm>
              <a:prstGeom prst="roundRect">
                <a:avLst>
                  <a:gd name="adj" fmla="val 551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71500" y="233362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971550" y="2495550"/>
                <a:ext cx="342900" cy="342900"/>
              </a:xfrm>
              <a:prstGeom prst="ellipse">
                <a:avLst/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10140" y="2618899"/>
                <a:ext cx="657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14462" y="25455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数据标准化</a:t>
                </a:r>
                <a:endPara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49618" y="2828449"/>
                <a:ext cx="19750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对每个特征减去均值、除以标准差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49618" y="3085624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消除量纲对方差的影响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352925" y="2333625"/>
              <a:ext cx="3476625" cy="1381125"/>
              <a:chOff x="4352925" y="2333625"/>
              <a:chExt cx="3476625" cy="138112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52925" y="2333625"/>
                <a:ext cx="3476625" cy="1381125"/>
              </a:xfrm>
              <a:prstGeom prst="roundRect">
                <a:avLst>
                  <a:gd name="adj" fmla="val 551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52925" y="233362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752975" y="2495550"/>
                <a:ext cx="342900" cy="342900"/>
              </a:xfrm>
              <a:prstGeom prst="ellipse">
                <a:avLst/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874500" y="2618899"/>
                <a:ext cx="998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195888" y="2545556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计算协方差矩阵</a:t>
                </a:r>
                <a:endPara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31042" y="2828449"/>
                <a:ext cx="17149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衡量各变量之间的线性相关性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134350" y="2333625"/>
              <a:ext cx="3476625" cy="1381125"/>
              <a:chOff x="8134350" y="2333625"/>
              <a:chExt cx="3476625" cy="1381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134350" y="2333625"/>
                <a:ext cx="3476625" cy="1381125"/>
              </a:xfrm>
              <a:prstGeom prst="roundRect">
                <a:avLst>
                  <a:gd name="adj" fmla="val 551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8134350" y="233362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8534400" y="2495550"/>
                <a:ext cx="342900" cy="342900"/>
              </a:xfrm>
              <a:prstGeom prst="ellipse">
                <a:avLst/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655925" y="2618899"/>
                <a:ext cx="998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977312" y="25455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特征值分解</a:t>
                </a:r>
                <a:endParaRPr lang="zh-CN" sz="1125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12468" y="2828449"/>
                <a:ext cx="210502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计算协方差矩阵的特征值和特征向量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12468" y="3085624"/>
                <a:ext cx="16564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特征值越大→越重要的主成分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571500" y="3902392"/>
            <a:ext cx="11049000" cy="1574483"/>
            <a:chOff x="571500" y="3902392"/>
            <a:chExt cx="11049000" cy="1574483"/>
          </a:xfrm>
        </p:grpSpPr>
        <p:sp>
          <p:nvSpPr>
            <p:cNvPr id="35" name="TextBox 35"/>
            <p:cNvSpPr txBox="1"/>
            <p:nvPr/>
          </p:nvSpPr>
          <p:spPr>
            <a:xfrm>
              <a:off x="744855" y="390239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主成分的选择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4238625"/>
              <a:ext cx="11049000" cy="1238250"/>
            </a:xfrm>
            <a:prstGeom prst="roundRect">
              <a:avLst>
                <a:gd name="adj" fmla="val 6154"/>
              </a:avLst>
            </a:prstGeom>
            <a:solidFill>
              <a:srgbClr val="F5F7FA"/>
            </a:solidFill>
            <a:ln>
              <a:noFill/>
            </a:ln>
          </p:spPr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60285" y="4381500"/>
              <a:ext cx="870431" cy="952500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3701415" y="4411028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碎石图（Scree Plot）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02368" y="4657249"/>
              <a:ext cx="19165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绘制各主成分的特征值→找到拐点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02368" y="4895374"/>
              <a:ext cx="28071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保留累积方差贡献率达到85%-95%的前k个主成分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02368" y="5133499"/>
              <a:ext cx="29241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第1主成分 = 方差最大的方向，第2主成分与第1正交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4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444537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3.3 示例：分析食物种类 + 应用场景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143000"/>
            <a:ext cx="11049000" cy="2514600"/>
            <a:chOff x="571500" y="1143000"/>
            <a:chExt cx="11049000" cy="25146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2381250"/>
            </a:xfrm>
            <a:prstGeom prst="roundRect">
              <a:avLst>
                <a:gd name="adj" fmla="val 32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4855" y="130206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示例：分析食物种类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8665" y="1620202"/>
              <a:ext cx="60474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每种食物都有热量、蛋白质、脂肪、碳水化合物等多种营养成分指标。这些维度之间存在相关性，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8665" y="1839278"/>
              <a:ext cx="60754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直接在高维空间中分析很困难。通过PCA可以将多维指标降至2个主成分，在二维平面中直观观察。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15720" y="2143125"/>
              <a:ext cx="1131560" cy="123825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3157918" y="3474720"/>
              <a:ext cx="24471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原书第3章插图：食物营养数据的PCA降维结果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3759518"/>
            <a:ext cx="11049000" cy="1336357"/>
            <a:chOff x="571500" y="3759518"/>
            <a:chExt cx="11049000" cy="1336357"/>
          </a:xfrm>
        </p:grpSpPr>
        <p:sp>
          <p:nvSpPr>
            <p:cNvPr id="14" name="TextBox 14"/>
            <p:cNvSpPr txBox="1"/>
            <p:nvPr/>
          </p:nvSpPr>
          <p:spPr>
            <a:xfrm>
              <a:off x="744855" y="3759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典型应用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571500" y="4143375"/>
              <a:ext cx="2571750" cy="952500"/>
              <a:chOff x="571500" y="4143375"/>
              <a:chExt cx="2571750" cy="952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71500" y="414337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47712" y="427910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数据可视化</a:t>
                </a:r>
                <a:endPara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0570" y="4551045"/>
                <a:ext cx="107299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高维数据降到2D/3D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0570" y="47415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在平面中展示聚类结构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381375" y="4143375"/>
              <a:ext cx="2571750" cy="952500"/>
              <a:chOff x="3381375" y="4143375"/>
              <a:chExt cx="2571750" cy="952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381375" y="414337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557588" y="42791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降噪处理</a:t>
                </a:r>
                <a:endPara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60445" y="455104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舍弃方差小的主成分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560445" y="47415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保留主要信号去除噪声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191250" y="4143375"/>
              <a:ext cx="2571750" cy="952500"/>
              <a:chOff x="6191250" y="4143375"/>
              <a:chExt cx="2571750" cy="952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191250" y="4143375"/>
                <a:ext cx="2571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367462" y="42791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特征提取</a:t>
                </a:r>
                <a:endParaRPr lang="zh-CN" sz="1125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370320" y="455104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减少模型输入特征数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70320" y="4741545"/>
                <a:ext cx="128901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加快训练·缓解维度灾难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001125" y="4143375"/>
              <a:ext cx="2619375" cy="952500"/>
              <a:chOff x="9001125" y="4143375"/>
              <a:chExt cx="2619375" cy="952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9001125" y="4143375"/>
                <a:ext cx="2619375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177338" y="42791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人脸识别</a:t>
                </a:r>
                <a:endParaRPr lang="zh-CN" sz="1125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180195" y="4551045"/>
                <a:ext cx="131902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特征脸(Eigenface)方法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180195" y="47415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提取人脸主成分做识别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15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95734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3.4 局限性 + 第3章小结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143000"/>
            <a:ext cx="11049000" cy="1143000"/>
            <a:chOff x="571500" y="1143000"/>
            <a:chExt cx="11049000" cy="1143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1143000"/>
              <a:ext cx="5334000" cy="1143000"/>
              <a:chOff x="571500" y="1143000"/>
              <a:chExt cx="5334000" cy="1143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143000"/>
                <a:ext cx="5334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143000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46760" y="1318260"/>
                <a:ext cx="181990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局限性：PCA是线性方法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9618" y="1609249"/>
                <a:ext cx="23195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PCA只能捕捉线性关系，对于非线性结构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49618" y="1847374"/>
                <a:ext cx="207252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的数据，可用t-SNE或自编码器处理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286500" y="1143000"/>
              <a:ext cx="5334000" cy="1143000"/>
              <a:chOff x="6286500" y="1143000"/>
              <a:chExt cx="5334000" cy="1143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286500" y="1143000"/>
                <a:ext cx="5334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286500" y="1143000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461760" y="1318260"/>
                <a:ext cx="17106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局限性：可解释性有限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464618" y="160924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主成分是原始变量的线性组合，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464618" y="1847374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可能没有明确的物理含义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571500" y="2473642"/>
            <a:ext cx="11049000" cy="2288858"/>
            <a:chOff x="571500" y="2473642"/>
            <a:chExt cx="11049000" cy="2288858"/>
          </a:xfrm>
        </p:grpSpPr>
        <p:sp>
          <p:nvSpPr>
            <p:cNvPr id="20" name="TextBox 20"/>
            <p:cNvSpPr txBox="1"/>
            <p:nvPr/>
          </p:nvSpPr>
          <p:spPr>
            <a:xfrm>
              <a:off x="744855" y="2473642"/>
              <a:ext cx="8943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第3章小结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2857500"/>
              <a:ext cx="11049000" cy="19050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97719" y="3174206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4415" y="3153728"/>
              <a:ext cx="37581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PCA通过主成分提取实现降维，保留数据中最重要的变异信息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97719" y="3555206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4415" y="3534728"/>
              <a:ext cx="4087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第一主成分是方差最大的方向，后续主成分与之前所有主成分正交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97719" y="3936206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4415" y="3915728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用碎石图和累积方差贡献率确定保留的主成分数量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97719" y="4317206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4415" y="4296728"/>
              <a:ext cx="34781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PCA前需做标准化，它是线性方法、主成分可解释性有限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5048250"/>
            <a:ext cx="11049000" cy="381000"/>
            <a:chOff x="571500" y="5048250"/>
            <a:chExt cx="11049000" cy="381000"/>
          </a:xfrm>
        </p:grpSpPr>
        <p:sp>
          <p:nvSpPr>
            <p:cNvPr id="31" name="Rectangle 31"/>
            <p:cNvSpPr/>
            <p:nvPr/>
          </p:nvSpPr>
          <p:spPr>
            <a:xfrm>
              <a:off x="571500" y="5048250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969276" y="5182552"/>
              <a:ext cx="42534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PCA是降维和可视化的利器——化繁为简，但不改变数据的本质结构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16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6023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第3章 · PCA原书图文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863716" y="1143000"/>
            <a:ext cx="10756784" cy="4572000"/>
            <a:chOff x="863716" y="1143000"/>
            <a:chExt cx="10756784" cy="4572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63716" y="1143000"/>
              <a:ext cx="4178068" cy="45720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5619750" y="1143000"/>
              <a:ext cx="6000750" cy="4572000"/>
            </a:xfrm>
            <a:prstGeom prst="roundRect">
              <a:avLst>
                <a:gd name="adj" fmla="val 1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793105" y="13306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原书内容精要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96915" y="1696402"/>
              <a:ext cx="20009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"食物的营养成分"一例中，多种</a:t>
              </a:r>
              <a:endParaRPr lang="zh-CN" sz="105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96915" y="193452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营养成分指标之间存在相关性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96915" y="2248852"/>
              <a:ext cx="1937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PCA提取的主成分是原始变量的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96915" y="248697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线性组合，彼此之间不相关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5810250" y="2857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95010" y="301371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确定主成分数量的方法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96915" y="3315652"/>
              <a:ext cx="2413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 Kaiser准则：保留特征值&gt;1的主成分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96915" y="3601402"/>
              <a:ext cx="27220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 累积方差贡献率：保留85%-95%的主成分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96915" y="3887152"/>
              <a:ext cx="1622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 碎石图：观察曲线拐点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5810250" y="42862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6915" y="4458652"/>
              <a:ext cx="13778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PCA不要求数据有标签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96915" y="47444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属于无监督学习方法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96915" y="50301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结果可用于后续的监督学习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17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0" y="791528"/>
            <a:ext cx="1905000" cy="794385"/>
            <a:chOff x="5143500" y="791528"/>
            <a:chExt cx="1905000" cy="794385"/>
          </a:xfrm>
        </p:grpSpPr>
        <p:sp>
          <p:nvSpPr>
            <p:cNvPr id="5" name="TextBox 5"/>
            <p:cNvSpPr txBox="1"/>
            <p:nvPr/>
          </p:nvSpPr>
          <p:spPr>
            <a:xfrm>
              <a:off x="5473589" y="791528"/>
              <a:ext cx="1244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第4章 · 无监督学习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73885" y="945833"/>
              <a:ext cx="18442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关联规则</a:t>
              </a:r>
              <a:endParaRPr lang="zh-CN" sz="31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524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71500" y="1762125"/>
            <a:ext cx="11049000" cy="3524250"/>
            <a:chOff x="571500" y="1762125"/>
            <a:chExt cx="11049000" cy="3524250"/>
          </a:xfrm>
        </p:grpSpPr>
        <p:sp>
          <p:nvSpPr>
            <p:cNvPr id="9" name="Rectangle 9"/>
            <p:cNvSpPr/>
            <p:nvPr/>
          </p:nvSpPr>
          <p:spPr>
            <a:xfrm>
              <a:off x="571500" y="1762125"/>
              <a:ext cx="11049000" cy="3524250"/>
            </a:xfrm>
            <a:prstGeom prst="roundRect">
              <a:avLst>
                <a:gd name="adj" fmla="val 270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829300" y="1924050"/>
              <a:ext cx="533400" cy="5334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88628" y="21345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关联规则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0" y="2457450"/>
              <a:ext cx="9525" cy="2686050"/>
            </a:xfrm>
            <a:custGeom>
              <a:avLst/>
              <a:gdLst/>
              <a:ahLst/>
              <a:cxnLst/>
              <a:rect l="l" t="t" r="r" b="b"/>
              <a:pathLst>
                <a:path w="9525" h="2686050">
                  <a:moveTo>
                    <a:pt x="0" y="0"/>
                  </a:moveTo>
                  <a:lnTo>
                    <a:pt x="0" y="268605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124200" y="255270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70289" y="27222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核心指标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648700" y="255270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94788" y="27222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先验原则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3124200" y="3314700"/>
              <a:ext cx="419100" cy="4191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07281" y="34842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购物篮分析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8648700" y="3314700"/>
              <a:ext cx="419100" cy="4191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57796" y="34842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857625"/>
              <a:ext cx="3429000" cy="10477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0618" y="39904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三个核心指标</a:t>
              </a:r>
              <a:endParaRPr lang="zh-CN" sz="9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1570" y="4236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支持度：项集出现的频率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570" y="44272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置信度：规则的可靠性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1570" y="4617720"/>
              <a:ext cx="19250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提升度：关联的强度（&gt;1为正相关）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3857625"/>
              <a:ext cx="3429000" cy="10477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88618" y="3990499"/>
              <a:ext cx="8916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Apriori局限性</a:t>
              </a:r>
              <a:endParaRPr lang="zh-CN" sz="9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89570" y="4236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可能生成大量冗余规则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89570" y="4427220"/>
              <a:ext cx="15290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需合理设置支持/置信度阈值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89570" y="4617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经典案例：啤酒与尿布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27133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4.1 支持度·置信度·提升度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1500" y="1143000"/>
            <a:ext cx="3476625" cy="1905000"/>
            <a:chOff x="571500" y="1143000"/>
            <a:chExt cx="3476625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3476625" cy="19050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3476625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5808" y="1310164"/>
              <a:ext cx="16123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支持度（Support）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628299"/>
              <a:ext cx="12664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衡量项集X出现的频率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894999"/>
              <a:ext cx="1682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Support(X) = count(X) / N</a:t>
              </a:r>
              <a:endParaRPr lang="zh-CN" sz="97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180749"/>
              <a:ext cx="2144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例：{面包,牛奶}出现在60%的交易中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466499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支持度高 → 该模式常见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52925" y="1143000"/>
            <a:ext cx="3476625" cy="1905000"/>
            <a:chOff x="4352925" y="1143000"/>
            <a:chExt cx="3476625" cy="1905000"/>
          </a:xfrm>
        </p:grpSpPr>
        <p:sp>
          <p:nvSpPr>
            <p:cNvPr id="15" name="Rectangle 15"/>
            <p:cNvSpPr/>
            <p:nvPr/>
          </p:nvSpPr>
          <p:spPr>
            <a:xfrm>
              <a:off x="4352925" y="1143000"/>
              <a:ext cx="3476625" cy="19050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52925" y="1143000"/>
              <a:ext cx="3476625" cy="38100"/>
            </a:xfrm>
            <a:prstGeom prst="roundRect">
              <a:avLst>
                <a:gd name="adj" fmla="val 50000"/>
              </a:avLst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27232" y="1310164"/>
              <a:ext cx="18622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置信度（Confidence）</a:t>
              </a:r>
              <a:endParaRPr lang="zh-CN" sz="1275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31042" y="1628299"/>
              <a:ext cx="1279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衡量规则A→B的可靠性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31042" y="1894999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Conf(A→B)=P(A∧B)/P(A)</a:t>
              </a:r>
              <a:endParaRPr lang="zh-CN" sz="975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31042" y="2180749"/>
              <a:ext cx="2319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例：买了面包的顾客中有75%也买了牛奶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31042" y="2466499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置信度高 → 条件概率大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34350" y="1143000"/>
            <a:ext cx="3476625" cy="1905000"/>
            <a:chOff x="8134350" y="1143000"/>
            <a:chExt cx="3476625" cy="1905000"/>
          </a:xfrm>
        </p:grpSpPr>
        <p:sp>
          <p:nvSpPr>
            <p:cNvPr id="23" name="Rectangle 23"/>
            <p:cNvSpPr/>
            <p:nvPr/>
          </p:nvSpPr>
          <p:spPr>
            <a:xfrm>
              <a:off x="8134350" y="1143000"/>
              <a:ext cx="3476625" cy="19050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34350" y="1143000"/>
              <a:ext cx="3476625" cy="38100"/>
            </a:xfrm>
            <a:prstGeom prst="roundRect">
              <a:avLst>
                <a:gd name="adj" fmla="val 50000"/>
              </a:avLst>
            </a:prstGeom>
            <a:solidFill>
              <a:srgbClr val="5DADE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08658" y="1310164"/>
              <a:ext cx="12731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提升度（Lift）</a:t>
              </a:r>
              <a:endParaRPr lang="zh-CN" sz="1275" b="1" dirty="0">
                <a:solidFill>
                  <a:srgbClr val="5DAD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12468" y="16282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衡量关联的强度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2468" y="1894999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ADE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Lift(A→B)=Conf/ P(B)</a:t>
              </a:r>
              <a:endParaRPr lang="zh-CN" sz="975" dirty="0">
                <a:solidFill>
                  <a:srgbClr val="5DADE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2468" y="2180749"/>
              <a:ext cx="19165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Lift &gt; 1 → 正相关（有价值关联）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2468" y="2466499"/>
              <a:ext cx="12664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Lift = 1 → 独立无关联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235642"/>
            <a:ext cx="11049000" cy="1241108"/>
            <a:chOff x="571500" y="3235642"/>
            <a:chExt cx="11049000" cy="1241108"/>
          </a:xfrm>
        </p:grpSpPr>
        <p:sp>
          <p:nvSpPr>
            <p:cNvPr id="31" name="TextBox 31"/>
            <p:cNvSpPr txBox="1"/>
            <p:nvPr/>
          </p:nvSpPr>
          <p:spPr>
            <a:xfrm>
              <a:off x="744855" y="3235642"/>
              <a:ext cx="1423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Apriori先验原则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" y="3619500"/>
              <a:ext cx="11049000" cy="857250"/>
            </a:xfrm>
            <a:prstGeom prst="roundRect">
              <a:avLst>
                <a:gd name="adj" fmla="val 8889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7712" y="3783806"/>
              <a:ext cx="50692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核心原理：如果一个项集是非频繁的，那么它的所有超集都是非频繁的。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4085749"/>
              <a:ext cx="5686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先生成所有满足最小支持度的频繁项集 ② 再从频繁项集中生成满足置信度/提升度阈值的关联规则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618" y="4276249"/>
              <a:ext cx="31256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通过剪枝减少候选项集的数量，大幅降低计算复杂度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307459" y="4667250"/>
            <a:ext cx="1671581" cy="1428750"/>
            <a:chOff x="2307459" y="4667250"/>
            <a:chExt cx="1671581" cy="1428750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07459" y="4667250"/>
              <a:ext cx="1671581" cy="1428750"/>
            </a:xfrm>
            <a:prstGeom prst="rect">
              <a:avLst/>
            </a:prstGeom>
          </p:spPr>
        </p:pic>
      </p:grpSp>
      <p:sp>
        <p:nvSpPr>
          <p:cNvPr id="39" name="TextBox 39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19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  <p:bldP spid="30" grpId="0"/>
      <p:bldP spid="36" grpId="0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89931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4.2 示例：杂货店销售 + 局限性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1143000"/>
            <a:ext cx="11049000" cy="2381250"/>
            <a:chOff x="571500" y="1143000"/>
            <a:chExt cx="11049000" cy="238125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2381250"/>
            </a:xfrm>
            <a:prstGeom prst="roundRect">
              <a:avLst>
                <a:gd name="adj" fmla="val 32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4855" y="13020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购物篮分析示例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666875"/>
              <a:ext cx="4762500" cy="13335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9165" y="1791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交易数据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1070" y="2045970"/>
              <a:ext cx="11510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T1: 面包, 牛奶, 鸡蛋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1070" y="2236470"/>
              <a:ext cx="11810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T2: 面包, 黄油, 牛奶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1070" y="2426970"/>
              <a:ext cx="11810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T3: 啤酒, 薯片, 面包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1070" y="2617470"/>
              <a:ext cx="15230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T4: 面包, 牛奶, 黄油, 鸡蛋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05500" y="1666875"/>
              <a:ext cx="5334000" cy="13335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2665" y="1791652"/>
              <a:ext cx="18423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发现规则：{面包} → {牛奶}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3618" y="2066449"/>
              <a:ext cx="2755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支持度：3/4 = 75%（面包和牛奶同时出现3次）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3618" y="2295049"/>
              <a:ext cx="30281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置信度：3/4 = 75%（买面包的顾客75%也买了牛奶）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83618" y="2523649"/>
              <a:ext cx="31516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提升度：0.75/0.75 = 1（牛奶的总购买频率也是75%）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4570" y="2760345"/>
              <a:ext cx="25251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可优化货架布局，将面包和牛奶放在相邻位置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3664268"/>
            <a:ext cx="11049000" cy="1002982"/>
            <a:chOff x="571500" y="3664268"/>
            <a:chExt cx="11049000" cy="1002982"/>
          </a:xfrm>
        </p:grpSpPr>
        <p:sp>
          <p:nvSpPr>
            <p:cNvPr id="22" name="TextBox 22"/>
            <p:cNvSpPr txBox="1"/>
            <p:nvPr/>
          </p:nvSpPr>
          <p:spPr>
            <a:xfrm>
              <a:off x="744855" y="36642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</a:t>
              </a:r>
              <a:endParaRPr lang="zh-CN" sz="13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571500" y="4048125"/>
              <a:ext cx="5334000" cy="619125"/>
              <a:chOff x="571500" y="4048125"/>
              <a:chExt cx="5334000" cy="61912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4048125"/>
                <a:ext cx="5334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48665" y="417290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大量冗余规则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50570" y="4398645"/>
                <a:ext cx="27832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支持度和置信度阈值设置不当会生成大量无意义规则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286500" y="4048125"/>
              <a:ext cx="5334000" cy="619125"/>
              <a:chOff x="6286500" y="4048125"/>
              <a:chExt cx="5334000" cy="61912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286500" y="4048125"/>
                <a:ext cx="5334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463665" y="417290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计算复杂度高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465570" y="4398645"/>
                <a:ext cx="20631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大数据集上候选项集数量呈指数级增长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71500" y="4905375"/>
            <a:ext cx="11049000" cy="476250"/>
            <a:chOff x="571500" y="4905375"/>
            <a:chExt cx="11049000" cy="476250"/>
          </a:xfrm>
        </p:grpSpPr>
        <p:sp>
          <p:nvSpPr>
            <p:cNvPr id="32" name="Rectangle 32"/>
            <p:cNvSpPr/>
            <p:nvPr/>
          </p:nvSpPr>
          <p:spPr>
            <a:xfrm>
              <a:off x="571500" y="4905375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675514" y="5077778"/>
              <a:ext cx="68409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小结：关联规则发现变量间的共现关系，Apriori利用先验原则剪枝，经典应用是购物篮分析和交叉销售。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1" grpId="0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15189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第4章 · 原书图文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1393675"/>
            <a:ext cx="4762500" cy="4070650"/>
            <a:chOff x="571500" y="1393675"/>
            <a:chExt cx="4762500" cy="407065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1500" y="1393675"/>
              <a:ext cx="4762500" cy="4070650"/>
            </a:xfrm>
            <a:prstGeom prst="rect">
              <a:avLst/>
            </a:prstGeom>
          </p:spPr>
        </p:pic>
      </p:grpSp>
      <p:grpSp>
        <p:nvGrpSpPr>
          <p:cNvPr id="25" name="Group 25"/>
          <p:cNvGrpSpPr/>
          <p:nvPr/>
        </p:nvGrpSpPr>
        <p:grpSpPr>
          <a:xfrm>
            <a:off x="5619750" y="1143000"/>
            <a:ext cx="6000750" cy="4572000"/>
            <a:chOff x="5619750" y="1143000"/>
            <a:chExt cx="6000750" cy="4572000"/>
          </a:xfrm>
        </p:grpSpPr>
        <p:sp>
          <p:nvSpPr>
            <p:cNvPr id="9" name="Rectangle 9"/>
            <p:cNvSpPr/>
            <p:nvPr/>
          </p:nvSpPr>
          <p:spPr>
            <a:xfrm>
              <a:off x="5619750" y="1143000"/>
              <a:ext cx="6000750" cy="4572000"/>
            </a:xfrm>
            <a:prstGeom prst="roundRect">
              <a:avLst>
                <a:gd name="adj" fmla="val 1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793105" y="1330642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关联规则原书要点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96915" y="16964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关联规则在大规模数据集中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96915" y="193452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发现商品之间的有趣关系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96915" y="22488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典型应用：超市购物篮分析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5810250" y="2619375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95010" y="2775585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先验原则的作用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97868" y="3085624"/>
              <a:ext cx="22025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如果{面包}不频繁，那么{面包,牛奶}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97868" y="3304699"/>
              <a:ext cx="20595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{面包,黄油}等所有包含面包的超集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97868" y="352377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都不需要再考虑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97868" y="3809524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这个剪枝策略大幅减少了需要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97868" y="40285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检查的项集数量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5810250" y="4391025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96915" y="456342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提升度比置信度更可靠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96915" y="484917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因为它考虑了商品本身的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96915" y="50682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基准出现频率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21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160582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第4章 · 小结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71500" y="1143000"/>
            <a:ext cx="11049000" cy="4572000"/>
            <a:chOff x="571500" y="1143000"/>
            <a:chExt cx="11049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4572000"/>
            </a:xfrm>
            <a:prstGeom prst="roundRect">
              <a:avLst>
                <a:gd name="adj" fmla="val 1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2950" y="1314450"/>
              <a:ext cx="18968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第4章 核心要点回顾</a:t>
              </a:r>
              <a:endParaRPr lang="zh-CN" sz="15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1666875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6760" y="18707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关联规则三要素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8665" y="215360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支持度：项集出现频率，衡量规则的普遍性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382202"/>
              <a:ext cx="2546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置信度：条件概率，衡量规则的可信程度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610802"/>
              <a:ext cx="32260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提升度：实际置信度与期望置信度之比，&gt;1为正关联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295275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6760" y="3108960"/>
              <a:ext cx="12654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Apriori算法精髓</a:t>
              </a:r>
              <a:endParaRPr lang="zh-CN" sz="120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8665" y="3391852"/>
              <a:ext cx="43742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先验原则（Apriori Property）：一个项集若非频繁，其超集必非频繁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8665" y="3620452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两步走：先找频繁项集，再从中提取关联规则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762000" y="396240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6760" y="41186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440150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可能生成大量冗余规则，阈值的设置需要领域知识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8665" y="4630102"/>
              <a:ext cx="3527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高置信度不一定代表有意义的关联（需结合提升度判断）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8665" y="4858702"/>
              <a:ext cx="20359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数据集稀疏时Apriori的效率较低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5953125"/>
            <a:ext cx="11049000" cy="381000"/>
            <a:chOff x="571500" y="5953125"/>
            <a:chExt cx="11049000" cy="381000"/>
          </a:xfrm>
        </p:grpSpPr>
        <p:sp>
          <p:nvSpPr>
            <p:cNvPr id="24" name="Rectangle 24"/>
            <p:cNvSpPr/>
            <p:nvPr/>
          </p:nvSpPr>
          <p:spPr>
            <a:xfrm>
              <a:off x="571500" y="5953125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02493" y="6077902"/>
              <a:ext cx="51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关联规则发现"啤酒与尿布"式的隐藏关系，帮助商家理解消费者的购买行为模式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32830" y="791528"/>
            <a:ext cx="2726341" cy="794385"/>
            <a:chOff x="4732830" y="791528"/>
            <a:chExt cx="2726341" cy="794385"/>
          </a:xfrm>
        </p:grpSpPr>
        <p:sp>
          <p:nvSpPr>
            <p:cNvPr id="5" name="TextBox 5"/>
            <p:cNvSpPr txBox="1"/>
            <p:nvPr/>
          </p:nvSpPr>
          <p:spPr>
            <a:xfrm>
              <a:off x="5473589" y="791528"/>
              <a:ext cx="1244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第5章 · 无监督学习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732830" y="945833"/>
              <a:ext cx="272634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社会网络分析</a:t>
              </a:r>
              <a:endParaRPr lang="zh-CN" sz="31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524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71500" y="1762125"/>
            <a:ext cx="11049000" cy="3524250"/>
            <a:chOff x="571500" y="1762125"/>
            <a:chExt cx="11049000" cy="3524250"/>
          </a:xfrm>
        </p:grpSpPr>
        <p:sp>
          <p:nvSpPr>
            <p:cNvPr id="9" name="Rectangle 9"/>
            <p:cNvSpPr/>
            <p:nvPr/>
          </p:nvSpPr>
          <p:spPr>
            <a:xfrm>
              <a:off x="571500" y="1762125"/>
              <a:ext cx="11049000" cy="3524250"/>
            </a:xfrm>
            <a:prstGeom prst="roundRect">
              <a:avLst>
                <a:gd name="adj" fmla="val 270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829300" y="1924050"/>
              <a:ext cx="533400" cy="5334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88628" y="21345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社会网络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0" y="2457450"/>
              <a:ext cx="9525" cy="2686050"/>
            </a:xfrm>
            <a:custGeom>
              <a:avLst/>
              <a:gdLst/>
              <a:ahLst/>
              <a:cxnLst/>
              <a:rect l="l" t="t" r="r" b="b"/>
              <a:pathLst>
                <a:path w="9525" h="2686050">
                  <a:moveTo>
                    <a:pt x="0" y="0"/>
                  </a:moveTo>
                  <a:lnTo>
                    <a:pt x="0" y="268605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124200" y="255270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95492" y="2722245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Louvain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648700" y="255270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69585" y="2722245"/>
              <a:ext cx="5773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PageRank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2500" y="2952750"/>
              <a:ext cx="3429000" cy="2000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29665" y="3125152"/>
              <a:ext cx="11440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Louvain社区发现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1570" y="3379470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目标：划分内部紧密的社区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1570" y="3569970"/>
              <a:ext cx="18590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原理：最大化模块度(Modularity)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1570" y="376047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应用：社交兴趣小组发现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9665" y="3982402"/>
              <a:ext cx="12616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PageRank排名算法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1570" y="4236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目标：衡量节点重要性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570" y="4427220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原理：随机游走+链接分析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1570" y="4617720"/>
              <a:ext cx="1709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应用：Google搜索引擎核心算法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23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40904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5.1 Louvain方法 + 5.2 PageRank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143000"/>
            <a:ext cx="5334000" cy="2476500"/>
            <a:chOff x="571500" y="1143000"/>
            <a:chExt cx="5334000" cy="24765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476500"/>
            </a:xfrm>
            <a:prstGeom prst="roundRect">
              <a:avLst>
                <a:gd name="adj" fmla="val 307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4855" y="1302068"/>
              <a:ext cx="1527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Louvain 社区发现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8665" y="16202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将网络划分为内部紧密连接的社区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894999"/>
              <a:ext cx="20010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核心指标：模块度（Modularity）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133124"/>
              <a:ext cx="25990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量化社区划分质量——社区内边数 vs 随机边数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2476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8665" y="26012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算法步骤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2847499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 每个节点初始属于不同社区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3057049"/>
              <a:ext cx="28071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 遍历节点，移到使模块度增益最大的邻居社区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26659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 将发现社区合并为新节点，重复迭代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1143000"/>
            <a:ext cx="5334000" cy="2476500"/>
            <a:chOff x="6286500" y="1143000"/>
            <a:chExt cx="5334000" cy="24765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143000"/>
              <a:ext cx="5334000" cy="2476500"/>
            </a:xfrm>
            <a:prstGeom prst="roundRect">
              <a:avLst>
                <a:gd name="adj" fmla="val 307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9855" y="1302068"/>
              <a:ext cx="16787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PageRank 排名算法</a:t>
              </a:r>
              <a:endParaRPr lang="zh-CN" sz="13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16202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衡量节点在网络中的重要性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1894999"/>
              <a:ext cx="2306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核心思想：被越多重要节点链接→越重要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2133124"/>
              <a:ext cx="15914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Google搜索引擎的起家算法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477000" y="2476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63665" y="26012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原理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2847499"/>
              <a:ext cx="20985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在网络上随机游走（Random Walk）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3057049"/>
              <a:ext cx="1975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统计访问各节点的频率作为重要性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4618" y="32665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迭代计算直至分数收敛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854236" y="3857625"/>
            <a:ext cx="2197027" cy="2190750"/>
            <a:chOff x="1854236" y="3857625"/>
            <a:chExt cx="2197027" cy="2190750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54236" y="3857625"/>
              <a:ext cx="2197027" cy="2190750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5619750" y="3857625"/>
            <a:ext cx="6000750" cy="2190750"/>
            <a:chOff x="5619750" y="3857625"/>
            <a:chExt cx="6000750" cy="2190750"/>
          </a:xfrm>
        </p:grpSpPr>
        <p:sp>
          <p:nvSpPr>
            <p:cNvPr id="33" name="Rectangle 33"/>
            <p:cNvSpPr/>
            <p:nvPr/>
          </p:nvSpPr>
          <p:spPr>
            <a:xfrm>
              <a:off x="5619750" y="3857625"/>
              <a:ext cx="6000750" cy="2190750"/>
            </a:xfrm>
            <a:prstGeom prst="roundRect">
              <a:avLst>
                <a:gd name="adj" fmla="val 347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95010" y="4013835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示例：国际贸易网络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97868" y="4323874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以国家为节点、贸易关系为边构建网络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97868" y="4561999"/>
              <a:ext cx="27226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Louvain → 发现区域贸易集团（如欧盟、东盟）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97868" y="4800124"/>
              <a:ext cx="2306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PageRank → 找出最具影响力的贸易大国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810250" y="5143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97868" y="5276374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局限性：网络数据获取困难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97868" y="54954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大规模网络计算复杂度高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24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/>
      <p:bldP spid="32" grpId="0"/>
      <p:bldP spid="4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15189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第5章 · 原书图文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519906" y="1143000"/>
            <a:ext cx="2865688" cy="2857500"/>
            <a:chOff x="1519906" y="1143000"/>
            <a:chExt cx="2865688" cy="2857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19906" y="1143000"/>
              <a:ext cx="2865688" cy="2857500"/>
            </a:xfrm>
            <a:prstGeom prst="rect">
              <a:avLst/>
            </a:prstGeom>
          </p:spPr>
        </p:pic>
      </p:grpSp>
      <p:grpSp>
        <p:nvGrpSpPr>
          <p:cNvPr id="25" name="Group 25"/>
          <p:cNvGrpSpPr/>
          <p:nvPr/>
        </p:nvGrpSpPr>
        <p:grpSpPr>
          <a:xfrm>
            <a:off x="5619750" y="1143000"/>
            <a:ext cx="6000750" cy="4762500"/>
            <a:chOff x="5619750" y="1143000"/>
            <a:chExt cx="6000750" cy="4762500"/>
          </a:xfrm>
        </p:grpSpPr>
        <p:sp>
          <p:nvSpPr>
            <p:cNvPr id="9" name="Rectangle 9"/>
            <p:cNvSpPr/>
            <p:nvPr/>
          </p:nvSpPr>
          <p:spPr>
            <a:xfrm>
              <a:off x="5619750" y="1143000"/>
              <a:ext cx="6000750" cy="4762500"/>
            </a:xfrm>
            <a:prstGeom prst="roundRect">
              <a:avLst>
                <a:gd name="adj" fmla="val 16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793105" y="1330642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原书要点：展现人际关系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96915" y="16964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社会网络分析用图结构表示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96915" y="193452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实体（节点）及其关系（边）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5810250" y="2333625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95010" y="2489835"/>
              <a:ext cx="16602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Louvain vs PageRank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96915" y="2839402"/>
              <a:ext cx="2070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Louvain：发现社区（群组划分）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96915" y="3125152"/>
              <a:ext cx="20429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PageRank：排名（重要性评估）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96915" y="34109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两者结合：既知道社区归属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96915" y="364902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又知道谁是最有影响力的节点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5810250" y="4048125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5010" y="42043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应用场景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97868" y="4514374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社交网络中的兴趣小组发现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97868" y="4752499"/>
              <a:ext cx="18969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搜索引擎结果排序（PageRank）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97868" y="4990624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生物信息学中的蛋白质交互网络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97868" y="522874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反欺诈：识别金融交易网络中的异常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25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73891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第5章 · 局限性 + 小结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143000"/>
            <a:ext cx="11049000" cy="952500"/>
            <a:chOff x="571500" y="1143000"/>
            <a:chExt cx="11049000" cy="952500"/>
          </a:xfrm>
        </p:grpSpPr>
        <p:grpSp>
          <p:nvGrpSpPr>
            <p:cNvPr id="11" name="Group 11"/>
            <p:cNvGrpSpPr/>
            <p:nvPr/>
          </p:nvGrpSpPr>
          <p:grpSpPr>
            <a:xfrm>
              <a:off x="571500" y="1143000"/>
              <a:ext cx="5334000" cy="952500"/>
              <a:chOff x="571500" y="1143000"/>
              <a:chExt cx="5334000" cy="952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143000"/>
                <a:ext cx="5334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143000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46760" y="131826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数据获取困难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9618" y="1609249"/>
                <a:ext cx="35352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网络数据涉及隐私，获取完整的网络关系数据往往具有挑战性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286500" y="1143000"/>
              <a:ext cx="5334000" cy="952500"/>
              <a:chOff x="6286500" y="1143000"/>
              <a:chExt cx="5334000" cy="952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286500" y="1143000"/>
                <a:ext cx="5334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6286500" y="1143000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461760" y="131826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计算复杂度高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464618" y="1609249"/>
                <a:ext cx="2885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大规模网络包含百万级节点，需要高效的计算方法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571500" y="2381250"/>
            <a:ext cx="11049000" cy="3143250"/>
            <a:chOff x="571500" y="2381250"/>
            <a:chExt cx="11049000" cy="3143250"/>
          </a:xfrm>
        </p:grpSpPr>
        <p:sp>
          <p:nvSpPr>
            <p:cNvPr id="18" name="Rectangle 18"/>
            <p:cNvSpPr/>
            <p:nvPr/>
          </p:nvSpPr>
          <p:spPr>
            <a:xfrm>
              <a:off x="571500" y="2381250"/>
              <a:ext cx="11049000" cy="3143250"/>
            </a:xfrm>
            <a:prstGeom prst="roundRect">
              <a:avLst>
                <a:gd name="adj" fmla="val 242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2950" y="2552700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第5章 小结</a:t>
              </a:r>
              <a:endParaRPr lang="zh-CN" sz="15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2905125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97719" y="3145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34415" y="312515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社会网络分析用图结构表示实体之间的关系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97719" y="3526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4415" y="3506152"/>
              <a:ext cx="3191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Louvain方法通过优化模块度发现网络中的社区结构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Freeform 25"/>
            <p:cNvSpPr/>
            <p:nvPr/>
          </p:nvSpPr>
          <p:spPr>
            <a:xfrm>
              <a:off x="797719" y="3907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34415" y="3887152"/>
              <a:ext cx="31630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PageRank通过随机游走衡量节点在网络中的重要性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97719" y="4288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34415" y="4268152"/>
              <a:ext cx="30300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Google搜索引擎的核心算法建立在PageRank之上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97719" y="4669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34415" y="4649152"/>
              <a:ext cx="38071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两种方法互补：Louvain发现群组，PageRank评估个体影响力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797719" y="5050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34415" y="503015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应用：社交网络、推荐系统、反欺诈、生物信息学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26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0" y="791528"/>
            <a:ext cx="1905000" cy="794385"/>
            <a:chOff x="5143500" y="791528"/>
            <a:chExt cx="1905000" cy="794385"/>
          </a:xfrm>
        </p:grpSpPr>
        <p:sp>
          <p:nvSpPr>
            <p:cNvPr id="5" name="TextBox 5"/>
            <p:cNvSpPr txBox="1"/>
            <p:nvPr/>
          </p:nvSpPr>
          <p:spPr>
            <a:xfrm>
              <a:off x="5543598" y="791528"/>
              <a:ext cx="1104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第6章 · 监督学习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73885" y="945833"/>
              <a:ext cx="18442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回归分析</a:t>
              </a:r>
              <a:endParaRPr lang="zh-CN" sz="31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524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71500" y="1762125"/>
            <a:ext cx="11049000" cy="3524250"/>
            <a:chOff x="571500" y="1762125"/>
            <a:chExt cx="11049000" cy="3524250"/>
          </a:xfrm>
        </p:grpSpPr>
        <p:sp>
          <p:nvSpPr>
            <p:cNvPr id="9" name="Rectangle 9"/>
            <p:cNvSpPr/>
            <p:nvPr/>
          </p:nvSpPr>
          <p:spPr>
            <a:xfrm>
              <a:off x="571500" y="1762125"/>
              <a:ext cx="11049000" cy="3524250"/>
            </a:xfrm>
            <a:prstGeom prst="roundRect">
              <a:avLst>
                <a:gd name="adj" fmla="val 270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829300" y="1924050"/>
              <a:ext cx="533400" cy="5334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88628" y="21345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回归分析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0" y="2457450"/>
              <a:ext cx="9525" cy="2686050"/>
            </a:xfrm>
            <a:custGeom>
              <a:avLst/>
              <a:gdLst/>
              <a:ahLst/>
              <a:cxnLst/>
              <a:rect l="l" t="t" r="r" b="b"/>
              <a:pathLst>
                <a:path w="9525" h="2686050">
                  <a:moveTo>
                    <a:pt x="0" y="0"/>
                  </a:moveTo>
                  <a:lnTo>
                    <a:pt x="0" y="268605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647950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57046" y="281749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趋势线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5076825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022913" y="28174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梯度下降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05700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51788" y="28174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回归系数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86950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33038" y="28174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相关系数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238500"/>
              <a:ext cx="10668000" cy="180975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165" y="3410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核心知识点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0118" y="3685699"/>
              <a:ext cx="33856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回归建立自变量与因变量的定量关系，预测连续数值结果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0118" y="3914299"/>
              <a:ext cx="32556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梯度下降法：沿误差函数负梯度方向迭代调整回归系数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0118" y="4142899"/>
              <a:ext cx="299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回归系数表示自变量每变化单位，因变量的变化量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0118" y="4371499"/>
              <a:ext cx="30476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R²决定系数衡量模型拟合优度，越接近1解释力越强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18" y="4600099"/>
              <a:ext cx="1955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示例：用面积、卧室数预测房价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27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8174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6.1 梯度下降法 + 6.2 回归系数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143000"/>
            <a:ext cx="5334000" cy="2667000"/>
            <a:chOff x="571500" y="1143000"/>
            <a:chExt cx="5334000" cy="2667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4855" y="1302068"/>
              <a:ext cx="27373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梯度下降（Gradient Descent）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6282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优化回归系数的核心算法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894999"/>
              <a:ext cx="22155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沿误差函数（MSE）的负梯度方向迭代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133124"/>
              <a:ext cx="21115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逐步调整系数 w，使预测误差最小化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2476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8665" y="260127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学习率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28474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决定每次更新的步长大小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30856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太大：可能越过最优解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3046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太小：收敛速度很慢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1143000"/>
            <a:ext cx="5334000" cy="2667000"/>
            <a:chOff x="6286500" y="1143000"/>
            <a:chExt cx="5334000" cy="26670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9855" y="1302068"/>
              <a:ext cx="11873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回归系数与R²</a:t>
              </a:r>
              <a:endParaRPr lang="zh-CN" sz="13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1620202"/>
              <a:ext cx="17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简单线性回归：y = wx + b</a:t>
              </a:r>
              <a:endParaRPr lang="zh-CN" sz="10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1894999"/>
              <a:ext cx="13119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 = 回归系数（斜率）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2133124"/>
              <a:ext cx="5058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 = 截距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477000" y="2476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63665" y="2601278"/>
              <a:ext cx="10705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相关系数（R²）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2847499"/>
              <a:ext cx="1428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衡量模型拟合优度 [0,1]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3085624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R²=0.8 → 自变量解释80%的因变量变异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4618" y="3304699"/>
              <a:ext cx="15134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越接近1 → 模型解释力越强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93736" y="4048125"/>
            <a:ext cx="3518028" cy="2000250"/>
            <a:chOff x="1193736" y="4048125"/>
            <a:chExt cx="3518028" cy="2000250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93736" y="4048125"/>
              <a:ext cx="3518028" cy="2000250"/>
            </a:xfrm>
            <a:prstGeom prst="rect">
              <a:avLst/>
            </a:prstGeom>
          </p:spPr>
        </p:pic>
      </p:grpSp>
      <p:grpSp>
        <p:nvGrpSpPr>
          <p:cNvPr id="39" name="Group 39"/>
          <p:cNvGrpSpPr/>
          <p:nvPr/>
        </p:nvGrpSpPr>
        <p:grpSpPr>
          <a:xfrm>
            <a:off x="5619750" y="4048125"/>
            <a:ext cx="6000750" cy="2000250"/>
            <a:chOff x="5619750" y="4048125"/>
            <a:chExt cx="6000750" cy="2000250"/>
          </a:xfrm>
        </p:grpSpPr>
        <p:sp>
          <p:nvSpPr>
            <p:cNvPr id="33" name="Rectangle 33"/>
            <p:cNvSpPr/>
            <p:nvPr/>
          </p:nvSpPr>
          <p:spPr>
            <a:xfrm>
              <a:off x="5619750" y="4048125"/>
              <a:ext cx="6000750" cy="2000250"/>
            </a:xfrm>
            <a:prstGeom prst="roundRect">
              <a:avLst>
                <a:gd name="adj" fmla="val 381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95010" y="4204335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示例：预测房价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97868" y="4514374"/>
              <a:ext cx="1975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自变量：面积、卧室数、位置评分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97868" y="47524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因变量：房价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97868" y="5038249"/>
              <a:ext cx="32361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模型：房价 = w₁×面积 + w₂×卧室数 + w₃×位置评分 + b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97868" y="5323999"/>
              <a:ext cx="2755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局限性：线性假设、对异常值敏感、多重共线性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28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/>
      <p:bldP spid="32" grpId="0"/>
      <p:bldP spid="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73891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第6章 · 局限性 + 小结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71500" y="1140142"/>
            <a:ext cx="11049000" cy="2050733"/>
            <a:chOff x="571500" y="1140142"/>
            <a:chExt cx="11049000" cy="2050733"/>
          </a:xfrm>
        </p:grpSpPr>
        <p:sp>
          <p:nvSpPr>
            <p:cNvPr id="7" name="TextBox 7"/>
            <p:cNvSpPr txBox="1"/>
            <p:nvPr/>
          </p:nvSpPr>
          <p:spPr>
            <a:xfrm>
              <a:off x="744855" y="114014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</a:t>
              </a:r>
              <a:endParaRPr lang="zh-CN" sz="13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71500" y="1476375"/>
              <a:ext cx="5334000" cy="762000"/>
              <a:chOff x="571500" y="1476375"/>
              <a:chExt cx="5334000" cy="762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5334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7712" y="16406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线性假设</a:t>
                </a:r>
                <a:endPara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49618" y="1894999"/>
                <a:ext cx="22350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假设自变量与因变量之间存在线性关系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286500" y="1476375"/>
              <a:ext cx="5334000" cy="762000"/>
              <a:chOff x="6286500" y="1476375"/>
              <a:chExt cx="5334000" cy="762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286500" y="1476375"/>
                <a:ext cx="5334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286500" y="14763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462712" y="164068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异常值敏感</a:t>
                </a:r>
                <a:endPara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464618" y="1894999"/>
                <a:ext cx="19750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离群点会显著影响回归系数的估计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71500" y="2428875"/>
              <a:ext cx="5334000" cy="762000"/>
              <a:chOff x="571500" y="2428875"/>
              <a:chExt cx="5334000" cy="76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71500" y="2428875"/>
                <a:ext cx="5334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71500" y="24288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7712" y="259318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多重共线性</a:t>
                </a:r>
                <a:endPara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9618" y="2847499"/>
                <a:ext cx="23650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自变量之间高度相关时，系数估计不稳定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286500" y="2428875"/>
              <a:ext cx="5334000" cy="762000"/>
              <a:chOff x="6286500" y="2428875"/>
              <a:chExt cx="5334000" cy="762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286500" y="2428875"/>
                <a:ext cx="5334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286500" y="24288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462712" y="2593181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仅能预测连续值</a:t>
                </a:r>
                <a:endPara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4618" y="2847499"/>
                <a:ext cx="24820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分类问题需要使用Logistic回归等其他方法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71500" y="3476625"/>
            <a:ext cx="11049000" cy="2190750"/>
            <a:chOff x="571500" y="3476625"/>
            <a:chExt cx="11049000" cy="2190750"/>
          </a:xfrm>
        </p:grpSpPr>
        <p:sp>
          <p:nvSpPr>
            <p:cNvPr id="29" name="Rectangle 29"/>
            <p:cNvSpPr/>
            <p:nvPr/>
          </p:nvSpPr>
          <p:spPr>
            <a:xfrm>
              <a:off x="571500" y="3476625"/>
              <a:ext cx="11049000" cy="2190750"/>
            </a:xfrm>
            <a:prstGeom prst="roundRect">
              <a:avLst>
                <a:gd name="adj" fmla="val 347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2950" y="3648075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第6章 小结</a:t>
              </a:r>
              <a:endParaRPr lang="zh-CN" sz="15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762000" y="400050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97719" y="4241006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4415" y="4220528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回归分析预测连续数值目标变量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797719" y="4622006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4415" y="4601528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梯度下降通过迭代优化回归系数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97719" y="5003006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34415" y="4982528"/>
              <a:ext cx="18608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R²决定系数衡量模型的解释力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97719" y="5384006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4415" y="5363528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学习率的选择直接影响梯度下降的收敛效果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29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2440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第6章 · 回归分析原书图文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2062026"/>
            <a:ext cx="5143500" cy="2924447"/>
            <a:chOff x="571500" y="2062026"/>
            <a:chExt cx="5143500" cy="2924447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1500" y="2062026"/>
              <a:ext cx="5143500" cy="2924447"/>
            </a:xfrm>
            <a:prstGeom prst="rect">
              <a:avLst/>
            </a:prstGeom>
          </p:spPr>
        </p:pic>
      </p:grpSp>
      <p:grpSp>
        <p:nvGrpSpPr>
          <p:cNvPr id="25" name="Group 25"/>
          <p:cNvGrpSpPr/>
          <p:nvPr/>
        </p:nvGrpSpPr>
        <p:grpSpPr>
          <a:xfrm>
            <a:off x="6000750" y="1143000"/>
            <a:ext cx="5619750" cy="4762500"/>
            <a:chOff x="6000750" y="1143000"/>
            <a:chExt cx="5619750" cy="4762500"/>
          </a:xfrm>
        </p:grpSpPr>
        <p:sp>
          <p:nvSpPr>
            <p:cNvPr id="9" name="Rectangle 9"/>
            <p:cNvSpPr/>
            <p:nvPr/>
          </p:nvSpPr>
          <p:spPr>
            <a:xfrm>
              <a:off x="6000750" y="1143000"/>
              <a:ext cx="5619750" cy="4762500"/>
            </a:xfrm>
            <a:prstGeom prst="roundRect">
              <a:avLst>
                <a:gd name="adj" fmla="val 16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74105" y="1330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原书要点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77915" y="1696402"/>
              <a:ext cx="17348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"趋势线"——回归在数据点中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77915" y="1934528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拟合出最能代表整体趋势的直线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6191250" y="2333625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76010" y="24898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关于梯度下降</a:t>
              </a:r>
              <a:endParaRPr lang="zh-CN" sz="120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78868" y="2799874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初始设定随意（起点不重要）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78868" y="30379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算法通过试错迭代改善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78868" y="32761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每次微调使误差变小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78868" y="35142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最终收敛到最优解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191250" y="39052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76010" y="406146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回归分析常见算法</a:t>
              </a:r>
              <a:endParaRPr lang="zh-CN" sz="1200" b="1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78868" y="4371499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简单线性回归：1个自变量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78868" y="4609624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多元线性回归：多个自变量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78868" y="4847749"/>
              <a:ext cx="19620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Logistic回归：分类问题用的回归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78868" y="5085874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多项式回归：拟合曲线关系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30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067511" y="791528"/>
            <a:ext cx="4056978" cy="761047"/>
            <a:chOff x="4067511" y="791528"/>
            <a:chExt cx="4056978" cy="761047"/>
          </a:xfrm>
        </p:grpSpPr>
        <p:sp>
          <p:nvSpPr>
            <p:cNvPr id="5" name="TextBox 5"/>
            <p:cNvSpPr txBox="1"/>
            <p:nvPr/>
          </p:nvSpPr>
          <p:spPr>
            <a:xfrm>
              <a:off x="5295067" y="791528"/>
              <a:ext cx="16018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第7章 · 监督/无监督学习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067511" y="994410"/>
              <a:ext cx="40569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k最近邻算法与异常检测</a:t>
              </a:r>
              <a:endParaRPr lang="zh-CN" sz="27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524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71500" y="1762125"/>
            <a:ext cx="11049000" cy="3524250"/>
            <a:chOff x="571500" y="1762125"/>
            <a:chExt cx="11049000" cy="3524250"/>
          </a:xfrm>
        </p:grpSpPr>
        <p:sp>
          <p:nvSpPr>
            <p:cNvPr id="9" name="Rectangle 9"/>
            <p:cNvSpPr/>
            <p:nvPr/>
          </p:nvSpPr>
          <p:spPr>
            <a:xfrm>
              <a:off x="571500" y="1762125"/>
              <a:ext cx="11049000" cy="3524250"/>
            </a:xfrm>
            <a:prstGeom prst="roundRect">
              <a:avLst>
                <a:gd name="adj" fmla="val 270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829300" y="1924050"/>
              <a:ext cx="533400" cy="5334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61375" y="2134552"/>
              <a:ext cx="269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0" y="2457450"/>
              <a:ext cx="9525" cy="2686050"/>
            </a:xfrm>
            <a:custGeom>
              <a:avLst/>
              <a:gdLst/>
              <a:ahLst/>
              <a:cxnLst/>
              <a:rect l="l" t="t" r="r" b="b"/>
              <a:pathLst>
                <a:path w="9525" h="2686050">
                  <a:moveTo>
                    <a:pt x="0" y="0"/>
                  </a:moveTo>
                  <a:lnTo>
                    <a:pt x="0" y="268605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647950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94039" y="28174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物以类聚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5076825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022913" y="28174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距离度量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05700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51788" y="28174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异常检测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3238500"/>
              <a:ext cx="11049000" cy="180975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8665" y="3410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核心知识点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3685699"/>
              <a:ext cx="3931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KNN通过找出最近的k个邻居来分类（监督）或识别异常（无监督）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3914299"/>
              <a:ext cx="41332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k值是核心超参：k太小→过拟合对噪声敏感，k太大→决策边界过分平滑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4142899"/>
              <a:ext cx="32556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常用的距离度量：欧氏距离、曼哈顿距离、余弦相似度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9618" y="4371499"/>
              <a:ext cx="4295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异常检测：离所有邻居都很远的点可能是异常值（欺诈检测、故障预警）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4600099"/>
              <a:ext cx="44648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KNN是懒惰学习（Lazy Learning）：不需要训练过程但预测时计算全部距离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31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455459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7.1 KNN原理 + 示例：区分红白葡萄酒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143000"/>
            <a:ext cx="5334000" cy="2667000"/>
            <a:chOff x="571500" y="1143000"/>
            <a:chExt cx="5334000" cy="2667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4855" y="1302068"/>
              <a:ext cx="11022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KNN分类原理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656874"/>
              <a:ext cx="20855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计算新数据点到所有已知点的距离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894999"/>
              <a:ext cx="15069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选出距离最小的k个邻居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133124"/>
              <a:ext cx="183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k个邻居中多数类别→分类结果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2476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8665" y="2601278"/>
              <a:ext cx="6956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k值的选择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2847499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k=1 → 噪声敏感（过拟合）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3085624"/>
              <a:ext cx="19880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k越大→边界越平滑（欠拟合风险）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3237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通常取奇数避免平局，交叉验证选最优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1143000"/>
            <a:ext cx="5334000" cy="2667000"/>
            <a:chOff x="6286500" y="1143000"/>
            <a:chExt cx="5334000" cy="26670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9855" y="1302068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示例：区分红白葡萄酒</a:t>
              </a:r>
              <a:endParaRPr lang="zh-CN" sz="13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4618" y="1656874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用葡萄酒的化学成分（酸度、糖分、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18949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酒精含量等）作为特征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2180749"/>
              <a:ext cx="20465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对新葡萄酒，找到k个成分最接近的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4618" y="2418874"/>
              <a:ext cx="1786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已知葡萄酒，按多数决定红/白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477000" y="27622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63665" y="2887028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算法特点：懒惰学习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31522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不需要训练阶段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4618" y="339042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预测时需要计算全部距离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4618" y="3580924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需要特征标准化消除量纲影响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70877" y="4048125"/>
            <a:ext cx="3544747" cy="2000250"/>
            <a:chOff x="1370877" y="4048125"/>
            <a:chExt cx="3544747" cy="2000250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70877" y="4048125"/>
              <a:ext cx="3544747" cy="2000250"/>
            </a:xfrm>
            <a:prstGeom prst="rect">
              <a:avLst/>
            </a:prstGeom>
          </p:spPr>
        </p:pic>
      </p:grpSp>
      <p:grpSp>
        <p:nvGrpSpPr>
          <p:cNvPr id="40" name="Group 40"/>
          <p:cNvGrpSpPr/>
          <p:nvPr/>
        </p:nvGrpSpPr>
        <p:grpSpPr>
          <a:xfrm>
            <a:off x="6000750" y="4048125"/>
            <a:ext cx="5619750" cy="2000250"/>
            <a:chOff x="6000750" y="4048125"/>
            <a:chExt cx="5619750" cy="2000250"/>
          </a:xfrm>
        </p:grpSpPr>
        <p:sp>
          <p:nvSpPr>
            <p:cNvPr id="34" name="Rectangle 34"/>
            <p:cNvSpPr/>
            <p:nvPr/>
          </p:nvSpPr>
          <p:spPr>
            <a:xfrm>
              <a:off x="6000750" y="4048125"/>
              <a:ext cx="5619750" cy="2000250"/>
            </a:xfrm>
            <a:prstGeom prst="roundRect">
              <a:avLst>
                <a:gd name="adj" fmla="val 381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76010" y="4204335"/>
              <a:ext cx="25171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异常检测（Anomaly Detection）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78868" y="4514374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KNN也可用于无监督异常检测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78868" y="4752499"/>
              <a:ext cx="19165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离所有邻居都很远的点→潜在异常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78868" y="50382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应用场景</a:t>
              </a:r>
              <a:endParaRPr lang="zh-CN" sz="9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79820" y="5284470"/>
              <a:ext cx="21951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信用卡欺诈检测·设备故障预警·医疗诊断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33" grpId="0"/>
      <p:bldP spid="4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73891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第7章 · 局限性 + 小结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71500" y="1140142"/>
            <a:ext cx="11049000" cy="2050733"/>
            <a:chOff x="571500" y="1140142"/>
            <a:chExt cx="11049000" cy="2050733"/>
          </a:xfrm>
        </p:grpSpPr>
        <p:sp>
          <p:nvSpPr>
            <p:cNvPr id="7" name="TextBox 7"/>
            <p:cNvSpPr txBox="1"/>
            <p:nvPr/>
          </p:nvSpPr>
          <p:spPr>
            <a:xfrm>
              <a:off x="744855" y="114014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</a:t>
              </a:r>
              <a:endParaRPr lang="zh-CN" sz="13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71500" y="1476375"/>
              <a:ext cx="5334000" cy="762000"/>
              <a:chOff x="571500" y="1476375"/>
              <a:chExt cx="5334000" cy="762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5334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7712" y="1621631"/>
                <a:ext cx="5877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k值敏感</a:t>
                </a:r>
                <a:endPara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49618" y="1894999"/>
                <a:ext cx="16564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k值的选择直接影响分类效果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286500" y="1476375"/>
              <a:ext cx="5334000" cy="762000"/>
              <a:chOff x="6286500" y="1476375"/>
              <a:chExt cx="5334000" cy="762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286500" y="1476375"/>
                <a:ext cx="5334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286500" y="14763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462712" y="16216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特征缩放</a:t>
                </a:r>
                <a:endPara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464618" y="18949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需标准化特征消除量纲影响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71500" y="2428875"/>
              <a:ext cx="5334000" cy="762000"/>
              <a:chOff x="571500" y="2428875"/>
              <a:chExt cx="5334000" cy="76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71500" y="2428875"/>
                <a:ext cx="5334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71500" y="24288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7712" y="257413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计算成本高</a:t>
                </a:r>
                <a:endPara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9618" y="284749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大数据集需计算全部距离，耗时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286500" y="2428875"/>
              <a:ext cx="5334000" cy="762000"/>
              <a:chOff x="6286500" y="2428875"/>
              <a:chExt cx="5334000" cy="762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286500" y="2428875"/>
                <a:ext cx="5334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286500" y="24288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462712" y="25741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维度灾难</a:t>
                </a:r>
                <a:endPara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4618" y="28474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高维空间距离度量失去意义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71500" y="3476625"/>
            <a:ext cx="11049000" cy="2190750"/>
            <a:chOff x="571500" y="3476625"/>
            <a:chExt cx="11049000" cy="2190750"/>
          </a:xfrm>
        </p:grpSpPr>
        <p:sp>
          <p:nvSpPr>
            <p:cNvPr id="29" name="Rectangle 29"/>
            <p:cNvSpPr/>
            <p:nvPr/>
          </p:nvSpPr>
          <p:spPr>
            <a:xfrm>
              <a:off x="571500" y="3476625"/>
              <a:ext cx="11049000" cy="2190750"/>
            </a:xfrm>
            <a:prstGeom prst="roundRect">
              <a:avLst>
                <a:gd name="adj" fmla="val 347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2950" y="3648075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第7章 小结</a:t>
              </a:r>
              <a:endParaRPr lang="zh-CN" sz="15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762000" y="400050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97719" y="4288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4415" y="4268152"/>
              <a:ext cx="2371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KNN基于"物以类聚"的思想，简单直观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797719" y="4669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4415" y="46491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懒惰学习：无需训练但预测成本高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97719" y="5050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34415" y="5030152"/>
              <a:ext cx="1937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KNN可同时用于分类和异常检测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97719" y="5431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4415" y="5411152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应用：红白葡萄酒分类、欺诈检测、故障预警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33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953357" y="791528"/>
            <a:ext cx="2285286" cy="794385"/>
            <a:chOff x="4953357" y="791528"/>
            <a:chExt cx="2285286" cy="794385"/>
          </a:xfrm>
        </p:grpSpPr>
        <p:sp>
          <p:nvSpPr>
            <p:cNvPr id="5" name="TextBox 5"/>
            <p:cNvSpPr txBox="1"/>
            <p:nvPr/>
          </p:nvSpPr>
          <p:spPr>
            <a:xfrm>
              <a:off x="5543598" y="791528"/>
              <a:ext cx="1104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第8章 · 监督学习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953357" y="945833"/>
              <a:ext cx="228528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支持向量机</a:t>
              </a:r>
              <a:endParaRPr lang="zh-CN" sz="31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524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71500" y="1762125"/>
            <a:ext cx="11049000" cy="3524250"/>
            <a:chOff x="571500" y="1762125"/>
            <a:chExt cx="11049000" cy="3524250"/>
          </a:xfrm>
        </p:grpSpPr>
        <p:sp>
          <p:nvSpPr>
            <p:cNvPr id="9" name="Rectangle 9"/>
            <p:cNvSpPr/>
            <p:nvPr/>
          </p:nvSpPr>
          <p:spPr>
            <a:xfrm>
              <a:off x="571500" y="1762125"/>
              <a:ext cx="11049000" cy="3524250"/>
            </a:xfrm>
            <a:prstGeom prst="roundRect">
              <a:avLst>
                <a:gd name="adj" fmla="val 270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829300" y="1924050"/>
              <a:ext cx="533400" cy="5334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46673" y="2134552"/>
              <a:ext cx="298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SVM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0" y="2457450"/>
              <a:ext cx="9525" cy="2686050"/>
            </a:xfrm>
            <a:custGeom>
              <a:avLst/>
              <a:gdLst/>
              <a:ahLst/>
              <a:cxnLst/>
              <a:rect l="l" t="t" r="r" b="b"/>
              <a:pathLst>
                <a:path w="9525" h="2686050">
                  <a:moveTo>
                    <a:pt x="0" y="0"/>
                  </a:moveTo>
                  <a:lnTo>
                    <a:pt x="0" y="268605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647950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94039" y="28174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最大间隔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5076825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085921" y="281749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核技巧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05700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51788" y="28174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支持向量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3238500"/>
              <a:ext cx="11049000" cy="180975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8665" y="3410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核心知识点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3685699"/>
              <a:ext cx="34961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SVM通过找到最大间隔的分界线（超平面）来提高泛化能力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3914299"/>
              <a:ext cx="40357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支持向量是离分界线最近的那些数据点，它们唯一决定分界线的位置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4142899"/>
              <a:ext cx="39057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核技巧将数据映射到高维空间，使线性不可分问题转化为线性可分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9618" y="4371499"/>
              <a:ext cx="39967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关键参数：C（惩罚系数）控制误差容忍度，gamma控制核函数形状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4600099"/>
              <a:ext cx="20855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示例：用患者指标预测心脏病风险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34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55801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8.1 SVM原理 + 核技巧 + 示例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143000"/>
            <a:ext cx="5334000" cy="2667000"/>
            <a:chOff x="571500" y="1143000"/>
            <a:chExt cx="5334000" cy="2667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4855" y="13020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最大间隔分类器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628299"/>
              <a:ext cx="1994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线性可分 → 直接找最大间隔分界线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894999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间隔越大 → 泛化能力越强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180749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支持向量 = 距分界线最近的点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418874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只有支持向量决定分界线位置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2696528"/>
              <a:ext cx="1621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核技巧（Kernel Trick）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2942749"/>
              <a:ext cx="2254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线性不可分 → 用核函数映射到高维空间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3180874"/>
              <a:ext cx="23000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常用核函数：RBF（高斯核）/ 多项式核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4189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核方法不需显式计算高维坐标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1143000"/>
            <a:ext cx="5334000" cy="2667000"/>
            <a:chOff x="6286500" y="1143000"/>
            <a:chExt cx="5334000" cy="26670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9855" y="13020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关键参数</a:t>
              </a:r>
              <a:endParaRPr lang="zh-CN" sz="13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1648778"/>
              <a:ext cx="9896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C（惩罚系数）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1894999"/>
              <a:ext cx="24755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C越大 → 对错误分类惩罚越重 → 边界更复杂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2133124"/>
              <a:ext cx="20855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C越小 → 允许更多错误 → 边界更平滑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3665" y="2410778"/>
              <a:ext cx="1224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gamma（核参数）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26569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控制单个样本的影响力半径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2895124"/>
              <a:ext cx="2144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gamma过大 → 过拟合（只关注近邻）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313324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gamma过小 → 欠拟合（全局线性）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188551"/>
            <a:ext cx="7048500" cy="1719399"/>
            <a:chOff x="571500" y="4188551"/>
            <a:chExt cx="7048500" cy="1719399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1500" y="4188551"/>
              <a:ext cx="3429000" cy="1719399"/>
            </a:xfrm>
            <a:prstGeom prst="rect">
              <a:avLst/>
            </a:prstGeom>
          </p:spPr>
        </p:pic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1000" y="4670634"/>
              <a:ext cx="3429000" cy="755233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7905750" y="4048125"/>
            <a:ext cx="3714750" cy="2000250"/>
            <a:chOff x="7905750" y="4048125"/>
            <a:chExt cx="3714750" cy="2000250"/>
          </a:xfrm>
        </p:grpSpPr>
        <p:sp>
          <p:nvSpPr>
            <p:cNvPr id="33" name="Rectangle 33"/>
            <p:cNvSpPr/>
            <p:nvPr/>
          </p:nvSpPr>
          <p:spPr>
            <a:xfrm>
              <a:off x="7905750" y="4048125"/>
              <a:ext cx="3714750" cy="2000250"/>
            </a:xfrm>
            <a:prstGeom prst="roundRect">
              <a:avLst>
                <a:gd name="adj" fmla="val 381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81010" y="4204335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示例：预测心脏病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84820" y="4522470"/>
              <a:ext cx="14210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用年龄·血压·胆固醇·心率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84820" y="4741545"/>
              <a:ext cx="13250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SVM找出最大间隔分界线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84820" y="4998720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</a:t>
              </a:r>
              <a:endParaRPr lang="zh-CN" sz="900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5772" y="522589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参数调优需要经验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5772" y="541639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大规模数据训练时间长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85772" y="560689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模型可解释性较差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35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32" grpId="0"/>
      <p:bldP spid="4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160582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第8章 · 小结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71500" y="1143000"/>
            <a:ext cx="11049000" cy="4572000"/>
            <a:chOff x="571500" y="1143000"/>
            <a:chExt cx="11049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4572000"/>
            </a:xfrm>
            <a:prstGeom prst="roundRect">
              <a:avLst>
                <a:gd name="adj" fmla="val 1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2950" y="1314450"/>
              <a:ext cx="18968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第8章 核心要点回顾</a:t>
              </a:r>
              <a:endParaRPr lang="zh-CN" sz="15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1666875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97719" y="190738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886902"/>
              <a:ext cx="26660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SVM寻找最大间隔分界线，最大化泛化能力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797719" y="228838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34415" y="2267902"/>
              <a:ext cx="2546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支持向量唯一决定分界线，其他点不影响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97719" y="266938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4415" y="26489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核技巧解决线性不可分问题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97719" y="305038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4415" y="3029902"/>
              <a:ext cx="32050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C参数控制分类容错度，gamma控制核函数影响半径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762000" y="342900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6760" y="358521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原书示例：医学诊断</a:t>
              </a:r>
              <a:endParaRPr lang="zh-CN" sz="120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3876199"/>
              <a:ext cx="39252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年轻医生可能因经验不足而误诊，但数据科学可以利用大量病历数据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4104799"/>
              <a:ext cx="37757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帮助医生做出更准确的诊断。SVM在此场景中找到最佳诊断分界。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447675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6760" y="458533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9618" y="4847749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对参数（C、gamma）敏感，调参需要经验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5085874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大规模数据集上训练时间长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9618" y="5323999"/>
              <a:ext cx="15654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模型可解释性比决策树差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36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0" y="791528"/>
            <a:ext cx="1905000" cy="794385"/>
            <a:chOff x="5143500" y="791528"/>
            <a:chExt cx="1905000" cy="794385"/>
          </a:xfrm>
        </p:grpSpPr>
        <p:sp>
          <p:nvSpPr>
            <p:cNvPr id="5" name="TextBox 5"/>
            <p:cNvSpPr txBox="1"/>
            <p:nvPr/>
          </p:nvSpPr>
          <p:spPr>
            <a:xfrm>
              <a:off x="5543598" y="791528"/>
              <a:ext cx="1104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第9章 · 监督学习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394412" y="945833"/>
              <a:ext cx="140317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决策树</a:t>
              </a:r>
              <a:endParaRPr lang="zh-CN" sz="31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524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71500" y="1762125"/>
            <a:ext cx="11049000" cy="3524250"/>
            <a:chOff x="571500" y="1762125"/>
            <a:chExt cx="11049000" cy="3524250"/>
          </a:xfrm>
        </p:grpSpPr>
        <p:sp>
          <p:nvSpPr>
            <p:cNvPr id="9" name="Rectangle 9"/>
            <p:cNvSpPr/>
            <p:nvPr/>
          </p:nvSpPr>
          <p:spPr>
            <a:xfrm>
              <a:off x="571500" y="1762125"/>
              <a:ext cx="11049000" cy="3524250"/>
            </a:xfrm>
            <a:prstGeom prst="roundRect">
              <a:avLst>
                <a:gd name="adj" fmla="val 270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829300" y="1924050"/>
              <a:ext cx="533400" cy="5334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62137" y="213455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决策树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0" y="2457450"/>
              <a:ext cx="9525" cy="2686050"/>
            </a:xfrm>
            <a:custGeom>
              <a:avLst/>
              <a:gdLst/>
              <a:ahLst/>
              <a:cxnLst/>
              <a:rect l="l" t="t" r="r" b="b"/>
              <a:pathLst>
                <a:path w="9525" h="2686050">
                  <a:moveTo>
                    <a:pt x="0" y="0"/>
                  </a:moveTo>
                  <a:lnTo>
                    <a:pt x="0" y="268605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171700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180796" y="281749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树结构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4552950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99038" y="28174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分裂指标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6934200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06304" y="2817495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剪枝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315450" y="2647950"/>
              <a:ext cx="419100" cy="4191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24546" y="281749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优缺点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3238500"/>
              <a:ext cx="11049000" cy="180975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8665" y="3410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核心知识点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3685699"/>
              <a:ext cx="36587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树结构：根节点→内部节点（特征测试）→叶节点（预测结果）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9618" y="3914299"/>
              <a:ext cx="40097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分裂指标：信息增益（ID3）、增益率（C4.5）、基尼系数（CART）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4142899"/>
              <a:ext cx="38862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剪枝防止过拟合：预剪枝（提前停止）/ 后剪枝（生成后再修剪）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9618" y="4371499"/>
              <a:ext cx="4165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优点：可解释性强（白箱）、无需特征缩放；缺点：易过拟合、不稳定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4600099"/>
              <a:ext cx="1825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示例：预测泰坦尼克号幸存者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37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410408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9.1 分裂指标 + 示例：泰坦尼克号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143000"/>
            <a:ext cx="5334000" cy="2667000"/>
            <a:chOff x="571500" y="1143000"/>
            <a:chExt cx="5334000" cy="2667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4855" y="13020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三种分裂指标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8665" y="1648778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信息增益（ID3算法）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894999"/>
              <a:ext cx="20465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基于熵的减少量，熵越低→纯度越高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153602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增益率（C4.5算法）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399824"/>
              <a:ext cx="24950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对信息增益归一化，减少对多值特征的偏好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2658428"/>
              <a:ext cx="15262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基尼系数（CART算法）</a:t>
              </a:r>
              <a:endParaRPr lang="zh-CN" sz="1050" b="1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2904649"/>
              <a:ext cx="2306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衡量节点不纯度，值越小→节点纯度越高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3180874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目标：让子节点的纯度最大化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86500" y="1143000"/>
            <a:ext cx="5334000" cy="2667000"/>
            <a:chOff x="6286500" y="1143000"/>
            <a:chExt cx="5334000" cy="2667000"/>
          </a:xfrm>
        </p:grpSpPr>
        <p:sp>
          <p:nvSpPr>
            <p:cNvPr id="18" name="Rectangle 18"/>
            <p:cNvSpPr/>
            <p:nvPr/>
          </p:nvSpPr>
          <p:spPr>
            <a:xfrm>
              <a:off x="6286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59855" y="13020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剪枝处理</a:t>
              </a:r>
              <a:endParaRPr lang="zh-CN" sz="13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3665" y="164877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预剪枝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4618" y="18949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在树生成过程中提前停止分裂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2133124"/>
              <a:ext cx="1975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设置最大深度、最小样本数等阈值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3665" y="241077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后剪枝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4618" y="26569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先生成完整的树再修剪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2895124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剪掉对泛化能力贡献不大的分支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56460" y="4048125"/>
            <a:ext cx="6251071" cy="2000250"/>
            <a:chOff x="1256460" y="4048125"/>
            <a:chExt cx="6251071" cy="20002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56460" y="4048125"/>
              <a:ext cx="2059081" cy="2000250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3469" y="4048125"/>
              <a:ext cx="3204062" cy="2000250"/>
            </a:xfrm>
            <a:prstGeom prst="rect">
              <a:avLst/>
            </a:prstGeom>
          </p:spPr>
        </p:pic>
      </p:grpSp>
      <p:grpSp>
        <p:nvGrpSpPr>
          <p:cNvPr id="39" name="Group 39"/>
          <p:cNvGrpSpPr/>
          <p:nvPr/>
        </p:nvGrpSpPr>
        <p:grpSpPr>
          <a:xfrm>
            <a:off x="7905750" y="4048125"/>
            <a:ext cx="3714750" cy="2000250"/>
            <a:chOff x="7905750" y="4048125"/>
            <a:chExt cx="3714750" cy="2000250"/>
          </a:xfrm>
        </p:grpSpPr>
        <p:sp>
          <p:nvSpPr>
            <p:cNvPr id="31" name="Rectangle 31"/>
            <p:cNvSpPr/>
            <p:nvPr/>
          </p:nvSpPr>
          <p:spPr>
            <a:xfrm>
              <a:off x="7905750" y="4048125"/>
              <a:ext cx="3714750" cy="2000250"/>
            </a:xfrm>
            <a:prstGeom prst="roundRect">
              <a:avLst>
                <a:gd name="adj" fmla="val 381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81010" y="4204335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示例：泰坦尼克号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84820" y="4522470"/>
              <a:ext cx="1541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用性别·年龄·船舱等级·票价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84820" y="474154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决策树预测乘客是否幸存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84820" y="4998720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</a:t>
              </a:r>
              <a:endParaRPr lang="zh-CN" sz="900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85772" y="52449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易过拟合，需剪枝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85772" y="5435441"/>
              <a:ext cx="15611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对数据微小变化敏感（不稳定）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5772" y="56259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偏向多值特征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38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30" grpId="0"/>
      <p:bldP spid="3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87200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第9章 · 小结 + 第10章 随机森林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143000"/>
            <a:ext cx="5334000" cy="2286000"/>
            <a:chOff x="571500" y="1143000"/>
            <a:chExt cx="5334000" cy="2286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286000"/>
            </a:xfrm>
            <a:prstGeom prst="roundRect">
              <a:avLst>
                <a:gd name="adj" fmla="val 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4855" y="1330642"/>
              <a:ext cx="951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第9章 小结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166687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93750" y="1901825"/>
              <a:ext cx="95250" cy="63500"/>
            </a:xfrm>
            <a:custGeom>
              <a:avLst/>
              <a:gdLst/>
              <a:ahLst/>
              <a:cxnLst/>
              <a:rect l="l" t="t" r="r" b="b"/>
              <a:pathLst>
                <a:path w="95250" h="63500">
                  <a:moveTo>
                    <a:pt x="0" y="31750"/>
                  </a:moveTo>
                  <a:lnTo>
                    <a:pt x="31750" y="635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7742" y="1894999"/>
              <a:ext cx="1975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决策树是可解释性最强的模型之一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793750" y="2254250"/>
              <a:ext cx="95250" cy="63500"/>
            </a:xfrm>
            <a:custGeom>
              <a:avLst/>
              <a:gdLst/>
              <a:ahLst/>
              <a:cxnLst/>
              <a:rect l="l" t="t" r="r" b="b"/>
              <a:pathLst>
                <a:path w="95250" h="63500">
                  <a:moveTo>
                    <a:pt x="0" y="31750"/>
                  </a:moveTo>
                  <a:lnTo>
                    <a:pt x="31750" y="635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7742" y="2247424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分裂指标：信息增益/增益率/基尼系数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93750" y="2606675"/>
              <a:ext cx="95250" cy="63500"/>
            </a:xfrm>
            <a:custGeom>
              <a:avLst/>
              <a:gdLst/>
              <a:ahLst/>
              <a:cxnLst/>
              <a:rect l="l" t="t" r="r" b="b"/>
              <a:pathLst>
                <a:path w="95250" h="63500">
                  <a:moveTo>
                    <a:pt x="0" y="31750"/>
                  </a:moveTo>
                  <a:lnTo>
                    <a:pt x="31750" y="635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7742" y="25998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需要剪枝防止过拟合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93750" y="2959100"/>
              <a:ext cx="95250" cy="63500"/>
            </a:xfrm>
            <a:custGeom>
              <a:avLst/>
              <a:gdLst/>
              <a:ahLst/>
              <a:cxnLst/>
              <a:rect l="l" t="t" r="r" b="b"/>
              <a:pathLst>
                <a:path w="95250" h="63500">
                  <a:moveTo>
                    <a:pt x="0" y="31750"/>
                  </a:moveTo>
                  <a:lnTo>
                    <a:pt x="31750" y="635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7742" y="2952274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无需特征缩放，可处理混合类型数据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1143000"/>
            <a:ext cx="5334000" cy="2286000"/>
            <a:chOff x="6286500" y="1143000"/>
            <a:chExt cx="5334000" cy="22860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143000"/>
              <a:ext cx="5334000" cy="2286000"/>
            </a:xfrm>
            <a:prstGeom prst="roundRect">
              <a:avLst>
                <a:gd name="adj" fmla="val 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9855" y="1330642"/>
              <a:ext cx="17638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第10章 随机森林概述</a:t>
              </a:r>
              <a:endParaRPr lang="zh-CN" sz="13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6477000" y="166687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3665" y="18869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核心思想：集体智慧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2161699"/>
              <a:ext cx="1994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多个决策树集成 → 性能远超单棵树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3665" y="2410778"/>
              <a:ext cx="15850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Bagging（自助聚集法）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2685574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有放回抽样 + 并行训练多棵树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2923699"/>
              <a:ext cx="2066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投票/平均 → 降低方差，减少过拟合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3180874"/>
              <a:ext cx="1994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双重随机性：数据随机 + 特征随机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3667125"/>
            <a:ext cx="5334000" cy="2286000"/>
            <a:chOff x="571500" y="3667125"/>
            <a:chExt cx="5334000" cy="2286000"/>
          </a:xfrm>
        </p:grpSpPr>
        <p:sp>
          <p:nvSpPr>
            <p:cNvPr id="30" name="Rectangle 30"/>
            <p:cNvSpPr/>
            <p:nvPr/>
          </p:nvSpPr>
          <p:spPr>
            <a:xfrm>
              <a:off x="571500" y="3667125"/>
              <a:ext cx="5334000" cy="2286000"/>
            </a:xfrm>
            <a:prstGeom prst="roundRect">
              <a:avLst>
                <a:gd name="adj" fmla="val 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3667125"/>
              <a:ext cx="38100" cy="22860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6760" y="38519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随机森林优点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Freeform 33"/>
            <p:cNvSpPr/>
            <p:nvPr/>
          </p:nvSpPr>
          <p:spPr>
            <a:xfrm>
              <a:off x="781050" y="4235450"/>
              <a:ext cx="107950" cy="102080"/>
            </a:xfrm>
            <a:custGeom>
              <a:avLst/>
              <a:gdLst/>
              <a:ahLst/>
              <a:cxnLst/>
              <a:rect l="l" t="t" r="r" b="b"/>
              <a:pathLst>
                <a:path w="107950" h="102080">
                  <a:moveTo>
                    <a:pt x="25400" y="44450"/>
                  </a:moveTo>
                  <a:lnTo>
                    <a:pt x="25400" y="95250"/>
                  </a:lnTo>
                  <a:cubicBezTo>
                    <a:pt x="25400" y="98757"/>
                    <a:pt x="22557" y="101600"/>
                    <a:pt x="19050" y="101600"/>
                  </a:cubicBezTo>
                  <a:lnTo>
                    <a:pt x="6350" y="101600"/>
                  </a:lnTo>
                  <a:cubicBezTo>
                    <a:pt x="2843" y="101600"/>
                    <a:pt x="0" y="98757"/>
                    <a:pt x="0" y="95250"/>
                  </a:cubicBezTo>
                  <a:lnTo>
                    <a:pt x="0" y="50800"/>
                  </a:lnTo>
                  <a:cubicBezTo>
                    <a:pt x="0" y="47293"/>
                    <a:pt x="2843" y="44450"/>
                    <a:pt x="6350" y="44450"/>
                  </a:cubicBezTo>
                  <a:lnTo>
                    <a:pt x="25400" y="44450"/>
                  </a:lnTo>
                  <a:cubicBezTo>
                    <a:pt x="39428" y="44450"/>
                    <a:pt x="50800" y="33078"/>
                    <a:pt x="50800" y="19050"/>
                  </a:cubicBezTo>
                  <a:lnTo>
                    <a:pt x="50800" y="12700"/>
                  </a:lnTo>
                  <a:cubicBezTo>
                    <a:pt x="50800" y="5686"/>
                    <a:pt x="56486" y="0"/>
                    <a:pt x="63500" y="0"/>
                  </a:cubicBezTo>
                  <a:cubicBezTo>
                    <a:pt x="70514" y="0"/>
                    <a:pt x="76200" y="5686"/>
                    <a:pt x="76200" y="12700"/>
                  </a:cubicBezTo>
                  <a:lnTo>
                    <a:pt x="76200" y="44450"/>
                  </a:lnTo>
                  <a:lnTo>
                    <a:pt x="95250" y="44450"/>
                  </a:lnTo>
                  <a:cubicBezTo>
                    <a:pt x="102264" y="44450"/>
                    <a:pt x="107950" y="50136"/>
                    <a:pt x="107950" y="57150"/>
                  </a:cubicBezTo>
                  <a:lnTo>
                    <a:pt x="101600" y="88900"/>
                  </a:lnTo>
                  <a:cubicBezTo>
                    <a:pt x="99724" y="96903"/>
                    <a:pt x="94546" y="102080"/>
                    <a:pt x="88900" y="101600"/>
                  </a:cubicBezTo>
                  <a:lnTo>
                    <a:pt x="44450" y="101600"/>
                  </a:lnTo>
                  <a:cubicBezTo>
                    <a:pt x="33929" y="101600"/>
                    <a:pt x="25400" y="93071"/>
                    <a:pt x="25400" y="82550"/>
                  </a:cubicBez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8695" y="425577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比单棵树准确度高得多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81050" y="4568825"/>
              <a:ext cx="107950" cy="102080"/>
            </a:xfrm>
            <a:custGeom>
              <a:avLst/>
              <a:gdLst/>
              <a:ahLst/>
              <a:cxnLst/>
              <a:rect l="l" t="t" r="r" b="b"/>
              <a:pathLst>
                <a:path w="107950" h="102080">
                  <a:moveTo>
                    <a:pt x="25400" y="44450"/>
                  </a:moveTo>
                  <a:lnTo>
                    <a:pt x="25400" y="95250"/>
                  </a:lnTo>
                  <a:cubicBezTo>
                    <a:pt x="25400" y="98757"/>
                    <a:pt x="22557" y="101600"/>
                    <a:pt x="19050" y="101600"/>
                  </a:cubicBezTo>
                  <a:lnTo>
                    <a:pt x="6350" y="101600"/>
                  </a:lnTo>
                  <a:cubicBezTo>
                    <a:pt x="2843" y="101600"/>
                    <a:pt x="0" y="98757"/>
                    <a:pt x="0" y="95250"/>
                  </a:cubicBezTo>
                  <a:lnTo>
                    <a:pt x="0" y="50800"/>
                  </a:lnTo>
                  <a:cubicBezTo>
                    <a:pt x="0" y="47293"/>
                    <a:pt x="2843" y="44450"/>
                    <a:pt x="6350" y="44450"/>
                  </a:cubicBezTo>
                  <a:lnTo>
                    <a:pt x="25400" y="44450"/>
                  </a:lnTo>
                  <a:cubicBezTo>
                    <a:pt x="39428" y="44450"/>
                    <a:pt x="50800" y="33078"/>
                    <a:pt x="50800" y="19050"/>
                  </a:cubicBezTo>
                  <a:lnTo>
                    <a:pt x="50800" y="12700"/>
                  </a:lnTo>
                  <a:cubicBezTo>
                    <a:pt x="50800" y="5686"/>
                    <a:pt x="56486" y="0"/>
                    <a:pt x="63500" y="0"/>
                  </a:cubicBezTo>
                  <a:cubicBezTo>
                    <a:pt x="70514" y="0"/>
                    <a:pt x="76200" y="5686"/>
                    <a:pt x="76200" y="12700"/>
                  </a:cubicBezTo>
                  <a:lnTo>
                    <a:pt x="76200" y="44450"/>
                  </a:lnTo>
                  <a:lnTo>
                    <a:pt x="95250" y="44450"/>
                  </a:lnTo>
                  <a:cubicBezTo>
                    <a:pt x="102264" y="44450"/>
                    <a:pt x="107950" y="50136"/>
                    <a:pt x="107950" y="57150"/>
                  </a:cubicBezTo>
                  <a:lnTo>
                    <a:pt x="101600" y="88900"/>
                  </a:lnTo>
                  <a:cubicBezTo>
                    <a:pt x="99724" y="96903"/>
                    <a:pt x="94546" y="102080"/>
                    <a:pt x="88900" y="101600"/>
                  </a:cubicBezTo>
                  <a:lnTo>
                    <a:pt x="44450" y="101600"/>
                  </a:lnTo>
                  <a:cubicBezTo>
                    <a:pt x="33929" y="101600"/>
                    <a:pt x="25400" y="93071"/>
                    <a:pt x="25400" y="82550"/>
                  </a:cubicBez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8695" y="458914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对缺失值和异常值稳健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Freeform 37"/>
            <p:cNvSpPr/>
            <p:nvPr/>
          </p:nvSpPr>
          <p:spPr>
            <a:xfrm>
              <a:off x="781050" y="4902200"/>
              <a:ext cx="107950" cy="102080"/>
            </a:xfrm>
            <a:custGeom>
              <a:avLst/>
              <a:gdLst/>
              <a:ahLst/>
              <a:cxnLst/>
              <a:rect l="l" t="t" r="r" b="b"/>
              <a:pathLst>
                <a:path w="107950" h="102080">
                  <a:moveTo>
                    <a:pt x="25400" y="44450"/>
                  </a:moveTo>
                  <a:lnTo>
                    <a:pt x="25400" y="95250"/>
                  </a:lnTo>
                  <a:cubicBezTo>
                    <a:pt x="25400" y="98757"/>
                    <a:pt x="22557" y="101600"/>
                    <a:pt x="19050" y="101600"/>
                  </a:cubicBezTo>
                  <a:lnTo>
                    <a:pt x="6350" y="101600"/>
                  </a:lnTo>
                  <a:cubicBezTo>
                    <a:pt x="2843" y="101600"/>
                    <a:pt x="0" y="98757"/>
                    <a:pt x="0" y="95250"/>
                  </a:cubicBezTo>
                  <a:lnTo>
                    <a:pt x="0" y="50800"/>
                  </a:lnTo>
                  <a:cubicBezTo>
                    <a:pt x="0" y="47293"/>
                    <a:pt x="2843" y="44450"/>
                    <a:pt x="6350" y="44450"/>
                  </a:cubicBezTo>
                  <a:lnTo>
                    <a:pt x="25400" y="44450"/>
                  </a:lnTo>
                  <a:cubicBezTo>
                    <a:pt x="39428" y="44450"/>
                    <a:pt x="50800" y="33078"/>
                    <a:pt x="50800" y="19050"/>
                  </a:cubicBezTo>
                  <a:lnTo>
                    <a:pt x="50800" y="12700"/>
                  </a:lnTo>
                  <a:cubicBezTo>
                    <a:pt x="50800" y="5686"/>
                    <a:pt x="56486" y="0"/>
                    <a:pt x="63500" y="0"/>
                  </a:cubicBezTo>
                  <a:cubicBezTo>
                    <a:pt x="70514" y="0"/>
                    <a:pt x="76200" y="5686"/>
                    <a:pt x="76200" y="12700"/>
                  </a:cubicBezTo>
                  <a:lnTo>
                    <a:pt x="76200" y="44450"/>
                  </a:lnTo>
                  <a:lnTo>
                    <a:pt x="95250" y="44450"/>
                  </a:lnTo>
                  <a:cubicBezTo>
                    <a:pt x="102264" y="44450"/>
                    <a:pt x="107950" y="50136"/>
                    <a:pt x="107950" y="57150"/>
                  </a:cubicBezTo>
                  <a:lnTo>
                    <a:pt x="101600" y="88900"/>
                  </a:lnTo>
                  <a:cubicBezTo>
                    <a:pt x="99724" y="96903"/>
                    <a:pt x="94546" y="102080"/>
                    <a:pt x="88900" y="101600"/>
                  </a:cubicBezTo>
                  <a:lnTo>
                    <a:pt x="44450" y="101600"/>
                  </a:lnTo>
                  <a:cubicBezTo>
                    <a:pt x="33929" y="101600"/>
                    <a:pt x="25400" y="93071"/>
                    <a:pt x="25400" y="82550"/>
                  </a:cubicBez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8695" y="49225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能输出特征重要性排序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Freeform 39"/>
            <p:cNvSpPr/>
            <p:nvPr/>
          </p:nvSpPr>
          <p:spPr>
            <a:xfrm>
              <a:off x="781050" y="5235575"/>
              <a:ext cx="107950" cy="102080"/>
            </a:xfrm>
            <a:custGeom>
              <a:avLst/>
              <a:gdLst/>
              <a:ahLst/>
              <a:cxnLst/>
              <a:rect l="l" t="t" r="r" b="b"/>
              <a:pathLst>
                <a:path w="107950" h="102080">
                  <a:moveTo>
                    <a:pt x="25400" y="44450"/>
                  </a:moveTo>
                  <a:lnTo>
                    <a:pt x="25400" y="95250"/>
                  </a:lnTo>
                  <a:cubicBezTo>
                    <a:pt x="25400" y="98757"/>
                    <a:pt x="22557" y="101600"/>
                    <a:pt x="19050" y="101600"/>
                  </a:cubicBezTo>
                  <a:lnTo>
                    <a:pt x="6350" y="101600"/>
                  </a:lnTo>
                  <a:cubicBezTo>
                    <a:pt x="2843" y="101600"/>
                    <a:pt x="0" y="98757"/>
                    <a:pt x="0" y="95250"/>
                  </a:cubicBezTo>
                  <a:lnTo>
                    <a:pt x="0" y="50800"/>
                  </a:lnTo>
                  <a:cubicBezTo>
                    <a:pt x="0" y="47293"/>
                    <a:pt x="2843" y="44450"/>
                    <a:pt x="6350" y="44450"/>
                  </a:cubicBezTo>
                  <a:lnTo>
                    <a:pt x="25400" y="44450"/>
                  </a:lnTo>
                  <a:cubicBezTo>
                    <a:pt x="39428" y="44450"/>
                    <a:pt x="50800" y="33078"/>
                    <a:pt x="50800" y="19050"/>
                  </a:cubicBezTo>
                  <a:lnTo>
                    <a:pt x="50800" y="12700"/>
                  </a:lnTo>
                  <a:cubicBezTo>
                    <a:pt x="50800" y="5686"/>
                    <a:pt x="56486" y="0"/>
                    <a:pt x="63500" y="0"/>
                  </a:cubicBezTo>
                  <a:cubicBezTo>
                    <a:pt x="70514" y="0"/>
                    <a:pt x="76200" y="5686"/>
                    <a:pt x="76200" y="12700"/>
                  </a:cubicBezTo>
                  <a:lnTo>
                    <a:pt x="76200" y="44450"/>
                  </a:lnTo>
                  <a:lnTo>
                    <a:pt x="95250" y="44450"/>
                  </a:lnTo>
                  <a:cubicBezTo>
                    <a:pt x="102264" y="44450"/>
                    <a:pt x="107950" y="50136"/>
                    <a:pt x="107950" y="57150"/>
                  </a:cubicBezTo>
                  <a:lnTo>
                    <a:pt x="101600" y="88900"/>
                  </a:lnTo>
                  <a:cubicBezTo>
                    <a:pt x="99724" y="96903"/>
                    <a:pt x="94546" y="102080"/>
                    <a:pt x="88900" y="101600"/>
                  </a:cubicBezTo>
                  <a:lnTo>
                    <a:pt x="44450" y="101600"/>
                  </a:lnTo>
                  <a:cubicBezTo>
                    <a:pt x="33929" y="101600"/>
                    <a:pt x="25400" y="93071"/>
                    <a:pt x="25400" y="82550"/>
                  </a:cubicBez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8695" y="525589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无需过多调参即可获良好性能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3667125"/>
            <a:ext cx="5334000" cy="2286000"/>
            <a:chOff x="6286500" y="3667125"/>
            <a:chExt cx="5334000" cy="2286000"/>
          </a:xfrm>
        </p:grpSpPr>
        <p:sp>
          <p:nvSpPr>
            <p:cNvPr id="42" name="Rectangle 42"/>
            <p:cNvSpPr/>
            <p:nvPr/>
          </p:nvSpPr>
          <p:spPr>
            <a:xfrm>
              <a:off x="6286500" y="3667125"/>
              <a:ext cx="5334000" cy="2286000"/>
            </a:xfrm>
            <a:prstGeom prst="roundRect">
              <a:avLst>
                <a:gd name="adj" fmla="val 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86500" y="3667125"/>
              <a:ext cx="38100" cy="22860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61760" y="38519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496050" y="4234970"/>
              <a:ext cx="107950" cy="102080"/>
            </a:xfrm>
            <a:custGeom>
              <a:avLst/>
              <a:gdLst/>
              <a:ahLst/>
              <a:cxnLst/>
              <a:rect l="l" t="t" r="r" b="b"/>
              <a:pathLst>
                <a:path w="107950" h="102080">
                  <a:moveTo>
                    <a:pt x="25400" y="57630"/>
                  </a:moveTo>
                  <a:lnTo>
                    <a:pt x="25400" y="6830"/>
                  </a:lnTo>
                  <a:cubicBezTo>
                    <a:pt x="25400" y="3323"/>
                    <a:pt x="22557" y="480"/>
                    <a:pt x="19050" y="480"/>
                  </a:cubicBezTo>
                  <a:lnTo>
                    <a:pt x="6350" y="480"/>
                  </a:lnTo>
                  <a:cubicBezTo>
                    <a:pt x="2843" y="480"/>
                    <a:pt x="0" y="3323"/>
                    <a:pt x="0" y="6830"/>
                  </a:cubicBezTo>
                  <a:lnTo>
                    <a:pt x="0" y="51280"/>
                  </a:lnTo>
                  <a:cubicBezTo>
                    <a:pt x="0" y="54787"/>
                    <a:pt x="2843" y="57630"/>
                    <a:pt x="6350" y="57630"/>
                  </a:cubicBezTo>
                  <a:lnTo>
                    <a:pt x="25400" y="57630"/>
                  </a:lnTo>
                  <a:cubicBezTo>
                    <a:pt x="39428" y="57630"/>
                    <a:pt x="50800" y="69002"/>
                    <a:pt x="50800" y="83030"/>
                  </a:cubicBezTo>
                  <a:lnTo>
                    <a:pt x="50800" y="89380"/>
                  </a:lnTo>
                  <a:cubicBezTo>
                    <a:pt x="50800" y="96394"/>
                    <a:pt x="56486" y="102080"/>
                    <a:pt x="63500" y="102080"/>
                  </a:cubicBezTo>
                  <a:cubicBezTo>
                    <a:pt x="70514" y="102080"/>
                    <a:pt x="76200" y="96394"/>
                    <a:pt x="76200" y="89380"/>
                  </a:cubicBezTo>
                  <a:lnTo>
                    <a:pt x="76200" y="57630"/>
                  </a:lnTo>
                  <a:lnTo>
                    <a:pt x="95250" y="57630"/>
                  </a:lnTo>
                  <a:cubicBezTo>
                    <a:pt x="102264" y="57630"/>
                    <a:pt x="107950" y="51944"/>
                    <a:pt x="107950" y="44930"/>
                  </a:cubicBezTo>
                  <a:lnTo>
                    <a:pt x="101600" y="13180"/>
                  </a:lnTo>
                  <a:cubicBezTo>
                    <a:pt x="99724" y="5178"/>
                    <a:pt x="94546" y="0"/>
                    <a:pt x="88900" y="480"/>
                  </a:cubicBezTo>
                  <a:lnTo>
                    <a:pt x="44450" y="480"/>
                  </a:lnTo>
                  <a:cubicBezTo>
                    <a:pt x="33929" y="480"/>
                    <a:pt x="25400" y="9009"/>
                    <a:pt x="25400" y="19530"/>
                  </a:cubicBezTo>
                </a:path>
              </a:pathLst>
            </a:custGeom>
            <a:noFill/>
            <a:ln w="19050">
              <a:solidFill>
                <a:srgbClr val="E74C3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03695" y="425577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可解释性不如单棵决策树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496050" y="4568345"/>
              <a:ext cx="107950" cy="102080"/>
            </a:xfrm>
            <a:custGeom>
              <a:avLst/>
              <a:gdLst/>
              <a:ahLst/>
              <a:cxnLst/>
              <a:rect l="l" t="t" r="r" b="b"/>
              <a:pathLst>
                <a:path w="107950" h="102080">
                  <a:moveTo>
                    <a:pt x="25400" y="57630"/>
                  </a:moveTo>
                  <a:lnTo>
                    <a:pt x="25400" y="6830"/>
                  </a:lnTo>
                  <a:cubicBezTo>
                    <a:pt x="25400" y="3323"/>
                    <a:pt x="22557" y="480"/>
                    <a:pt x="19050" y="480"/>
                  </a:cubicBezTo>
                  <a:lnTo>
                    <a:pt x="6350" y="480"/>
                  </a:lnTo>
                  <a:cubicBezTo>
                    <a:pt x="2843" y="480"/>
                    <a:pt x="0" y="3323"/>
                    <a:pt x="0" y="6830"/>
                  </a:cubicBezTo>
                  <a:lnTo>
                    <a:pt x="0" y="51280"/>
                  </a:lnTo>
                  <a:cubicBezTo>
                    <a:pt x="0" y="54787"/>
                    <a:pt x="2843" y="57630"/>
                    <a:pt x="6350" y="57630"/>
                  </a:cubicBezTo>
                  <a:lnTo>
                    <a:pt x="25400" y="57630"/>
                  </a:lnTo>
                  <a:cubicBezTo>
                    <a:pt x="39428" y="57630"/>
                    <a:pt x="50800" y="69002"/>
                    <a:pt x="50800" y="83030"/>
                  </a:cubicBezTo>
                  <a:lnTo>
                    <a:pt x="50800" y="89380"/>
                  </a:lnTo>
                  <a:cubicBezTo>
                    <a:pt x="50800" y="96394"/>
                    <a:pt x="56486" y="102080"/>
                    <a:pt x="63500" y="102080"/>
                  </a:cubicBezTo>
                  <a:cubicBezTo>
                    <a:pt x="70514" y="102080"/>
                    <a:pt x="76200" y="96394"/>
                    <a:pt x="76200" y="89380"/>
                  </a:cubicBezTo>
                  <a:lnTo>
                    <a:pt x="76200" y="57630"/>
                  </a:lnTo>
                  <a:lnTo>
                    <a:pt x="95250" y="57630"/>
                  </a:lnTo>
                  <a:cubicBezTo>
                    <a:pt x="102264" y="57630"/>
                    <a:pt x="107950" y="51944"/>
                    <a:pt x="107950" y="44930"/>
                  </a:cubicBezTo>
                  <a:lnTo>
                    <a:pt x="101600" y="13180"/>
                  </a:lnTo>
                  <a:cubicBezTo>
                    <a:pt x="99724" y="5178"/>
                    <a:pt x="94546" y="0"/>
                    <a:pt x="88900" y="480"/>
                  </a:cubicBezTo>
                  <a:lnTo>
                    <a:pt x="44450" y="480"/>
                  </a:lnTo>
                  <a:cubicBezTo>
                    <a:pt x="33929" y="480"/>
                    <a:pt x="25400" y="9009"/>
                    <a:pt x="25400" y="19530"/>
                  </a:cubicBezTo>
                </a:path>
              </a:pathLst>
            </a:custGeom>
            <a:noFill/>
            <a:ln w="19050">
              <a:solidFill>
                <a:srgbClr val="E74C3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03695" y="458914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模型较大占用更多内存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496050" y="4901720"/>
              <a:ext cx="107950" cy="102080"/>
            </a:xfrm>
            <a:custGeom>
              <a:avLst/>
              <a:gdLst/>
              <a:ahLst/>
              <a:cxnLst/>
              <a:rect l="l" t="t" r="r" b="b"/>
              <a:pathLst>
                <a:path w="107950" h="102080">
                  <a:moveTo>
                    <a:pt x="25400" y="57630"/>
                  </a:moveTo>
                  <a:lnTo>
                    <a:pt x="25400" y="6830"/>
                  </a:lnTo>
                  <a:cubicBezTo>
                    <a:pt x="25400" y="3323"/>
                    <a:pt x="22557" y="480"/>
                    <a:pt x="19050" y="480"/>
                  </a:cubicBezTo>
                  <a:lnTo>
                    <a:pt x="6350" y="480"/>
                  </a:lnTo>
                  <a:cubicBezTo>
                    <a:pt x="2843" y="480"/>
                    <a:pt x="0" y="3323"/>
                    <a:pt x="0" y="6830"/>
                  </a:cubicBezTo>
                  <a:lnTo>
                    <a:pt x="0" y="51280"/>
                  </a:lnTo>
                  <a:cubicBezTo>
                    <a:pt x="0" y="54787"/>
                    <a:pt x="2843" y="57630"/>
                    <a:pt x="6350" y="57630"/>
                  </a:cubicBezTo>
                  <a:lnTo>
                    <a:pt x="25400" y="57630"/>
                  </a:lnTo>
                  <a:cubicBezTo>
                    <a:pt x="39428" y="57630"/>
                    <a:pt x="50800" y="69002"/>
                    <a:pt x="50800" y="83030"/>
                  </a:cubicBezTo>
                  <a:lnTo>
                    <a:pt x="50800" y="89380"/>
                  </a:lnTo>
                  <a:cubicBezTo>
                    <a:pt x="50800" y="96394"/>
                    <a:pt x="56486" y="102080"/>
                    <a:pt x="63500" y="102080"/>
                  </a:cubicBezTo>
                  <a:cubicBezTo>
                    <a:pt x="70514" y="102080"/>
                    <a:pt x="76200" y="96394"/>
                    <a:pt x="76200" y="89380"/>
                  </a:cubicBezTo>
                  <a:lnTo>
                    <a:pt x="76200" y="57630"/>
                  </a:lnTo>
                  <a:lnTo>
                    <a:pt x="95250" y="57630"/>
                  </a:lnTo>
                  <a:cubicBezTo>
                    <a:pt x="102264" y="57630"/>
                    <a:pt x="107950" y="51944"/>
                    <a:pt x="107950" y="44930"/>
                  </a:cubicBezTo>
                  <a:lnTo>
                    <a:pt x="101600" y="13180"/>
                  </a:lnTo>
                  <a:cubicBezTo>
                    <a:pt x="99724" y="5178"/>
                    <a:pt x="94546" y="0"/>
                    <a:pt x="88900" y="480"/>
                  </a:cubicBezTo>
                  <a:lnTo>
                    <a:pt x="44450" y="480"/>
                  </a:lnTo>
                  <a:cubicBezTo>
                    <a:pt x="33929" y="480"/>
                    <a:pt x="25400" y="9009"/>
                    <a:pt x="25400" y="19530"/>
                  </a:cubicBezTo>
                </a:path>
              </a:pathLst>
            </a:custGeom>
            <a:noFill/>
            <a:ln w="19050">
              <a:solidFill>
                <a:srgbClr val="E74C3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03695" y="49225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回归任务不能外推预测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496050" y="5235095"/>
              <a:ext cx="107950" cy="102080"/>
            </a:xfrm>
            <a:custGeom>
              <a:avLst/>
              <a:gdLst/>
              <a:ahLst/>
              <a:cxnLst/>
              <a:rect l="l" t="t" r="r" b="b"/>
              <a:pathLst>
                <a:path w="107950" h="102080">
                  <a:moveTo>
                    <a:pt x="25400" y="57630"/>
                  </a:moveTo>
                  <a:lnTo>
                    <a:pt x="25400" y="6830"/>
                  </a:lnTo>
                  <a:cubicBezTo>
                    <a:pt x="25400" y="3323"/>
                    <a:pt x="22557" y="480"/>
                    <a:pt x="19050" y="480"/>
                  </a:cubicBezTo>
                  <a:lnTo>
                    <a:pt x="6350" y="480"/>
                  </a:lnTo>
                  <a:cubicBezTo>
                    <a:pt x="2843" y="480"/>
                    <a:pt x="0" y="3323"/>
                    <a:pt x="0" y="6830"/>
                  </a:cubicBezTo>
                  <a:lnTo>
                    <a:pt x="0" y="51280"/>
                  </a:lnTo>
                  <a:cubicBezTo>
                    <a:pt x="0" y="54787"/>
                    <a:pt x="2843" y="57630"/>
                    <a:pt x="6350" y="57630"/>
                  </a:cubicBezTo>
                  <a:lnTo>
                    <a:pt x="25400" y="57630"/>
                  </a:lnTo>
                  <a:cubicBezTo>
                    <a:pt x="39428" y="57630"/>
                    <a:pt x="50800" y="69002"/>
                    <a:pt x="50800" y="83030"/>
                  </a:cubicBezTo>
                  <a:lnTo>
                    <a:pt x="50800" y="89380"/>
                  </a:lnTo>
                  <a:cubicBezTo>
                    <a:pt x="50800" y="96394"/>
                    <a:pt x="56486" y="102080"/>
                    <a:pt x="63500" y="102080"/>
                  </a:cubicBezTo>
                  <a:cubicBezTo>
                    <a:pt x="70514" y="102080"/>
                    <a:pt x="76200" y="96394"/>
                    <a:pt x="76200" y="89380"/>
                  </a:cubicBezTo>
                  <a:lnTo>
                    <a:pt x="76200" y="57630"/>
                  </a:lnTo>
                  <a:lnTo>
                    <a:pt x="95250" y="57630"/>
                  </a:lnTo>
                  <a:cubicBezTo>
                    <a:pt x="102264" y="57630"/>
                    <a:pt x="107950" y="51944"/>
                    <a:pt x="107950" y="44930"/>
                  </a:cubicBezTo>
                  <a:lnTo>
                    <a:pt x="101600" y="13180"/>
                  </a:lnTo>
                  <a:cubicBezTo>
                    <a:pt x="99724" y="5178"/>
                    <a:pt x="94546" y="0"/>
                    <a:pt x="88900" y="480"/>
                  </a:cubicBezTo>
                  <a:lnTo>
                    <a:pt x="44450" y="480"/>
                  </a:lnTo>
                  <a:cubicBezTo>
                    <a:pt x="33929" y="480"/>
                    <a:pt x="25400" y="9009"/>
                    <a:pt x="25400" y="19530"/>
                  </a:cubicBezTo>
                </a:path>
              </a:pathLst>
            </a:custGeom>
            <a:noFill/>
            <a:ln w="19050">
              <a:solidFill>
                <a:srgbClr val="E74C3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03695" y="525589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对高稀疏类别特征有偏差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39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1" grpId="0"/>
      <p:bldP spid="5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43498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10.1 Bagging + 示例：预测犯罪行为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143000"/>
            <a:ext cx="5334000" cy="2667000"/>
            <a:chOff x="571500" y="1143000"/>
            <a:chExt cx="5334000" cy="2667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4855" y="1302068"/>
              <a:ext cx="20379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Bagging（自助聚集法）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8665" y="1648778"/>
              <a:ext cx="1320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1：有放回抽样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8949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从原始数据集中抽取多个子集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114074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每个子集大小与原数据集相同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344102"/>
              <a:ext cx="12101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2：并行训练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2590324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用每个子集训练一棵决策树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28093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每棵树独立生长，互不影响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8665" y="3039428"/>
              <a:ext cx="1291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3：投票/平均</a:t>
              </a:r>
              <a:endParaRPr lang="zh-CN" sz="1050" b="1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285649"/>
              <a:ext cx="17279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分类→多数投票；回归→取平均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3504724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随机森林额外随机选择特征子集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143000"/>
            <a:ext cx="5334000" cy="2883694"/>
            <a:chOff x="6286500" y="1143000"/>
            <a:chExt cx="5334000" cy="2883694"/>
          </a:xfrm>
        </p:grpSpPr>
        <p:sp>
          <p:nvSpPr>
            <p:cNvPr id="20" name="Rectangle 20"/>
            <p:cNvSpPr/>
            <p:nvPr/>
          </p:nvSpPr>
          <p:spPr>
            <a:xfrm>
              <a:off x="6286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59855" y="130206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示例：预测犯罪行为</a:t>
              </a:r>
              <a:endParaRPr lang="zh-CN" sz="13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1656874"/>
              <a:ext cx="2365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用社区的经济状况、警务覆盖、人口统计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18949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等指标构建随机森林模型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4618" y="21807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预测特定区域的犯罪率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24664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可同时处理数值和分类特征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2752249"/>
              <a:ext cx="1975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能评估哪些因素对犯罪率影响最大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6477000" y="31432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63665" y="33156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特征重要性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4618" y="359044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输出每个特征对预测的贡献度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4618" y="38285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帮助理解影响因素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26420" y="4048125"/>
            <a:ext cx="3233661" cy="2000250"/>
            <a:chOff x="1526420" y="4048125"/>
            <a:chExt cx="3233661" cy="20002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26420" y="4048125"/>
              <a:ext cx="3233661" cy="2000250"/>
            </a:xfrm>
            <a:prstGeom prst="rect">
              <a:avLst/>
            </a:prstGeom>
          </p:spPr>
        </p:pic>
      </p:grpSp>
      <p:grpSp>
        <p:nvGrpSpPr>
          <p:cNvPr id="43" name="Group 43"/>
          <p:cNvGrpSpPr/>
          <p:nvPr/>
        </p:nvGrpSpPr>
        <p:grpSpPr>
          <a:xfrm>
            <a:off x="6000750" y="4048125"/>
            <a:ext cx="5619750" cy="2000250"/>
            <a:chOff x="6000750" y="4048125"/>
            <a:chExt cx="561975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000750" y="4048125"/>
              <a:ext cx="5619750" cy="2000250"/>
            </a:xfrm>
            <a:prstGeom prst="roundRect">
              <a:avLst>
                <a:gd name="adj" fmla="val 381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76010" y="4204335"/>
              <a:ext cx="895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第10章 小结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219031" y="4610894"/>
              <a:ext cx="83344" cy="55563"/>
            </a:xfrm>
            <a:custGeom>
              <a:avLst/>
              <a:gdLst/>
              <a:ahLst/>
              <a:cxnLst/>
              <a:rect l="l" t="t" r="r" b="b"/>
              <a:pathLst>
                <a:path w="83344" h="55563">
                  <a:moveTo>
                    <a:pt x="0" y="27781"/>
                  </a:moveTo>
                  <a:lnTo>
                    <a:pt x="27781" y="55563"/>
                  </a:lnTo>
                  <a:lnTo>
                    <a:pt x="83344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89370" y="4608195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随机森林通过集成多棵树大幅提升性能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219031" y="4944269"/>
              <a:ext cx="83344" cy="55562"/>
            </a:xfrm>
            <a:custGeom>
              <a:avLst/>
              <a:gdLst/>
              <a:ahLst/>
              <a:cxnLst/>
              <a:rect l="l" t="t" r="r" b="b"/>
              <a:pathLst>
                <a:path w="83344" h="55562">
                  <a:moveTo>
                    <a:pt x="0" y="27781"/>
                  </a:moveTo>
                  <a:lnTo>
                    <a:pt x="27781" y="55562"/>
                  </a:lnTo>
                  <a:lnTo>
                    <a:pt x="83344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89370" y="4941570"/>
              <a:ext cx="17030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双重随机性降低树之间的相关性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219031" y="5277644"/>
              <a:ext cx="83344" cy="55562"/>
            </a:xfrm>
            <a:custGeom>
              <a:avLst/>
              <a:gdLst/>
              <a:ahLst/>
              <a:cxnLst/>
              <a:rect l="l" t="t" r="r" b="b"/>
              <a:pathLst>
                <a:path w="83344" h="55562">
                  <a:moveTo>
                    <a:pt x="0" y="27781"/>
                  </a:moveTo>
                  <a:lnTo>
                    <a:pt x="27781" y="55562"/>
                  </a:lnTo>
                  <a:lnTo>
                    <a:pt x="83344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89370" y="52749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是目前最常用的机器学习算法之一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40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2" grpId="0"/>
      <p:bldP spid="34" grpId="0"/>
      <p:bldP spid="4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0" y="791528"/>
            <a:ext cx="1905000" cy="794385"/>
            <a:chOff x="5143500" y="791528"/>
            <a:chExt cx="1905000" cy="794385"/>
          </a:xfrm>
        </p:grpSpPr>
        <p:sp>
          <p:nvSpPr>
            <p:cNvPr id="5" name="TextBox 5"/>
            <p:cNvSpPr txBox="1"/>
            <p:nvPr/>
          </p:nvSpPr>
          <p:spPr>
            <a:xfrm>
              <a:off x="5540097" y="791528"/>
              <a:ext cx="1111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第11章 · 监督学习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73885" y="945833"/>
              <a:ext cx="18442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神经网络</a:t>
              </a:r>
              <a:endParaRPr lang="zh-CN" sz="31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524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762125"/>
            <a:ext cx="11049000" cy="666750"/>
            <a:chOff x="571500" y="1762125"/>
            <a:chExt cx="11049000" cy="666750"/>
          </a:xfrm>
        </p:grpSpPr>
        <p:sp>
          <p:nvSpPr>
            <p:cNvPr id="9" name="Rectangle 9"/>
            <p:cNvSpPr/>
            <p:nvPr/>
          </p:nvSpPr>
          <p:spPr>
            <a:xfrm>
              <a:off x="571500" y="1762125"/>
              <a:ext cx="11049000" cy="666750"/>
            </a:xfrm>
            <a:prstGeom prst="roundRect">
              <a:avLst>
                <a:gd name="adj" fmla="val 11429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7712" y="1897856"/>
              <a:ext cx="5226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核心思想：模拟人脑神经元，通过多层连接的感知器学习数据中的复杂模式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2152174"/>
              <a:ext cx="41982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深度学习的基础：层数越多→学习能力越强→但也越容易过拟合、越难训练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2616518"/>
            <a:ext cx="11049000" cy="2003107"/>
            <a:chOff x="571500" y="2616518"/>
            <a:chExt cx="11049000" cy="2003107"/>
          </a:xfrm>
        </p:grpSpPr>
        <p:sp>
          <p:nvSpPr>
            <p:cNvPr id="13" name="TextBox 13"/>
            <p:cNvSpPr txBox="1"/>
            <p:nvPr/>
          </p:nvSpPr>
          <p:spPr>
            <a:xfrm>
              <a:off x="744855" y="26165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神经网络结构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571500" y="3000375"/>
              <a:ext cx="5334000" cy="1619250"/>
              <a:chOff x="571500" y="3000375"/>
              <a:chExt cx="5334000" cy="16192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571500" y="3000375"/>
                <a:ext cx="5334000" cy="1619250"/>
              </a:xfrm>
              <a:prstGeom prst="roundRect">
                <a:avLst>
                  <a:gd name="adj" fmla="val 4706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71500" y="30003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047750" y="3238500"/>
                <a:ext cx="190500" cy="190500"/>
              </a:xfrm>
              <a:prstGeom prst="ellipse">
                <a:avLst/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047750" y="3524250"/>
                <a:ext cx="190500" cy="190500"/>
              </a:xfrm>
              <a:prstGeom prst="ellipse">
                <a:avLst/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1047750" y="3810000"/>
                <a:ext cx="190500" cy="190500"/>
              </a:xfrm>
              <a:prstGeom prst="ellipse">
                <a:avLst/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367790" y="325850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输入层</a:t>
                </a:r>
                <a:endPara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70648" y="351139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接收原始特征</a:t>
                </a:r>
                <a:endPara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2305050" y="3333750"/>
                <a:ext cx="152400" cy="152400"/>
              </a:xfrm>
              <a:prstGeom prst="ellipse">
                <a:avLst/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2590800" y="3638550"/>
                <a:ext cx="152400" cy="152400"/>
              </a:xfrm>
              <a:prstGeom prst="ellipse">
                <a:avLst/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2209800" y="3733800"/>
                <a:ext cx="152400" cy="152400"/>
              </a:xfrm>
              <a:prstGeom prst="ellipse">
                <a:avLst/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892742" y="3304699"/>
                <a:ext cx="4343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隐藏层</a:t>
                </a:r>
                <a:endParaRPr lang="zh-CN" sz="97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894648" y="3530441"/>
                <a:ext cx="5215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提取·转换</a:t>
                </a:r>
                <a:endPara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4286250" y="3381375"/>
                <a:ext cx="190500" cy="190500"/>
              </a:xfrm>
              <a:prstGeom prst="ellipse">
                <a:avLst/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606290" y="3401378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输出层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609148" y="365426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产生结果</a:t>
                </a:r>
                <a:endPara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1238250" y="3333750"/>
                <a:ext cx="1066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76200">
                    <a:moveTo>
                      <a:pt x="0" y="0"/>
                    </a:moveTo>
                    <a:lnTo>
                      <a:pt x="1066800" y="76200"/>
                    </a:lnTo>
                  </a:path>
                </a:pathLst>
              </a:custGeom>
              <a:noFill/>
              <a:ln w="4762">
                <a:solidFill>
                  <a:srgbClr val="DDDDDD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1238250" y="3619500"/>
                <a:ext cx="13525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52550" h="95250">
                    <a:moveTo>
                      <a:pt x="0" y="0"/>
                    </a:moveTo>
                    <a:lnTo>
                      <a:pt x="1352550" y="95250"/>
                    </a:lnTo>
                  </a:path>
                </a:pathLst>
              </a:custGeom>
              <a:noFill/>
              <a:ln w="4762">
                <a:solidFill>
                  <a:srgbClr val="DDDDDD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1238250" y="3810000"/>
                <a:ext cx="9715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71550" h="95250">
                    <a:moveTo>
                      <a:pt x="0" y="95250"/>
                    </a:moveTo>
                    <a:lnTo>
                      <a:pt x="971550" y="0"/>
                    </a:lnTo>
                  </a:path>
                </a:pathLst>
              </a:custGeom>
              <a:noFill/>
              <a:ln w="4762">
                <a:solidFill>
                  <a:srgbClr val="DDDDDD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2457450" y="3409950"/>
                <a:ext cx="18288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66675">
                    <a:moveTo>
                      <a:pt x="0" y="0"/>
                    </a:moveTo>
                    <a:lnTo>
                      <a:pt x="1828800" y="66675"/>
                    </a:lnTo>
                  </a:path>
                </a:pathLst>
              </a:custGeom>
              <a:noFill/>
              <a:ln w="4762">
                <a:solidFill>
                  <a:srgbClr val="DDDDDD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2743200" y="3476625"/>
                <a:ext cx="154305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543050" h="238125">
                    <a:moveTo>
                      <a:pt x="0" y="238125"/>
                    </a:moveTo>
                    <a:lnTo>
                      <a:pt x="1543050" y="0"/>
                    </a:lnTo>
                  </a:path>
                </a:pathLst>
              </a:custGeom>
              <a:noFill/>
              <a:ln w="4762">
                <a:solidFill>
                  <a:srgbClr val="DDDDDD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2362200" y="3476625"/>
                <a:ext cx="19240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1924050" h="333375">
                    <a:moveTo>
                      <a:pt x="0" y="333375"/>
                    </a:moveTo>
                    <a:lnTo>
                      <a:pt x="1924050" y="0"/>
                    </a:lnTo>
                  </a:path>
                </a:pathLst>
              </a:custGeom>
              <a:noFill/>
              <a:ln w="4762">
                <a:solidFill>
                  <a:srgbClr val="DDDDDD"/>
                </a:solidFill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6286500" y="3000375"/>
              <a:ext cx="5334000" cy="1619250"/>
              <a:chOff x="6286500" y="3000375"/>
              <a:chExt cx="5334000" cy="16192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286500" y="3000375"/>
                <a:ext cx="5334000" cy="1619250"/>
              </a:xfrm>
              <a:prstGeom prst="roundRect">
                <a:avLst>
                  <a:gd name="adj" fmla="val 4706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286500" y="30003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461760" y="3185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训练过程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463665" y="34871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前向传播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65570" y="3712845"/>
                <a:ext cx="20211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输入→隐藏层逐层变换→输出→计算损失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463665" y="39633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反向传播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65570" y="4189095"/>
                <a:ext cx="22491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从输出层向输入层反向传播误差→更新权重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465570" y="4398645"/>
                <a:ext cx="259118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激活函数：Sigmoid / Tanh / ReLU → 引入非线性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822912" y="4810125"/>
            <a:ext cx="2926176" cy="1333500"/>
            <a:chOff x="822912" y="4810125"/>
            <a:chExt cx="2926176" cy="1333500"/>
          </a:xfrm>
        </p:grpSpPr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912" y="4810125"/>
              <a:ext cx="2926176" cy="1333500"/>
            </a:xfrm>
            <a:prstGeom prst="rect">
              <a:avLst/>
            </a:prstGeom>
          </p:spPr>
        </p:pic>
      </p:grpSp>
      <p:grpSp>
        <p:nvGrpSpPr>
          <p:cNvPr id="52" name="Group 52"/>
          <p:cNvGrpSpPr/>
          <p:nvPr/>
        </p:nvGrpSpPr>
        <p:grpSpPr>
          <a:xfrm>
            <a:off x="4286250" y="4810125"/>
            <a:ext cx="7334250" cy="1333500"/>
            <a:chOff x="4286250" y="4810125"/>
            <a:chExt cx="7334250" cy="1333500"/>
          </a:xfrm>
        </p:grpSpPr>
        <p:sp>
          <p:nvSpPr>
            <p:cNvPr id="48" name="Rectangle 48"/>
            <p:cNvSpPr/>
            <p:nvPr/>
          </p:nvSpPr>
          <p:spPr>
            <a:xfrm>
              <a:off x="4286250" y="4810125"/>
              <a:ext cx="7334250" cy="1333500"/>
            </a:xfrm>
            <a:prstGeom prst="roundRect">
              <a:avLst>
                <a:gd name="adj" fmla="val 571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462462" y="4955381"/>
              <a:ext cx="20999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示例：识别手写数字 + 局限性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65320" y="5217795"/>
              <a:ext cx="21951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像素值→多层网络学习映射关系→识别数字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65320" y="5427345"/>
              <a:ext cx="31552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局限性：需大量数据计算资源·黑箱可解释性差·超参数众多</a:t>
              </a:r>
              <a:endParaRPr lang="zh-CN" sz="900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41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5" grpId="0"/>
      <p:bldP spid="47" grpId="0"/>
      <p:bldP spid="5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237632" y="791528"/>
            <a:ext cx="3716736" cy="713422"/>
            <a:chOff x="4237632" y="791528"/>
            <a:chExt cx="3716736" cy="713422"/>
          </a:xfrm>
        </p:grpSpPr>
        <p:sp>
          <p:nvSpPr>
            <p:cNvPr id="5" name="TextBox 5"/>
            <p:cNvSpPr txBox="1"/>
            <p:nvPr/>
          </p:nvSpPr>
          <p:spPr>
            <a:xfrm>
              <a:off x="5522595" y="79152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第12章 · 强化学习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237632" y="946785"/>
              <a:ext cx="37167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A/B测试与多臂老虎机</a:t>
              </a:r>
              <a:endParaRPr lang="zh-CN" sz="27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476375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71500" y="1714500"/>
            <a:ext cx="5334000" cy="2381250"/>
            <a:chOff x="571500" y="1714500"/>
            <a:chExt cx="5334000" cy="2381250"/>
          </a:xfrm>
        </p:grpSpPr>
        <p:sp>
          <p:nvSpPr>
            <p:cNvPr id="9" name="Rectangle 9"/>
            <p:cNvSpPr/>
            <p:nvPr/>
          </p:nvSpPr>
          <p:spPr>
            <a:xfrm>
              <a:off x="571500" y="1714500"/>
              <a:ext cx="5334000" cy="2381250"/>
            </a:xfrm>
            <a:prstGeom prst="roundRect">
              <a:avLst>
                <a:gd name="adj" fmla="val 32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7145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4855" y="1873568"/>
              <a:ext cx="7242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A/B测试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18074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将用户随机分为实验组和对照组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3902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展示不同版本，比较效果差异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259984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用统计检验判断差异是否显著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29527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8665" y="307752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局限性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3312795"/>
              <a:ext cx="14210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50%用户始终接受较差方案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0570" y="35032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需预先确定样本量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0570" y="36937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无法动态适应变化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1714500"/>
            <a:ext cx="5334000" cy="2381250"/>
            <a:chOff x="6286500" y="1714500"/>
            <a:chExt cx="5334000" cy="2381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1714500"/>
              <a:ext cx="5334000" cy="2381250"/>
            </a:xfrm>
            <a:prstGeom prst="roundRect">
              <a:avLst>
                <a:gd name="adj" fmla="val 32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17145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9855" y="1873568"/>
              <a:ext cx="2368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多臂老虎机（epsilon递减）</a:t>
              </a:r>
              <a:endParaRPr lang="zh-CN" sz="13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2180749"/>
              <a:ext cx="28071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在探索（Exploration）与利用（Exploitation）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4618" y="23902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之间动态平衡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2656999"/>
              <a:ext cx="18904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以epsilon概率随机探索不同选项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2866549"/>
              <a:ext cx="1883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以(1-epsilon)概率选择当前最优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3133249"/>
              <a:ext cx="22220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epsilon随时间递减→减少探索增加利用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4618" y="3399949"/>
              <a:ext cx="18514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vs A/B测试：无需预确定样本量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4618" y="36094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更多用户分配到更好的方案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187717" y="4333875"/>
            <a:ext cx="1911067" cy="1714500"/>
            <a:chOff x="2187717" y="4333875"/>
            <a:chExt cx="1911067" cy="1714500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87717" y="4333875"/>
              <a:ext cx="1911067" cy="1714500"/>
            </a:xfrm>
            <a:prstGeom prst="rect">
              <a:avLst/>
            </a:prstGeom>
          </p:spPr>
        </p:pic>
      </p:grpSp>
      <p:grpSp>
        <p:nvGrpSpPr>
          <p:cNvPr id="42" name="Group 42"/>
          <p:cNvGrpSpPr/>
          <p:nvPr/>
        </p:nvGrpSpPr>
        <p:grpSpPr>
          <a:xfrm>
            <a:off x="6000750" y="4333875"/>
            <a:ext cx="5619750" cy="1714500"/>
            <a:chOff x="6000750" y="4333875"/>
            <a:chExt cx="5619750" cy="1714500"/>
          </a:xfrm>
        </p:grpSpPr>
        <p:sp>
          <p:nvSpPr>
            <p:cNvPr id="34" name="Rectangle 34"/>
            <p:cNvSpPr/>
            <p:nvPr/>
          </p:nvSpPr>
          <p:spPr>
            <a:xfrm>
              <a:off x="6000750" y="4333875"/>
              <a:ext cx="5619750" cy="1714500"/>
            </a:xfrm>
            <a:prstGeom prst="roundRect">
              <a:avLst>
                <a:gd name="adj" fmla="val 444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76010" y="4490085"/>
              <a:ext cx="895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第12章 小结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219031" y="4896644"/>
              <a:ext cx="83344" cy="55562"/>
            </a:xfrm>
            <a:custGeom>
              <a:avLst/>
              <a:gdLst/>
              <a:ahLst/>
              <a:cxnLst/>
              <a:rect l="l" t="t" r="r" b="b"/>
              <a:pathLst>
                <a:path w="83344" h="55562">
                  <a:moveTo>
                    <a:pt x="0" y="27781"/>
                  </a:moveTo>
                  <a:lnTo>
                    <a:pt x="27781" y="55562"/>
                  </a:lnTo>
                  <a:lnTo>
                    <a:pt x="83344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89370" y="4893945"/>
              <a:ext cx="16610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A/B测试是方案验证的标准方法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219031" y="5230019"/>
              <a:ext cx="83344" cy="55562"/>
            </a:xfrm>
            <a:custGeom>
              <a:avLst/>
              <a:gdLst/>
              <a:ahLst/>
              <a:cxnLst/>
              <a:rect l="l" t="t" r="r" b="b"/>
              <a:pathLst>
                <a:path w="83344" h="55562">
                  <a:moveTo>
                    <a:pt x="0" y="27781"/>
                  </a:moveTo>
                  <a:lnTo>
                    <a:pt x="27781" y="55562"/>
                  </a:lnTo>
                  <a:lnTo>
                    <a:pt x="83344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9370" y="5227320"/>
              <a:ext cx="23691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多臂老虎机通过探索-利用平衡实现动态优化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219031" y="5563394"/>
              <a:ext cx="83344" cy="55562"/>
            </a:xfrm>
            <a:custGeom>
              <a:avLst/>
              <a:gdLst/>
              <a:ahLst/>
              <a:cxnLst/>
              <a:rect l="l" t="t" r="r" b="b"/>
              <a:pathLst>
                <a:path w="83344" h="55562">
                  <a:moveTo>
                    <a:pt x="0" y="27781"/>
                  </a:moveTo>
                  <a:lnTo>
                    <a:pt x="27781" y="55562"/>
                  </a:lnTo>
                  <a:lnTo>
                    <a:pt x="83344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89370" y="5560695"/>
              <a:ext cx="28252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epsilon递减策略：先多探索后多利用，适合在线学习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33" grpId="0"/>
      <p:bldP spid="4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0" y="502920"/>
            <a:ext cx="1905000" cy="525780"/>
            <a:chOff x="5143500" y="502920"/>
            <a:chExt cx="1905000" cy="525780"/>
          </a:xfrm>
        </p:grpSpPr>
        <p:sp>
          <p:nvSpPr>
            <p:cNvPr id="5" name="TextBox 5"/>
            <p:cNvSpPr txBox="1"/>
            <p:nvPr/>
          </p:nvSpPr>
          <p:spPr>
            <a:xfrm>
              <a:off x="5393436" y="502920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全书总结</a:t>
              </a:r>
              <a:endParaRPr lang="zh-CN" sz="24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5143500" y="1000125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71500" y="1220152"/>
            <a:ext cx="11049000" cy="4399598"/>
            <a:chOff x="571500" y="1220152"/>
            <a:chExt cx="11049000" cy="4399598"/>
          </a:xfrm>
        </p:grpSpPr>
        <p:sp>
          <p:nvSpPr>
            <p:cNvPr id="8" name="TextBox 8"/>
            <p:cNvSpPr txBox="1"/>
            <p:nvPr/>
          </p:nvSpPr>
          <p:spPr>
            <a:xfrm>
              <a:off x="4833009" y="1220152"/>
              <a:ext cx="25259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《白话机器学习算法》全书12章核心回顾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71500" y="1524000"/>
              <a:ext cx="5334000" cy="2381250"/>
              <a:chOff x="571500" y="1524000"/>
              <a:chExt cx="5334000" cy="2381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5334000" cy="2381250"/>
              </a:xfrm>
              <a:prstGeom prst="roundRect">
                <a:avLst>
                  <a:gd name="adj" fmla="val 32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71500" y="1524000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45808" y="1672114"/>
                <a:ext cx="196935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无监督学习（Ch2-Ch5）</a:t>
                </a:r>
                <a:endPara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49618" y="1971199"/>
                <a:ext cx="21700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● k均值聚类——发现数据中的自然分组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9618" y="2199799"/>
                <a:ext cx="17929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● PCA——高维数据降维与可视化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9618" y="2428399"/>
                <a:ext cx="157845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● 关联规则——发现共现模式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49618" y="2656999"/>
                <a:ext cx="20985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● 社会网络分析——图结构与关系挖掘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0570" y="2950845"/>
                <a:ext cx="242316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共同特点：数据无标签，由算法自行发现结构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286500" y="1524000"/>
              <a:ext cx="5334000" cy="2381250"/>
              <a:chOff x="6286500" y="1524000"/>
              <a:chExt cx="5334000" cy="2381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286500" y="1524000"/>
                <a:ext cx="5334000" cy="2381250"/>
              </a:xfrm>
              <a:prstGeom prst="roundRect">
                <a:avLst>
                  <a:gd name="adj" fmla="val 32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6286500" y="1524000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460808" y="1672114"/>
                <a:ext cx="179975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监督学习（Ch6-Ch11）</a:t>
                </a:r>
                <a:endParaRPr lang="zh-CN" sz="127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64618" y="1971199"/>
                <a:ext cx="157845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● 回归分析——预测连续数值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464618" y="2199799"/>
                <a:ext cx="16629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● KNN——物以类聚的分类方法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64618" y="2428399"/>
                <a:ext cx="14289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● SVM——最大间隔分类器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4618" y="2656999"/>
                <a:ext cx="18384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● 决策树——可解释的树形分类器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4618" y="2885599"/>
                <a:ext cx="196850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● 随机森林——集成多棵树提升性能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4618" y="3114199"/>
                <a:ext cx="17084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● 神经网络——深度学习的基础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71500" y="4095750"/>
              <a:ext cx="11049000" cy="666750"/>
              <a:chOff x="571500" y="4095750"/>
              <a:chExt cx="11049000" cy="666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4095750"/>
                <a:ext cx="11049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571500" y="4095750"/>
                <a:ext cx="38100" cy="66675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47712" y="4231481"/>
                <a:ext cx="12808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强化学习（Ch12）</a:t>
                </a:r>
                <a:endParaRPr lang="zh-CN" sz="1125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49618" y="4485799"/>
                <a:ext cx="33726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A/B测试与多臂老虎机——通过反馈不断改进的动态优化方法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71500" y="4953000"/>
              <a:ext cx="11049000" cy="666750"/>
              <a:chOff x="571500" y="4953000"/>
              <a:chExt cx="11049000" cy="6667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71500" y="4953000"/>
                <a:ext cx="11049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571500" y="4953000"/>
                <a:ext cx="38100" cy="66675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47712" y="5088731"/>
                <a:ext cx="11942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全书基础（Ch1）</a:t>
                </a:r>
                <a:endPara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49618" y="5343049"/>
                <a:ext cx="39967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数据准备 → 算法选择 → 参数调优 → 模型评价——贯穿全书的方法论框架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4535472" y="5982652"/>
            <a:ext cx="3121057" cy="213360"/>
            <a:chOff x="4535472" y="5982652"/>
            <a:chExt cx="3121057" cy="213360"/>
          </a:xfrm>
        </p:grpSpPr>
        <p:sp>
          <p:nvSpPr>
            <p:cNvPr id="39" name="TextBox 39"/>
            <p:cNvSpPr txBox="1"/>
            <p:nvPr/>
          </p:nvSpPr>
          <p:spPr>
            <a:xfrm>
              <a:off x="4535472" y="5982652"/>
              <a:ext cx="31210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"不依赖个人判断，利用多源信息做出更好的决策"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43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10298</Words>
  <Application>WPS 演示</Application>
  <PresentationFormat>On-screen Show (4:3)</PresentationFormat>
  <Paragraphs>1630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Consolas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张椅达</cp:lastModifiedBy>
  <cp:revision>2</cp:revision>
  <dcterms:created xsi:type="dcterms:W3CDTF">2013-01-27T09:14:00Z</dcterms:created>
  <dcterms:modified xsi:type="dcterms:W3CDTF">2026-06-14T07:41:03Z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AE7C0BC8950C4B09A7CD3837E27D2FE4_12</vt:lpwstr>
  </property>
  <property fmtid="{D5CDD505-2E9C-101B-9397-08002B2CF9AE}" pid="3" name="KSOProductBuildVer">
    <vt:lpwstr>2052-12.1.0.24034</vt:lpwstr>
  </property>
</Properties>
</file>