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66" r:id="rId5"/>
    <p:sldId id="267" r:id="rId6"/>
    <p:sldId id="268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5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第三讲课后作业，整理分类算法的基本概念、KNN、决策树、神经网络和朴素贝叶斯方法。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分类是对现有数据学习得到分类器，将未知样本映射到已知类别。基本概念：分类器、训练集、测试集、类标签、交叉验证。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本讲覆盖了KNN、决策树、神经网络、朴素贝叶斯、SVM等算法。KNN和决策树是基于数据经验的算法，贝叶斯是基于统计原理的。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KNN核心思想是物以类聚。算法四步骤：计算距离、取k个邻居、统计、投票。KNN没有显式模型，是基于数据经验的懒惰学习。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混淆矩阵是考点！四个基本项TP/TN/FP/FN。不同业务场景关注不同指标：垃圾邮件关注精确率，癌症筛查关注召回率。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决策树是最具可解释性的算法。用信息增益确定根节点，递归构造子树。高尔夫示例演示了ID3算法计算全过程。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感知器是神经网络的基本单元。神经网络通过试错法训练，不断调整权重和阈值。多层感知器构成了深度学习的基础。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朴素贝叶斯基于条件概率进行分类。关键假设是特征条件独立。求偶案例展示了完整的计算过程。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第三次作业总结。分类的本质是从历史数据中学习模式，预测未知样本的类别。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-762000" y="-762000"/>
            <a:ext cx="14192250" cy="8858250"/>
            <a:chOff x="-762000" y="-762000"/>
            <a:chExt cx="14192250" cy="88582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7620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50000">
                  <a:srgbClr val="3498DB"/>
                </a:gs>
                <a:gs pos="100000">
                  <a:srgbClr val="1A5276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762000" y="-762000"/>
              <a:ext cx="3810000" cy="3810000"/>
            </a:xfrm>
            <a:prstGeom prst="ellipse">
              <a:avLst/>
            </a:prstGeom>
            <a:solidFill>
              <a:srgbClr val="1A5276">
                <a:alpha val="3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667750" y="3333750"/>
              <a:ext cx="4762500" cy="4762500"/>
            </a:xfrm>
            <a:prstGeom prst="ellipse">
              <a:avLst/>
            </a:prstGeom>
            <a:solidFill>
              <a:srgbClr val="3498DB">
                <a:alpha val="3000"/>
              </a:srgbClr>
            </a:solidFill>
            <a:ln>
              <a:noFill/>
            </a:ln>
          </p:spPr>
        </p:sp>
        <p:sp>
          <p:nvSpPr>
            <p:cNvPr id="6" name="Line 6"/>
            <p:cNvSpPr/>
            <p:nvPr/>
          </p:nvSpPr>
          <p:spPr>
            <a:xfrm>
              <a:off x="571500" y="2476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210450" y="2087880"/>
            <a:ext cx="3771100" cy="1829276"/>
            <a:chOff x="4210450" y="2087880"/>
            <a:chExt cx="3771100" cy="1829276"/>
          </a:xfrm>
        </p:grpSpPr>
        <p:sp>
          <p:nvSpPr>
            <p:cNvPr id="8" name="TextBox 8"/>
            <p:cNvSpPr txBox="1"/>
            <p:nvPr/>
          </p:nvSpPr>
          <p:spPr>
            <a:xfrm>
              <a:off x="4210450" y="2087880"/>
              <a:ext cx="3771100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第三讲 分类算法</a:t>
              </a:r>
              <a:endParaRPr lang="zh-CN" sz="36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881586" y="2742248"/>
              <a:ext cx="242882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课后作业 · 笔记整理</a:t>
              </a:r>
              <a:endParaRPr lang="zh-CN" sz="1950" dirty="0">
                <a:solidFill>
                  <a:srgbClr val="3498DB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5143500" y="3238500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99052" y="3688556"/>
              <a:ext cx="259389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 · 决策树 · 神经网络 · 朴素贝叶斯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5235464" y="6379845"/>
            <a:ext cx="172107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数据挖掘与机器学习 · 课堂作业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875405" y="4293870"/>
            <a:ext cx="7390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学生：张</a:t>
            </a:r>
            <a:r>
              <a:rPr lang="zh-CN" alt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椅</a:t>
            </a:r>
            <a:r>
              <a:rPr lang="en-US">
                <a:solidFill>
                  <a:srgbClr val="4D4D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   |   学号：202321054055   </a:t>
            </a:r>
            <a:endParaRPr lang="zh-CN" dirty="0">
              <a:solidFill>
                <a:srgbClr val="3498DB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3550" y="274955"/>
            <a:ext cx="8223250" cy="3561080"/>
          </a:xfrm>
        </p:spPr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4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5" name="TextBox 4"/>
            <p:cNvSpPr txBox="1"/>
            <p:nvPr/>
          </p:nvSpPr>
          <p:spPr>
            <a:xfrm>
              <a:off x="737235" y="399098"/>
              <a:ext cx="1485900" cy="299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课堂笔记</a:t>
              </a:r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部分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pic>
        <p:nvPicPr>
          <p:cNvPr id="8" name="图片 7" descr="273472bf233a507a4d0dc8a2f6e53ab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770" y="274955"/>
            <a:ext cx="8200390" cy="61480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c6d9447b624700f63539aecce7da26e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25" y="47625"/>
            <a:ext cx="5140960" cy="6858000"/>
          </a:xfrm>
          <a:prstGeom prst="rect">
            <a:avLst/>
          </a:prstGeom>
        </p:spPr>
      </p:pic>
      <p:pic>
        <p:nvPicPr>
          <p:cNvPr id="5" name="图片 4" descr="478826e7eab335fc4f861c65652ac50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6895" y="0"/>
            <a:ext cx="514096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4ede62e9061cc585d175a628c78600d3"/>
          <p:cNvPicPr>
            <a:picLocks noChangeAspect="1"/>
          </p:cNvPicPr>
          <p:nvPr/>
        </p:nvPicPr>
        <p:blipFill>
          <a:blip r:embed="rId1"/>
          <a:srcRect t="28556" r="21274" b="25056"/>
          <a:stretch>
            <a:fillRect/>
          </a:stretch>
        </p:blipFill>
        <p:spPr>
          <a:xfrm>
            <a:off x="1330325" y="1417955"/>
            <a:ext cx="695325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7798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分类的基本概念与逻辑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71500" y="1143000"/>
            <a:ext cx="11049000" cy="619125"/>
            <a:chOff x="571500" y="1143000"/>
            <a:chExt cx="11049000" cy="619125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619125"/>
            </a:xfrm>
            <a:prstGeom prst="roundRect">
              <a:avLst>
                <a:gd name="adj" fmla="val 1230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48665" y="12963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分类的定义</a:t>
              </a:r>
              <a:endParaRPr lang="zh-CN" sz="1050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49618" y="1513999"/>
              <a:ext cx="639556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对现有数据进行学习，得到一个目标函数或模型（分类器），该模型能把未知类别的样本映射到给定的类别中。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71500" y="1902142"/>
            <a:ext cx="11039475" cy="2003108"/>
            <a:chOff x="571500" y="1902142"/>
            <a:chExt cx="11039475" cy="2003108"/>
          </a:xfrm>
        </p:grpSpPr>
        <p:sp>
          <p:nvSpPr>
            <p:cNvPr id="11" name="TextBox 11"/>
            <p:cNvSpPr txBox="1"/>
            <p:nvPr/>
          </p:nvSpPr>
          <p:spPr>
            <a:xfrm>
              <a:off x="744855" y="19021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几个基本概念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571500" y="2286000"/>
              <a:ext cx="3476625" cy="714375"/>
              <a:chOff x="571500" y="2286000"/>
              <a:chExt cx="3476625" cy="71437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571500" y="2286000"/>
                <a:ext cx="3476625" cy="714375"/>
              </a:xfrm>
              <a:prstGeom prst="roundRect">
                <a:avLst>
                  <a:gd name="adj" fmla="val 10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3" name="Rectangle 13"/>
              <p:cNvSpPr/>
              <p:nvPr/>
            </p:nvSpPr>
            <p:spPr>
              <a:xfrm>
                <a:off x="571500" y="2286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47712" y="2450306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分类器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50570" y="2712720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能解释原始数据、预测新数据的模型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4352925" y="2286000"/>
              <a:ext cx="3476625" cy="714375"/>
              <a:chOff x="4352925" y="2286000"/>
              <a:chExt cx="3476625" cy="71437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4352925" y="2286000"/>
                <a:ext cx="3476625" cy="714375"/>
              </a:xfrm>
              <a:prstGeom prst="roundRect">
                <a:avLst>
                  <a:gd name="adj" fmla="val 10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8" name="Rectangle 18"/>
              <p:cNvSpPr/>
              <p:nvPr/>
            </p:nvSpPr>
            <p:spPr>
              <a:xfrm>
                <a:off x="4352925" y="2286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4529138" y="2450306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训练集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531995" y="2712720"/>
                <a:ext cx="23031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用来训练模型的原始数据（划分出一部分）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134350" y="2286000"/>
              <a:ext cx="3476625" cy="714375"/>
              <a:chOff x="8134350" y="2286000"/>
              <a:chExt cx="3476625" cy="71437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8134350" y="2286000"/>
                <a:ext cx="3476625" cy="714375"/>
              </a:xfrm>
              <a:prstGeom prst="roundRect">
                <a:avLst>
                  <a:gd name="adj" fmla="val 10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3" name="Rectangle 23"/>
              <p:cNvSpPr/>
              <p:nvPr/>
            </p:nvSpPr>
            <p:spPr>
              <a:xfrm>
                <a:off x="8134350" y="2286000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8310562" y="2450306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类标签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313420" y="2712720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数据中已标记的类别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571500" y="3190875"/>
              <a:ext cx="3476625" cy="714375"/>
              <a:chOff x="571500" y="3190875"/>
              <a:chExt cx="3476625" cy="71437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571500" y="3190875"/>
                <a:ext cx="3476625" cy="714375"/>
              </a:xfrm>
              <a:prstGeom prst="roundRect">
                <a:avLst>
                  <a:gd name="adj" fmla="val 10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571500" y="319087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47712" y="33551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测试集</a:t>
                </a:r>
                <a:endPara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50570" y="36175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用来测试模型的数据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4352925" y="3190875"/>
              <a:ext cx="3476625" cy="714375"/>
              <a:chOff x="4352925" y="3190875"/>
              <a:chExt cx="3476625" cy="71437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4352925" y="3190875"/>
                <a:ext cx="3476625" cy="714375"/>
              </a:xfrm>
              <a:prstGeom prst="roundRect">
                <a:avLst>
                  <a:gd name="adj" fmla="val 10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3" name="Rectangle 33"/>
              <p:cNvSpPr/>
              <p:nvPr/>
            </p:nvSpPr>
            <p:spPr>
              <a:xfrm>
                <a:off x="4352925" y="319087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4529138" y="3355181"/>
                <a:ext cx="50113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开放集</a:t>
                </a:r>
                <a:endParaRPr lang="zh-CN" sz="1125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4531995" y="3617595"/>
                <a:ext cx="194310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使用训练好的模型进行分类的新数据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8134350" y="3190875"/>
              <a:ext cx="3476625" cy="714375"/>
              <a:chOff x="8134350" y="3190875"/>
              <a:chExt cx="3476625" cy="71437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8134350" y="3190875"/>
                <a:ext cx="3476625" cy="714375"/>
              </a:xfrm>
              <a:prstGeom prst="roundRect">
                <a:avLst>
                  <a:gd name="adj" fmla="val 10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8134350" y="3190875"/>
                <a:ext cx="3476625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8310562" y="3355181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交叉验证</a:t>
                </a:r>
                <a:endParaRPr lang="zh-CN" sz="1125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313420" y="3617595"/>
                <a:ext cx="12890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划分训练/测试集的方法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571500" y="4092892"/>
            <a:ext cx="11049000" cy="1479233"/>
            <a:chOff x="571500" y="4092892"/>
            <a:chExt cx="11049000" cy="1479233"/>
          </a:xfrm>
        </p:grpSpPr>
        <p:sp>
          <p:nvSpPr>
            <p:cNvPr id="43" name="TextBox 43"/>
            <p:cNvSpPr txBox="1"/>
            <p:nvPr/>
          </p:nvSpPr>
          <p:spPr>
            <a:xfrm>
              <a:off x="744855" y="409289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分类算法的基本逻辑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71500" y="4429125"/>
              <a:ext cx="11049000" cy="1143000"/>
            </a:xfrm>
            <a:prstGeom prst="roundRect">
              <a:avLst>
                <a:gd name="adj" fmla="val 666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745170" y="4622006"/>
              <a:ext cx="470165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原始数据 → 划分训练集/测试集 → 训练分类器 → 测试模型 → 预测新数据</a:t>
              </a:r>
              <a:endParaRPr lang="zh-CN" sz="1125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6" name="Line 46"/>
            <p:cNvSpPr/>
            <p:nvPr/>
          </p:nvSpPr>
          <p:spPr>
            <a:xfrm>
              <a:off x="1905000" y="49339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291519" y="5114449"/>
              <a:ext cx="560896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注意：分类是一种预测，不是肯定的，不能期待准确率达到100%，但应比较选出准确率最高的模型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938349" y="5343049"/>
              <a:ext cx="431530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基于统计的学习原理：算法从历史数据中把握特征，形成可应用的预测模型</a:t>
              </a:r>
              <a:endParaRPr lang="zh-CN" sz="97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02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42" grpId="0"/>
      <p:bldP spid="4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1687735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分类算法总览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571500" y="1143000"/>
            <a:ext cx="11049000" cy="4572000"/>
            <a:chOff x="571500" y="1143000"/>
            <a:chExt cx="11049000" cy="4572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11049000" cy="4572000"/>
            </a:xfrm>
            <a:prstGeom prst="roundRect">
              <a:avLst>
                <a:gd name="adj" fmla="val 208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791200" y="1219200"/>
              <a:ext cx="609600" cy="6096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744718" y="1451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分类算法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Line 10"/>
            <p:cNvSpPr/>
            <p:nvPr/>
          </p:nvSpPr>
          <p:spPr>
            <a:xfrm>
              <a:off x="6096000" y="1828800"/>
              <a:ext cx="9525" cy="3695700"/>
            </a:xfrm>
            <a:custGeom>
              <a:avLst/>
              <a:gdLst/>
              <a:ahLst/>
              <a:cxnLst/>
              <a:rect l="l" t="t" r="r" b="b"/>
              <a:pathLst>
                <a:path w="9525" h="3695700">
                  <a:moveTo>
                    <a:pt x="0" y="0"/>
                  </a:moveTo>
                  <a:lnTo>
                    <a:pt x="0" y="3695700"/>
                  </a:lnTo>
                </a:path>
              </a:pathLst>
            </a:custGeom>
            <a:noFill/>
            <a:ln w="19050">
              <a:solidFill>
                <a:srgbClr val="3498DB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3333750" y="21907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2190750"/>
              <a:ext cx="2762250" cy="9525"/>
            </a:xfrm>
            <a:custGeom>
              <a:avLst/>
              <a:gdLst/>
              <a:ahLst/>
              <a:cxnLst/>
              <a:rect l="l" t="t" r="r" b="b"/>
              <a:pathLst>
                <a:path w="2762250" h="9525">
                  <a:moveTo>
                    <a:pt x="0" y="0"/>
                  </a:moveTo>
                  <a:lnTo>
                    <a:pt x="276225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381250" y="31432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6096000" y="3143250"/>
              <a:ext cx="3714750" cy="9525"/>
            </a:xfrm>
            <a:custGeom>
              <a:avLst/>
              <a:gdLst/>
              <a:ahLst/>
              <a:cxnLst/>
              <a:rect l="l" t="t" r="r" b="b"/>
              <a:pathLst>
                <a:path w="3714750" h="9525">
                  <a:moveTo>
                    <a:pt x="0" y="0"/>
                  </a:moveTo>
                  <a:lnTo>
                    <a:pt x="3714750" y="0"/>
                  </a:lnTo>
                </a:path>
              </a:pathLst>
            </a:custGeom>
            <a:noFill/>
            <a:ln w="14288">
              <a:solidFill>
                <a:srgbClr val="3498DB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3067050" y="1924050"/>
              <a:ext cx="533400" cy="5334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199125" y="2134552"/>
              <a:ext cx="2692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8591550" y="1924050"/>
              <a:ext cx="533400" cy="533400"/>
            </a:xfrm>
            <a:prstGeom prst="ellipse">
              <a:avLst/>
            </a:prstGeom>
            <a:solidFill>
              <a:srgbClr val="3498D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624387" y="21345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Ellipse 19"/>
            <p:cNvSpPr/>
            <p:nvPr/>
          </p:nvSpPr>
          <p:spPr>
            <a:xfrm>
              <a:off x="2114550" y="2876550"/>
              <a:ext cx="533400" cy="533400"/>
            </a:xfrm>
            <a:prstGeom prst="ellipse">
              <a:avLst/>
            </a:prstGeom>
            <a:solidFill>
              <a:srgbClr val="5DADE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73878" y="30870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神经网络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Ellipse 21"/>
            <p:cNvSpPr/>
            <p:nvPr/>
          </p:nvSpPr>
          <p:spPr>
            <a:xfrm>
              <a:off x="5829300" y="2876550"/>
              <a:ext cx="533400" cy="5334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862137" y="308705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9544050" y="2876550"/>
              <a:ext cx="533400" cy="533400"/>
            </a:xfrm>
            <a:prstGeom prst="ellipse">
              <a:avLst/>
            </a:prstGeom>
            <a:solidFill>
              <a:srgbClr val="2ECC7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661423" y="3087052"/>
              <a:ext cx="2986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SVM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71500" y="3619500"/>
              <a:ext cx="5143500" cy="1905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8665" y="37728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基于数据经验的算法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50570" y="4017645"/>
              <a:ext cx="162506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 — 最简·基于邻近样本投票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50570" y="4227195"/>
              <a:ext cx="15470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 — 最可解释·树形分叉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0570" y="4436745"/>
              <a:ext cx="180508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随机森林：决策树的集成升级版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4677728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基于统计原理的算法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0570" y="4922520"/>
              <a:ext cx="20811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朴素贝叶斯 — 用先验概率推算后验概率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0570" y="5132070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SVM — 最大间隔分类器（曾经的大佬）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0" y="3619500"/>
              <a:ext cx="5334000" cy="1905000"/>
            </a:xfrm>
            <a:prstGeom prst="roundRect">
              <a:avLst>
                <a:gd name="adj" fmla="val 3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273165" y="3772852"/>
              <a:ext cx="134983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基于计算模型的算法</a:t>
              </a:r>
              <a:endParaRPr lang="zh-CN" sz="1050" b="1" dirty="0">
                <a:solidFill>
                  <a:srgbClr val="5DADE2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5070" y="4017645"/>
              <a:ext cx="214712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神经网络 — 模拟人脑神经元·多层感知器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5070" y="4227195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→ 深度学习 = 多层神经网络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3165" y="45158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ECC7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经久不衰的算法</a:t>
              </a:r>
              <a:endParaRPr lang="zh-CN" sz="1050" b="1" dirty="0">
                <a:solidFill>
                  <a:srgbClr val="2ECC7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5070" y="4760595"/>
              <a:ext cx="182908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Logistic回归 — 社会科学中最常用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03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68430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KNN算法：思想与步骤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571500" y="1143000"/>
            <a:ext cx="5334000" cy="2762250"/>
            <a:chOff x="571500" y="1143000"/>
            <a:chExt cx="5334000" cy="27622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762250"/>
            </a:xfrm>
            <a:prstGeom prst="roundRect">
              <a:avLst>
                <a:gd name="adj" fmla="val 275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4855" y="133064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核心思想：物以类聚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648778"/>
              <a:ext cx="20149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"鸭子像鸭子"——与谁为伍就像谁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942624"/>
              <a:ext cx="140943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KNN是最简单的分类算法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80749"/>
              <a:ext cx="19750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基于数据经验（不需要数学模型）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458402"/>
              <a:ext cx="85732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KNN的特殊性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704624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没有显式的分类器（数学模型）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618" y="2923699"/>
              <a:ext cx="13379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训练集就是它的"模型"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618" y="3142774"/>
              <a:ext cx="17149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懒惰学习：预测时才计算距离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618" y="341899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可以较好地避免数据不平衡问题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1143000"/>
            <a:ext cx="5334000" cy="2807494"/>
            <a:chOff x="6286500" y="1143000"/>
            <a:chExt cx="5334000" cy="2807494"/>
          </a:xfrm>
        </p:grpSpPr>
        <p:sp>
          <p:nvSpPr>
            <p:cNvPr id="19" name="Rectangle 19"/>
            <p:cNvSpPr/>
            <p:nvPr/>
          </p:nvSpPr>
          <p:spPr>
            <a:xfrm>
              <a:off x="6286500" y="1143000"/>
              <a:ext cx="5334000" cy="2762250"/>
            </a:xfrm>
            <a:prstGeom prst="roundRect">
              <a:avLst>
                <a:gd name="adj" fmla="val 2759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59855" y="133064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算法四步骤（重点）</a:t>
              </a:r>
              <a:endParaRPr lang="zh-CN" sz="13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6534150" y="1724025"/>
              <a:ext cx="972884" cy="280987"/>
              <a:chOff x="6534150" y="1724025"/>
              <a:chExt cx="972884" cy="280987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6534150" y="1724025"/>
                <a:ext cx="266700" cy="266700"/>
              </a:xfrm>
              <a:prstGeom prst="ellipse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6639695" y="1815941"/>
                <a:ext cx="5560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892290" y="179165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计算距离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6655118" y="2037874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计算待分类样品到每个训练样例的距离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6534150" y="2295525"/>
              <a:ext cx="1053744" cy="280987"/>
              <a:chOff x="6534150" y="2295525"/>
              <a:chExt cx="1053744" cy="280987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6534150" y="2295525"/>
                <a:ext cx="266700" cy="266700"/>
              </a:xfrm>
              <a:prstGeom prst="ellipse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6625256" y="238744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892290" y="2363152"/>
                <a:ext cx="6956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取k个邻居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1" name="TextBox 31"/>
            <p:cNvSpPr txBox="1"/>
            <p:nvPr/>
          </p:nvSpPr>
          <p:spPr>
            <a:xfrm>
              <a:off x="6655118" y="2609374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取距离最近的k个训练样例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34150" y="2867025"/>
              <a:ext cx="678847" cy="280987"/>
              <a:chOff x="6534150" y="2867025"/>
              <a:chExt cx="678847" cy="280987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6534150" y="2867025"/>
                <a:ext cx="266700" cy="266700"/>
              </a:xfrm>
              <a:prstGeom prst="ellipse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625256" y="295894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892290" y="29346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统计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6655118" y="3180874"/>
              <a:ext cx="126642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k个邻居中哪类占多数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6534150" y="3438525"/>
              <a:ext cx="678847" cy="280987"/>
              <a:chOff x="6534150" y="3438525"/>
              <a:chExt cx="678847" cy="280987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534150" y="3438525"/>
                <a:ext cx="266700" cy="266700"/>
              </a:xfrm>
              <a:prstGeom prst="ellipse">
                <a:avLst/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6625256" y="3530441"/>
                <a:ext cx="8448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4</a:t>
                </a:r>
                <a:endParaRPr lang="zh-CN" sz="8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892290" y="3506152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投票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6655118" y="375237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待分类样品归属于多数类别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71500" y="4143375"/>
            <a:ext cx="11049000" cy="523875"/>
            <a:chOff x="571500" y="4143375"/>
            <a:chExt cx="11049000" cy="523875"/>
          </a:xfrm>
        </p:grpSpPr>
        <p:sp>
          <p:nvSpPr>
            <p:cNvPr id="43" name="Rectangle 43"/>
            <p:cNvSpPr/>
            <p:nvPr/>
          </p:nvSpPr>
          <p:spPr>
            <a:xfrm>
              <a:off x="571500" y="4143375"/>
              <a:ext cx="11049000" cy="523875"/>
            </a:xfrm>
            <a:prstGeom prst="roundRect">
              <a:avLst>
                <a:gd name="adj" fmla="val 14545"/>
              </a:avLst>
            </a:prstGeom>
            <a:solidFill>
              <a:srgbClr val="1A5276">
                <a:alpha val="6000"/>
              </a:srgbClr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618" y="4276249"/>
              <a:ext cx="4542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K值选择：k太小→对噪声敏感；k太大→邻居中数量多的样本主导投票，导致误判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49618" y="4466749"/>
              <a:ext cx="35742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KNN与少量相邻样本有关，少数样本密集的情况下KNN效果较好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04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42" grpId="0"/>
      <p:bldP spid="4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23380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混淆矩阵（考点）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71500" y="1143000"/>
            <a:ext cx="4762500" cy="3238500"/>
            <a:chOff x="571500" y="1143000"/>
            <a:chExt cx="4762500" cy="32385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4762500" cy="3238500"/>
            </a:xfrm>
            <a:prstGeom prst="roundRect">
              <a:avLst>
                <a:gd name="adj" fmla="val 2353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368534" y="1330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混淆矩阵结构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1714500"/>
              <a:ext cx="1714500" cy="476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667000" y="1714500"/>
              <a:ext cx="1143000" cy="476250"/>
            </a:xfrm>
            <a:prstGeom prst="roundRect">
              <a:avLst>
                <a:gd name="adj" fmla="val 8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3810000" y="1714500"/>
              <a:ext cx="1143000" cy="476250"/>
            </a:xfrm>
            <a:prstGeom prst="roundRect">
              <a:avLst>
                <a:gd name="adj" fmla="val 8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01581" y="1894999"/>
              <a:ext cx="6163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实际\预测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976974" y="1894999"/>
              <a:ext cx="5230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正例(P)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9974" y="1894999"/>
              <a:ext cx="5230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负例(N)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952500" y="2190750"/>
              <a:ext cx="1714500" cy="666750"/>
            </a:xfrm>
            <a:prstGeom prst="roundRect">
              <a:avLst>
                <a:gd name="adj" fmla="val 5714"/>
              </a:avLst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67000" y="2190750"/>
              <a:ext cx="11430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3810000" y="2190750"/>
              <a:ext cx="1143000" cy="666750"/>
            </a:xfrm>
            <a:prstGeom prst="roundRect">
              <a:avLst>
                <a:gd name="adj" fmla="val 571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8665" y="24584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实际正例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37577" y="24503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TP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280577" y="245030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FN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52500" y="2857500"/>
              <a:ext cx="1714500" cy="666750"/>
            </a:xfrm>
            <a:prstGeom prst="roundRect">
              <a:avLst>
                <a:gd name="adj" fmla="val 5714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67000" y="2857500"/>
              <a:ext cx="1143000" cy="666750"/>
            </a:xfrm>
            <a:prstGeom prst="roundRect">
              <a:avLst>
                <a:gd name="adj" fmla="val 5714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810000" y="2857500"/>
              <a:ext cx="1143000" cy="6667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48665" y="31251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实际负例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37577" y="3117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FP</a:t>
              </a:r>
              <a:endParaRPr lang="zh-CN" sz="112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80577" y="3117056"/>
              <a:ext cx="2018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TN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697855" y="1330642"/>
            <a:ext cx="5922645" cy="3050858"/>
            <a:chOff x="5697855" y="1330642"/>
            <a:chExt cx="5922645" cy="3050858"/>
          </a:xfrm>
        </p:grpSpPr>
        <p:sp>
          <p:nvSpPr>
            <p:cNvPr id="28" name="TextBox 28"/>
            <p:cNvSpPr txBox="1"/>
            <p:nvPr/>
          </p:nvSpPr>
          <p:spPr>
            <a:xfrm>
              <a:off x="5697855" y="1330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关键评价指标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5715000" y="1666875"/>
              <a:ext cx="2952750" cy="619125"/>
              <a:chOff x="5715000" y="1666875"/>
              <a:chExt cx="2952750" cy="619125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5715000" y="1666875"/>
                <a:ext cx="2952750" cy="619125"/>
              </a:xfrm>
              <a:prstGeom prst="roundRect">
                <a:avLst>
                  <a:gd name="adj" fmla="val 9231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0" name="TextBox 30"/>
              <p:cNvSpPr txBox="1"/>
              <p:nvPr/>
            </p:nvSpPr>
            <p:spPr>
              <a:xfrm>
                <a:off x="5892165" y="1791652"/>
                <a:ext cx="11587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准确率 Accuracy</a:t>
                </a:r>
                <a:endPara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5894070" y="2017395"/>
                <a:ext cx="14090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(TP+TN)/(TP+FN+FP+TN)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953500" y="1666875"/>
              <a:ext cx="2667000" cy="619125"/>
              <a:chOff x="8953500" y="1666875"/>
              <a:chExt cx="2667000" cy="619125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8953500" y="166687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9130665" y="1791652"/>
                <a:ext cx="116606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精确率 Precision</a:t>
                </a:r>
                <a:endPara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9132570" y="2017395"/>
                <a:ext cx="6829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TP/(TP+FP)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5715000" y="2428875"/>
              <a:ext cx="2952750" cy="619125"/>
              <a:chOff x="5715000" y="2428875"/>
              <a:chExt cx="2952750" cy="619125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0" y="2428875"/>
                <a:ext cx="2952750" cy="619125"/>
              </a:xfrm>
              <a:prstGeom prst="roundRect">
                <a:avLst>
                  <a:gd name="adj" fmla="val 9231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5892165" y="2553652"/>
                <a:ext cx="92348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召回率 Recall</a:t>
                </a:r>
                <a:endPara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5894070" y="2779395"/>
                <a:ext cx="6829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TP/(TP+FN)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8953500" y="2428875"/>
              <a:ext cx="2667000" cy="619125"/>
              <a:chOff x="8953500" y="2428875"/>
              <a:chExt cx="2667000" cy="619125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8953500" y="2428875"/>
                <a:ext cx="2667000" cy="619125"/>
              </a:xfrm>
              <a:prstGeom prst="roundRect">
                <a:avLst>
                  <a:gd name="adj" fmla="val 9231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9130665" y="2553652"/>
                <a:ext cx="2986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5DADE2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F1值</a:t>
                </a:r>
                <a:endParaRPr lang="zh-CN" sz="1050" b="1" dirty="0">
                  <a:solidFill>
                    <a:srgbClr val="5DADE2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132570" y="2779395"/>
                <a:ext cx="74895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2×P×R/(P+R)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5715000" y="3238500"/>
              <a:ext cx="5905500" cy="1143000"/>
              <a:chOff x="5715000" y="3238500"/>
              <a:chExt cx="5905500" cy="114300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5715000" y="3238500"/>
                <a:ext cx="5905500" cy="1143000"/>
              </a:xfrm>
              <a:prstGeom prst="roundRect">
                <a:avLst>
                  <a:gd name="adj" fmla="val 5000"/>
                </a:avLst>
              </a:prstGeom>
              <a:solidFill>
                <a:srgbClr val="E74C3C">
                  <a:alpha val="6000"/>
                </a:srgbClr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5892165" y="3363278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业务场景决定指标偏好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893118" y="3628549"/>
                <a:ext cx="30606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垃圾邮件/金融欺诈：减少误报FP → 重点提高精确率P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5893118" y="3866674"/>
                <a:ext cx="24690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癌症筛查：减少漏报FN → 重点提高召回率R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893118" y="4104799"/>
                <a:ext cx="311265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不同类型错误（FP/FN）的代价不同，需根据业务权衡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52" name="TextBox 52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05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27475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 + 信息增益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143000"/>
            <a:ext cx="5334000" cy="1905000"/>
            <a:chOff x="571500" y="1143000"/>
            <a:chExt cx="5334000" cy="1905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808" y="131016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决策树概述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60924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一种用来表示做出决策而进行的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799749"/>
              <a:ext cx="145494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一系列判断过程的树形图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06644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自顶向下、递归、各个击破的方式构造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30457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最具有可解释性的分类算法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56174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升级版：随机森林（集成算法）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0" y="1143000"/>
            <a:ext cx="5334000" cy="1905000"/>
            <a:chOff x="6286500" y="1143000"/>
            <a:chExt cx="5334000" cy="19050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143000"/>
              <a:ext cx="5334000" cy="1905000"/>
            </a:xfrm>
            <a:prstGeom prst="roundRect">
              <a:avLst>
                <a:gd name="adj" fmla="val 4000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0808" y="1310164"/>
              <a:ext cx="181760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信息增益（核心考点）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4618" y="1628299"/>
              <a:ext cx="1656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根节点的选择→哪属性最重要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4618" y="1875949"/>
              <a:ext cx="21960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信息增益Gain(A)=I(s₁,s₂…sₘ)−E(A)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465570" y="2141220"/>
              <a:ext cx="1943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I(s₁,s₂…sₘ)=−Σpᵢlog₂(pᵢ) 类别熵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65570" y="2360295"/>
              <a:ext cx="236915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E(A)=Σ(s₁ⱼ+…+sₘⱼ)/s×I(s₁ⱼ…sₘⱼ) 条件熵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2609374"/>
              <a:ext cx="24040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信息增益越大 → 属性越重要 → 越靠根节点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71500" y="3188018"/>
            <a:ext cx="11049000" cy="2574607"/>
            <a:chOff x="571500" y="3188018"/>
            <a:chExt cx="11049000" cy="2574607"/>
          </a:xfrm>
        </p:grpSpPr>
        <p:sp>
          <p:nvSpPr>
            <p:cNvPr id="25" name="TextBox 25"/>
            <p:cNvSpPr txBox="1"/>
            <p:nvPr/>
          </p:nvSpPr>
          <p:spPr>
            <a:xfrm>
              <a:off x="744855" y="3188018"/>
              <a:ext cx="25672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示例：打高尔夫球（ID3算法）</a:t>
              </a:r>
              <a:endParaRPr lang="zh-CN" sz="13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71500" y="3571875"/>
              <a:ext cx="11049000" cy="2190750"/>
            </a:xfrm>
            <a:prstGeom prst="roundRect">
              <a:avLst>
                <a:gd name="adj" fmla="val 347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48665" y="3715702"/>
              <a:ext cx="55013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14个样本，4个属性：outlook(天气)/temperature(温度)/humidity(湿度)/windy(风)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8665" y="3982402"/>
              <a:ext cx="23159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类别：P(适合打球)=9, N(不适合)=5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48665" y="4249102"/>
              <a:ext cx="32470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I(p,n)=−9/14×log₂(9/14)−5/14×log₂(5/14)=0.940</a:t>
              </a:r>
              <a:endParaRPr lang="zh-CN" sz="1050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8665" y="4477702"/>
              <a:ext cx="37861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980B9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E(outlook)=5/14×I(2,3)+4/14×I(4,0)+5/14×I(3,2)=0.694</a:t>
              </a:r>
              <a:endParaRPr lang="zh-CN" sz="1050" dirty="0">
                <a:solidFill>
                  <a:srgbClr val="2980B9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8665" y="4725352"/>
              <a:ext cx="41578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gain(outlook)=0.940−0.694=0.246 (最大→根节点为outlook)</a:t>
              </a:r>
              <a:endParaRPr lang="zh-CN" sz="105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49618" y="4962049"/>
              <a:ext cx="436730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F8C8D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gain(temperature)=0.029 | gain(humidity)=0.151 | gain(windy)=0.048</a:t>
              </a:r>
              <a:endParaRPr lang="zh-CN" sz="975" dirty="0">
                <a:solidFill>
                  <a:srgbClr val="7F8C8D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0570" y="5284470"/>
              <a:ext cx="29032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递归确定子节点，直到所有样本属于同一类或属性用完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06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4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250683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神经网络（感知器）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571500" y="1143000"/>
            <a:ext cx="5334000" cy="2667000"/>
            <a:chOff x="571500" y="1143000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808" y="1338739"/>
              <a:ext cx="23531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感知器：神经网络的基本单元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8665" y="1648778"/>
              <a:ext cx="21899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 → 加权求和 → 阈值判断 → 输出</a:t>
              </a:r>
              <a:endParaRPr lang="zh-CN" sz="105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942624"/>
              <a:ext cx="14419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外部因素 x=(x₁,x₂,x₃)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9618" y="2161699"/>
              <a:ext cx="12859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权重 w=(w₁,w₂,w₃)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9618" y="2380774"/>
              <a:ext cx="148744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运算：w·x = Σwx (点积)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49618" y="2599849"/>
              <a:ext cx="21180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阈值 b：w·x + b &gt; 0 → 输出1，否则0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762000" y="2952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48665" y="3077528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示例：小明参观动漫展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0570" y="3331845"/>
              <a:ext cx="24291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天气权重8 + 同伴权重4 + 价格权重4，阈值=8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9618" y="3533299"/>
              <a:ext cx="29696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天气(1)×8 + 同伴(1)×4 + 价格(1)×4 = 16 &gt; 8 → 去！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143000"/>
            <a:ext cx="5334000" cy="2667000"/>
            <a:chOff x="6286500" y="1143000"/>
            <a:chExt cx="5334000" cy="2667000"/>
          </a:xfrm>
        </p:grpSpPr>
        <p:sp>
          <p:nvSpPr>
            <p:cNvPr id="20" name="Rectangle 20"/>
            <p:cNvSpPr/>
            <p:nvPr/>
          </p:nvSpPr>
          <p:spPr>
            <a:xfrm>
              <a:off x="6286500" y="1143000"/>
              <a:ext cx="5334000" cy="2667000"/>
            </a:xfrm>
            <a:prstGeom prst="roundRect">
              <a:avLst>
                <a:gd name="adj" fmla="val 2857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0808" y="1338739"/>
              <a:ext cx="163908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神经网络的训练过程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1656874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搭建神经网络需要三条件：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1894999"/>
              <a:ext cx="785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① 输入和输出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464618" y="2104549"/>
              <a:ext cx="95438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② 权重w和阈值b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4618" y="2314099"/>
              <a:ext cx="11754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③ 多层感知器的结构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7" name="Line 27"/>
            <p:cNvSpPr/>
            <p:nvPr/>
          </p:nvSpPr>
          <p:spPr>
            <a:xfrm>
              <a:off x="6477000" y="26670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463665" y="28203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试错法训练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65570" y="3074670"/>
              <a:ext cx="193709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参数微小变动Δw/Δb，观察输出变化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5570" y="3265170"/>
              <a:ext cx="17390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反复迭代直到找到最精确的w和b</a:t>
              </a:r>
              <a:endParaRPr lang="zh-CN" sz="900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5570" y="3503295"/>
              <a:ext cx="134302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基于梯度下降的优化过程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" y="4048125"/>
            <a:ext cx="11049000" cy="1809750"/>
            <a:chOff x="571500" y="4048125"/>
            <a:chExt cx="11049000" cy="1809750"/>
          </a:xfrm>
        </p:grpSpPr>
        <p:sp>
          <p:nvSpPr>
            <p:cNvPr id="33" name="Rectangle 33"/>
            <p:cNvSpPr/>
            <p:nvPr/>
          </p:nvSpPr>
          <p:spPr>
            <a:xfrm>
              <a:off x="571500" y="4048125"/>
              <a:ext cx="11049000" cy="1809750"/>
            </a:xfrm>
            <a:prstGeom prst="roundRect">
              <a:avLst>
                <a:gd name="adj" fmla="val 42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408676" y="4204335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三层神经网络结构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Ellipse 35"/>
            <p:cNvSpPr/>
            <p:nvPr/>
          </p:nvSpPr>
          <p:spPr>
            <a:xfrm>
              <a:off x="1428750" y="4619625"/>
              <a:ext cx="190500" cy="1905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1428750" y="4905375"/>
              <a:ext cx="190500" cy="1905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1428750" y="5191125"/>
              <a:ext cx="190500" cy="190500"/>
            </a:xfrm>
            <a:prstGeom prst="ellipse">
              <a:avLst/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48790" y="49349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输入层</a:t>
              </a:r>
              <a:endParaRPr lang="zh-CN" sz="105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Ellipse 39"/>
            <p:cNvSpPr/>
            <p:nvPr/>
          </p:nvSpPr>
          <p:spPr>
            <a:xfrm>
              <a:off x="4305300" y="4733925"/>
              <a:ext cx="152400" cy="1524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4686300" y="5067300"/>
              <a:ext cx="152400" cy="1524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4210050" y="5257800"/>
              <a:ext cx="152400" cy="152400"/>
            </a:xfrm>
            <a:prstGeom prst="ellipse">
              <a:avLst/>
            </a:prstGeom>
            <a:solidFill>
              <a:srgbClr val="2980B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987290" y="4934902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隐藏层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Ellipse 43"/>
            <p:cNvSpPr/>
            <p:nvPr/>
          </p:nvSpPr>
          <p:spPr>
            <a:xfrm>
              <a:off x="8477250" y="4953000"/>
              <a:ext cx="190500" cy="190500"/>
            </a:xfrm>
            <a:prstGeom prst="ellipse">
              <a:avLst/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97290" y="4982528"/>
              <a:ext cx="4677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输出层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Line 45"/>
            <p:cNvSpPr/>
            <p:nvPr/>
          </p:nvSpPr>
          <p:spPr>
            <a:xfrm>
              <a:off x="1619250" y="4714875"/>
              <a:ext cx="2686050" cy="95250"/>
            </a:xfrm>
            <a:custGeom>
              <a:avLst/>
              <a:gdLst/>
              <a:ahLst/>
              <a:cxnLst/>
              <a:rect l="l" t="t" r="r" b="b"/>
              <a:pathLst>
                <a:path w="2686050" h="95250">
                  <a:moveTo>
                    <a:pt x="0" y="0"/>
                  </a:moveTo>
                  <a:lnTo>
                    <a:pt x="2686050" y="95250"/>
                  </a:lnTo>
                </a:path>
              </a:pathLst>
            </a:custGeom>
            <a:noFill/>
            <a:ln w="4762">
              <a:solidFill>
                <a:srgbClr val="DDDDDD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1619250" y="5000625"/>
              <a:ext cx="3067050" cy="142875"/>
            </a:xfrm>
            <a:custGeom>
              <a:avLst/>
              <a:gdLst/>
              <a:ahLst/>
              <a:cxnLst/>
              <a:rect l="l" t="t" r="r" b="b"/>
              <a:pathLst>
                <a:path w="3067050" h="142875">
                  <a:moveTo>
                    <a:pt x="0" y="0"/>
                  </a:moveTo>
                  <a:lnTo>
                    <a:pt x="3067050" y="142875"/>
                  </a:lnTo>
                </a:path>
              </a:pathLst>
            </a:custGeom>
            <a:noFill/>
            <a:ln w="4762">
              <a:solidFill>
                <a:srgbClr val="DDDDDD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1619250" y="5286375"/>
              <a:ext cx="2590800" cy="47625"/>
            </a:xfrm>
            <a:custGeom>
              <a:avLst/>
              <a:gdLst/>
              <a:ahLst/>
              <a:cxnLst/>
              <a:rect l="l" t="t" r="r" b="b"/>
              <a:pathLst>
                <a:path w="2590800" h="47625">
                  <a:moveTo>
                    <a:pt x="0" y="0"/>
                  </a:moveTo>
                  <a:lnTo>
                    <a:pt x="2590800" y="47625"/>
                  </a:lnTo>
                </a:path>
              </a:pathLst>
            </a:custGeom>
            <a:noFill/>
            <a:ln w="4762">
              <a:solidFill>
                <a:srgbClr val="DDDDDD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4457700" y="4810125"/>
              <a:ext cx="4019550" cy="238125"/>
            </a:xfrm>
            <a:custGeom>
              <a:avLst/>
              <a:gdLst/>
              <a:ahLst/>
              <a:cxnLst/>
              <a:rect l="l" t="t" r="r" b="b"/>
              <a:pathLst>
                <a:path w="4019550" h="238125">
                  <a:moveTo>
                    <a:pt x="0" y="0"/>
                  </a:moveTo>
                  <a:lnTo>
                    <a:pt x="4019550" y="238125"/>
                  </a:lnTo>
                </a:path>
              </a:pathLst>
            </a:custGeom>
            <a:noFill/>
            <a:ln w="4762">
              <a:solidFill>
                <a:srgbClr val="DDDDDD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4838700" y="5048250"/>
              <a:ext cx="3638550" cy="95250"/>
            </a:xfrm>
            <a:custGeom>
              <a:avLst/>
              <a:gdLst/>
              <a:ahLst/>
              <a:cxnLst/>
              <a:rect l="l" t="t" r="r" b="b"/>
              <a:pathLst>
                <a:path w="3638550" h="95250">
                  <a:moveTo>
                    <a:pt x="0" y="95250"/>
                  </a:moveTo>
                  <a:lnTo>
                    <a:pt x="3638550" y="0"/>
                  </a:lnTo>
                </a:path>
              </a:pathLst>
            </a:custGeom>
            <a:noFill/>
            <a:ln w="4762">
              <a:solidFill>
                <a:srgbClr val="DDDDDD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4362450" y="5048250"/>
              <a:ext cx="4114800" cy="285750"/>
            </a:xfrm>
            <a:custGeom>
              <a:avLst/>
              <a:gdLst/>
              <a:ahLst/>
              <a:cxnLst/>
              <a:rect l="l" t="t" r="r" b="b"/>
              <a:pathLst>
                <a:path w="4114800" h="285750">
                  <a:moveTo>
                    <a:pt x="0" y="285750"/>
                  </a:moveTo>
                  <a:lnTo>
                    <a:pt x="4114800" y="0"/>
                  </a:lnTo>
                </a:path>
              </a:pathLst>
            </a:custGeom>
            <a:noFill/>
            <a:ln w="4762">
              <a:solidFill>
                <a:srgbClr val="DDDDDD"/>
              </a:solidFill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07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2" grpId="0"/>
      <p:bldP spid="5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71500" y="381000"/>
            <a:ext cx="11049000" cy="581025"/>
            <a:chOff x="571500" y="381000"/>
            <a:chExt cx="11049000" cy="581025"/>
          </a:xfrm>
        </p:grpSpPr>
        <p:sp>
          <p:nvSpPr>
            <p:cNvPr id="3" name="Rectangle 3"/>
            <p:cNvSpPr/>
            <p:nvPr/>
          </p:nvSpPr>
          <p:spPr>
            <a:xfrm>
              <a:off x="571500" y="381000"/>
              <a:ext cx="38100" cy="3048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37235" y="399098"/>
              <a:ext cx="196076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朴素贝叶斯方法</a:t>
              </a:r>
              <a:endParaRPr lang="zh-CN" sz="1950" b="1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" name="Line 5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143000"/>
            <a:ext cx="5334000" cy="1809750"/>
            <a:chOff x="571500" y="1143000"/>
            <a:chExt cx="5334000" cy="1809750"/>
          </a:xfrm>
        </p:grpSpPr>
        <p:sp>
          <p:nvSpPr>
            <p:cNvPr id="7" name="Rectangle 7"/>
            <p:cNvSpPr/>
            <p:nvPr/>
          </p:nvSpPr>
          <p:spPr>
            <a:xfrm>
              <a:off x="571500" y="1143000"/>
              <a:ext cx="5334000" cy="1809750"/>
            </a:xfrm>
            <a:prstGeom prst="roundRect">
              <a:avLst>
                <a:gd name="adj" fmla="val 4211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571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1A5276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45808" y="131016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基本思想</a:t>
              </a:r>
              <a:endParaRPr lang="zh-CN" sz="127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9618" y="162829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对于待分类项，求解在此项出现的条件下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9618" y="1847374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各个类别出现的概率，哪个最大就属于哪类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8665" y="2125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贝叶斯定理</a:t>
              </a:r>
              <a:endParaRPr lang="zh-CN" sz="1050" b="1" dirty="0">
                <a:solidFill>
                  <a:srgbClr val="2980B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8665" y="2363152"/>
              <a:ext cx="18959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P(Y|X) = P(X|Y)·P(Y) / P(X)</a:t>
              </a:r>
              <a:endParaRPr lang="zh-CN" sz="1050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2617470"/>
              <a:ext cx="188309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条件独立假设 → P(X|Y) = ΠP(xᵢ|Y)</a:t>
              </a:r>
              <a:endPara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1143000"/>
            <a:ext cx="5334000" cy="3619500"/>
            <a:chOff x="6286500" y="1143000"/>
            <a:chExt cx="5334000" cy="3619500"/>
          </a:xfrm>
        </p:grpSpPr>
        <p:sp>
          <p:nvSpPr>
            <p:cNvPr id="16" name="Rectangle 16"/>
            <p:cNvSpPr/>
            <p:nvPr/>
          </p:nvSpPr>
          <p:spPr>
            <a:xfrm>
              <a:off x="6286500" y="1143000"/>
              <a:ext cx="5334000" cy="3619500"/>
            </a:xfrm>
            <a:prstGeom prst="roundRect">
              <a:avLst>
                <a:gd name="adj" fmla="val 2105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286500" y="1143000"/>
              <a:ext cx="5334000" cy="38100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60808" y="1310164"/>
              <a:ext cx="128204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案例：求婚决策</a:t>
              </a:r>
              <a:endParaRPr lang="zh-CN" sz="1275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464618" y="1628299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特征：不帅·性格不好·矮·不上进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464618" y="1847374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判断：嫁还是不嫁？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6477000" y="219075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64618" y="2323624"/>
              <a:ext cx="62284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P(嫁)=1/2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464618" y="2542699"/>
              <a:ext cx="21895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P(不帅|嫁)=1/2, P(性格不好|嫁)=1/6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64618" y="2761774"/>
              <a:ext cx="192950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P(矮|嫁)=1/6, P(不上进|嫁)=1/6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477000" y="3048000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64618" y="3180874"/>
              <a:ext cx="21440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P(嫁|X)=1/2×1/2×1/6×1/6×1/6=1/864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464618" y="3418999"/>
              <a:ext cx="205951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A5276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P(不嫁|X)=1/2×1/3×1/2×1×2/3=1/18</a:t>
              </a:r>
              <a:endParaRPr lang="zh-CN" sz="975" dirty="0">
                <a:solidFill>
                  <a:srgbClr val="1A5276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28" name="Line 28"/>
            <p:cNvSpPr/>
            <p:nvPr/>
          </p:nvSpPr>
          <p:spPr>
            <a:xfrm>
              <a:off x="6477000" y="3667125"/>
              <a:ext cx="4857750" cy="9525"/>
            </a:xfrm>
            <a:custGeom>
              <a:avLst/>
              <a:gdLst/>
              <a:ahLst/>
              <a:cxnLst/>
              <a:rect l="l" t="t" r="r" b="b"/>
              <a:pathLst>
                <a:path w="4857750" h="9525">
                  <a:moveTo>
                    <a:pt x="0" y="0"/>
                  </a:moveTo>
                  <a:lnTo>
                    <a:pt x="4857750" y="0"/>
                  </a:lnTo>
                </a:path>
              </a:pathLst>
            </a:custGeom>
            <a:noFill/>
            <a:ln w="9525">
              <a:solidFill>
                <a:srgbClr val="D5D8D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63665" y="3791902"/>
              <a:ext cx="241571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P(嫁|X)=1/864÷(1/864+1/18)=2.04%</a:t>
              </a:r>
              <a:endParaRPr lang="zh-CN" sz="105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63665" y="4030028"/>
              <a:ext cx="25259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Consolas" panose="020B0609020204030204"/>
                  <a:ea typeface="微软雅黑" panose="020B0503020204020204" charset="-122"/>
                  <a:cs typeface="Consolas" panose="020B0609020204030204"/>
                </a:rPr>
                <a:t>P(不嫁|X)=1/18÷(1/864+1/18)=97.96%</a:t>
              </a:r>
              <a:endParaRPr lang="zh-CN" sz="1050" b="1" dirty="0">
                <a:solidFill>
                  <a:srgbClr val="E74C3C"/>
                </a:solidFill>
                <a:latin typeface="Consolas" panose="020B0609020204030204"/>
                <a:ea typeface="微软雅黑" panose="020B0503020204020204" charset="-122"/>
                <a:cs typeface="Consolas" panose="020B060902020403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63665" y="4315778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结论：不嫁！</a:t>
              </a:r>
              <a:endParaRPr lang="zh-CN" sz="1050" b="1" dirty="0">
                <a:solidFill>
                  <a:srgbClr val="E74C3C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71500" y="3190875"/>
            <a:ext cx="5334000" cy="1571625"/>
            <a:chOff x="571500" y="3190875"/>
            <a:chExt cx="5334000" cy="1571625"/>
          </a:xfrm>
        </p:grpSpPr>
        <p:sp>
          <p:nvSpPr>
            <p:cNvPr id="33" name="Rectangle 33"/>
            <p:cNvSpPr/>
            <p:nvPr/>
          </p:nvSpPr>
          <p:spPr>
            <a:xfrm>
              <a:off x="571500" y="3190875"/>
              <a:ext cx="5334000" cy="1571625"/>
            </a:xfrm>
            <a:prstGeom prst="roundRect">
              <a:avLst>
                <a:gd name="adj" fmla="val 4848"/>
              </a:avLst>
            </a:prstGeom>
            <a:solidFill>
              <a:srgbClr val="F5F7F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6760" y="3375660"/>
              <a:ext cx="13746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朴素贝叶斯的特点</a:t>
              </a:r>
              <a:endParaRPr lang="zh-CN" sz="12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Freeform 35"/>
            <p:cNvSpPr/>
            <p:nvPr/>
          </p:nvSpPr>
          <p:spPr>
            <a:xfrm>
              <a:off x="793750" y="3806825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87742" y="3799999"/>
              <a:ext cx="236505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逻辑简单，公式转换后只需统计历史数据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Freeform 37"/>
            <p:cNvSpPr/>
            <p:nvPr/>
          </p:nvSpPr>
          <p:spPr>
            <a:xfrm>
              <a:off x="793750" y="4092575"/>
              <a:ext cx="95250" cy="63500"/>
            </a:xfrm>
            <a:custGeom>
              <a:avLst/>
              <a:gdLst/>
              <a:ahLst/>
              <a:cxnLst/>
              <a:rect l="l" t="t" r="r" b="b"/>
              <a:pathLst>
                <a:path w="95250" h="63500">
                  <a:moveTo>
                    <a:pt x="0" y="31750"/>
                  </a:moveTo>
                  <a:lnTo>
                    <a:pt x="31750" y="63500"/>
                  </a:ln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1A527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87742" y="4085749"/>
              <a:ext cx="25145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条件独立假设 + 中心极限定理＝降低复杂度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800100" y="4371975"/>
              <a:ext cx="76200" cy="76200"/>
              <a:chOff x="800100" y="4371975"/>
              <a:chExt cx="76200" cy="762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00100" y="43719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0"/>
                    </a:moveTo>
                    <a:lnTo>
                      <a:pt x="0" y="76200"/>
                    </a:lnTo>
                  </a:path>
                </a:pathLst>
              </a:custGeom>
              <a:noFill/>
              <a:ln w="19050">
                <a:solidFill>
                  <a:srgbClr val="E74C3C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00100" y="43719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76200" y="76200"/>
                    </a:lnTo>
                  </a:path>
                </a:pathLst>
              </a:custGeom>
              <a:noFill/>
              <a:ln w="19050">
                <a:solidFill>
                  <a:srgbClr val="E74C3C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987742" y="4371499"/>
              <a:ext cx="204651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特征往往很难完全独立→影响准确性</a:t>
              </a:r>
              <a:endParaRPr lang="zh-CN" sz="975" dirty="0">
                <a:solidFill>
                  <a:srgbClr val="2C3E5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6018562" y="657034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08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2" grpId="0"/>
      <p:bldP spid="4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57150"/>
            </a:xfrm>
            <a:prstGeom prst="rect">
              <a:avLst/>
            </a:prstGeom>
            <a:gradFill>
              <a:gsLst>
                <a:gs pos="0">
                  <a:srgbClr val="1A5276"/>
                </a:gs>
                <a:gs pos="100000">
                  <a:srgbClr val="3498DB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7" name="Group 7"/>
          <p:cNvGrpSpPr/>
          <p:nvPr/>
        </p:nvGrpSpPr>
        <p:grpSpPr>
          <a:xfrm>
            <a:off x="4889373" y="502920"/>
            <a:ext cx="2413254" cy="525780"/>
            <a:chOff x="4889373" y="502920"/>
            <a:chExt cx="2413254" cy="525780"/>
          </a:xfrm>
        </p:grpSpPr>
        <p:sp>
          <p:nvSpPr>
            <p:cNvPr id="5" name="TextBox 5"/>
            <p:cNvSpPr txBox="1"/>
            <p:nvPr/>
          </p:nvSpPr>
          <p:spPr>
            <a:xfrm>
              <a:off x="4889373" y="502920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40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第三次作业总结</a:t>
              </a:r>
              <a:endParaRPr lang="zh-CN" sz="2400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5143500" y="1000125"/>
              <a:ext cx="1905000" cy="28575"/>
            </a:xfrm>
            <a:prstGeom prst="roundRect">
              <a:avLst>
                <a:gd name="adj" fmla="val 50000"/>
              </a:avLst>
            </a:prstGeom>
            <a:solidFill>
              <a:srgbClr val="E74C3C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571500" y="1212056"/>
            <a:ext cx="11049000" cy="3931444"/>
            <a:chOff x="571500" y="1212056"/>
            <a:chExt cx="11049000" cy="3931444"/>
          </a:xfrm>
        </p:grpSpPr>
        <p:sp>
          <p:nvSpPr>
            <p:cNvPr id="8" name="TextBox 8"/>
            <p:cNvSpPr txBox="1"/>
            <p:nvPr/>
          </p:nvSpPr>
          <p:spPr>
            <a:xfrm>
              <a:off x="5095339" y="1212056"/>
              <a:ext cx="2001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7F8C8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分类算法 · 课后作业核心内容</a:t>
              </a:r>
              <a:endParaRPr lang="zh-CN" sz="1125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5" name="Group 15"/>
            <p:cNvGrpSpPr/>
            <p:nvPr/>
          </p:nvGrpSpPr>
          <p:grpSpPr>
            <a:xfrm>
              <a:off x="571500" y="1571625"/>
              <a:ext cx="5334000" cy="1143000"/>
              <a:chOff x="571500" y="1571625"/>
              <a:chExt cx="5334000" cy="114300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571500" y="1571625"/>
                <a:ext cx="5334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0" name="Rectangle 10"/>
              <p:cNvSpPr/>
              <p:nvPr/>
            </p:nvSpPr>
            <p:spPr>
              <a:xfrm>
                <a:off x="571500" y="15716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1A5276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797719" y="18407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1A5276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034415" y="1820228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分类的基本概念与逻辑</a:t>
                </a:r>
                <a:endPara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036320" y="2074545"/>
                <a:ext cx="220713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分类器·训练集·测试集·类标签·交叉验证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036320" y="2265045"/>
                <a:ext cx="14750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训练→测试→预测的基本流程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286500" y="1571625"/>
              <a:ext cx="5334000" cy="1143000"/>
              <a:chOff x="6286500" y="1571625"/>
              <a:chExt cx="5334000" cy="114300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6286500" y="1571625"/>
                <a:ext cx="5334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17" name="Rectangle 17"/>
              <p:cNvSpPr/>
              <p:nvPr/>
            </p:nvSpPr>
            <p:spPr>
              <a:xfrm>
                <a:off x="6286500" y="15716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2980B9"/>
              </a:solidFill>
              <a:ln>
                <a:noFill/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6512719" y="18407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2980B9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6749415" y="1820228"/>
                <a:ext cx="56328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980B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KNN算法</a:t>
                </a:r>
                <a:endParaRPr lang="zh-CN" sz="1050" b="1" dirty="0">
                  <a:solidFill>
                    <a:srgbClr val="2980B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751320" y="2074545"/>
                <a:ext cx="17270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计算距离→选k个邻居→统计→投票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751320" y="2265045"/>
                <a:ext cx="22731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k值选择·混淆矩阵·准确率/精确率/召回率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571500" y="2905125"/>
              <a:ext cx="5334000" cy="1143000"/>
              <a:chOff x="571500" y="2905125"/>
              <a:chExt cx="5334000" cy="1143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571500" y="2905125"/>
                <a:ext cx="5334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24" name="Rectangle 24"/>
              <p:cNvSpPr/>
              <p:nvPr/>
            </p:nvSpPr>
            <p:spPr>
              <a:xfrm>
                <a:off x="571500" y="29051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3498DB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97719" y="31742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3498DB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34415" y="315372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498D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决策树</a:t>
                </a:r>
                <a:endParaRPr lang="zh-CN" sz="1050" b="1" dirty="0">
                  <a:solidFill>
                    <a:srgbClr val="3498D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36320" y="3408045"/>
                <a:ext cx="1643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ID3算法·信息增益·高尔夫示例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36320" y="3598545"/>
                <a:ext cx="23151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根节点选择→递归构造子节点→剪枝防过拟合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286500" y="2905125"/>
              <a:ext cx="5334000" cy="1143000"/>
              <a:chOff x="6286500" y="2905125"/>
              <a:chExt cx="5334000" cy="114300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6286500" y="2905125"/>
                <a:ext cx="5334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1" name="Rectangle 31"/>
              <p:cNvSpPr/>
              <p:nvPr/>
            </p:nvSpPr>
            <p:spPr>
              <a:xfrm>
                <a:off x="6286500" y="2905125"/>
                <a:ext cx="5334000" cy="38100"/>
              </a:xfrm>
              <a:prstGeom prst="roundRect">
                <a:avLst>
                  <a:gd name="adj" fmla="val 50000"/>
                </a:avLst>
              </a:prstGeom>
              <a:solidFill>
                <a:srgbClr val="E74C3C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512719" y="3174206"/>
                <a:ext cx="107156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71438">
                    <a:moveTo>
                      <a:pt x="0" y="35719"/>
                    </a:moveTo>
                    <a:lnTo>
                      <a:pt x="35719" y="71438"/>
                    </a:lnTo>
                    <a:lnTo>
                      <a:pt x="107156" y="0"/>
                    </a:lnTo>
                  </a:path>
                </a:pathLst>
              </a:custGeom>
              <a:noFill/>
              <a:ln w="19050">
                <a:solidFill>
                  <a:srgbClr val="E74C3C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6749415" y="3153728"/>
                <a:ext cx="118811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74C3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神经网络 + Bayes</a:t>
                </a:r>
                <a:endParaRPr lang="zh-CN" sz="1050" b="1" dirty="0">
                  <a:solidFill>
                    <a:srgbClr val="E74C3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1320" y="3408045"/>
                <a:ext cx="19010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感知器：输入×权重→阈值判断→输出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751320" y="3598545"/>
                <a:ext cx="176907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朴素贝叶斯：后验概率最大→分类</a:t>
                </a:r>
                <a:endParaRPr lang="zh-CN" sz="900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571500" y="4286250"/>
              <a:ext cx="11049000" cy="857250"/>
              <a:chOff x="571500" y="4286250"/>
              <a:chExt cx="11049000" cy="85725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571500" y="4286250"/>
                <a:ext cx="11049000" cy="857250"/>
              </a:xfrm>
              <a:prstGeom prst="roundRect">
                <a:avLst>
                  <a:gd name="adj" fmla="val 8889"/>
                </a:avLst>
              </a:prstGeom>
              <a:solidFill>
                <a:srgbClr val="F5F7F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48665" y="4477702"/>
                <a:ext cx="354040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527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读书笔记：《白话机器学习》第7章KNN + 第9章决策树</a:t>
                </a:r>
                <a:endParaRPr lang="zh-CN" sz="1050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49618" y="4752499"/>
                <a:ext cx="510190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KNN最简·基于邻居投票 · 决策树可解释性强·树形分叉 · 随机森林集成都决策树提升性能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749618" y="4942999"/>
                <a:ext cx="39252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2C3E5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不同算法对同一问题可以探索和比较，根据业务场景选择最优分类器</a:t>
                </a:r>
                <a:endParaRPr lang="zh-CN" sz="975" dirty="0">
                  <a:solidFill>
                    <a:srgbClr val="2C3E5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4258422" y="5498306"/>
            <a:ext cx="3675156" cy="228600"/>
            <a:chOff x="4258422" y="5498306"/>
            <a:chExt cx="3675156" cy="228600"/>
          </a:xfrm>
        </p:grpSpPr>
        <p:sp>
          <p:nvSpPr>
            <p:cNvPr id="43" name="TextBox 43"/>
            <p:cNvSpPr txBox="1"/>
            <p:nvPr/>
          </p:nvSpPr>
          <p:spPr>
            <a:xfrm>
              <a:off x="4258422" y="5498306"/>
              <a:ext cx="36751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A527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分类本质：历史数据中学习模式 → 预测未知样本类别</a:t>
              </a:r>
              <a:endParaRPr lang="zh-CN" sz="1125" b="1" dirty="0">
                <a:solidFill>
                  <a:srgbClr val="1A527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6033564" y="65703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F8C8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</a:t>
            </a:r>
            <a:endParaRPr lang="zh-CN" sz="900" dirty="0">
              <a:solidFill>
                <a:srgbClr val="7F8C8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2668</Words>
  <Application>WPS 演示</Application>
  <PresentationFormat>On-screen Show (4:3)</PresentationFormat>
  <Paragraphs>373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Arial Unicode MS</vt:lpstr>
      <vt:lpstr>Calibri</vt:lpstr>
      <vt:lpstr>Noto Sans SC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张椅达</cp:lastModifiedBy>
  <cp:revision>2</cp:revision>
  <dcterms:created xsi:type="dcterms:W3CDTF">2013-01-27T09:14:00Z</dcterms:created>
  <dcterms:modified xsi:type="dcterms:W3CDTF">2026-06-14T07:45:22Z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6BE0A2A72F3B4840AF7C334D495B71F7_12</vt:lpwstr>
  </property>
  <property fmtid="{D5CDD505-2E9C-101B-9397-08002B2CF9AE}" pid="3" name="KSOProductBuildVer">
    <vt:lpwstr>2052-12.1.0.24034</vt:lpwstr>
  </property>
</Properties>
</file>