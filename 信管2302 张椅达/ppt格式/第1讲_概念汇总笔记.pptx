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9" r:id="rId6"/>
    <p:sldId id="268" r:id="rId7"/>
    <p:sldId id="270" r:id="rId8"/>
    <p:sldId id="271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们来整理第一讲"数据挖掘的基本认知"的概念汇总笔记。这一讲涵盖了数据挖掘领域的八个核心概念，从大数据的基本特征到数据挖掘的生命周期模型，为我们后续学习回归、分类、聚类和关联规则等具体算法打下坚实的理论基础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来看本章的概念汇总目录。我们一共整理了八个核心概念，分别是大数据、数据挖掘、数据降维、有监督与无监督学习、数据结构类型、数据预处理与清洗、标准化与归一化，以及衍生变量。此外，我们还补充介绍了数据挖掘的六阶段生命周期模型。这些概念共同构成了数据挖掘知识体系的基础框架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核心概念是大数据。大数据又称海量数据，其核心特征可以用四个V来概括：Volume数据体量巨大，Variety数据类型繁多，Value价值密度低，Velocity处理速度快。每一个特征都对应着具体的技术挑战——海量数据如何存储，多源异构数据如何有效融合，如何从海量数据中挖掘有价值的内容，以及如何满足计算速度的要求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核心概念是数据挖掘本身。它的经典定义强调了四个要点：从大量的、不完全的、有噪声的、模糊的、随机的实际应用数据中，提取隐含的、人们事先不知道的但又是潜在有用的信息和知识。我们还需要理解DIKW层级体系——从数据到信息，再到知识、情报，最终升华为智慧。同时要明确人工智能、机器学习、神经网络、深度学习以及数据挖掘这几者之间的包含关系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概念是数据降维。当数据维度很高时，我们需要通过降维来消除冗余和噪声、降低计算复杂度，缓解维度灾难。两种最经典的方法分别是PCA主成分分析和t-SNE。PCA是一种线性降维方法，通过正交变换提取主成分；而t-SNE则是非线性方法，特别适合高维数据的可视化，能够很好地保留数据的局部结构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个概念是有监督学习与无监督学习的对比。它们最核心的区别在于训练数据是否有标签。有监督学习需要已标注的数据，目标是学习从输入到输出的映射，典型任务包括分类和回归；而无监督学习则没有标签，目标是发现数据内在的结构和模式，典型任务包括聚类和关联规则分析。有监督的代表算法有决策树、KNN和SVM等，无监督的则有K-means、层次聚类和DBSCAN等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个概念是数据类型的三种形态。结构化数据具有明确的行列结构，可以用二维表来逻辑表达，典型的就是关系数据库中的表。半结构化数据具有一定的结构但schema是自描述的，比如XML和JSON文档。非结构化数据则没有预定义的数据模型，包括文本、图像、音频和视频等，这也是大数据时代最主要的数数据来源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六个概念是数据预处理与清洗。数据清洗主要处理四大类问题：缺失值、噪声数据、不一致数据和重复数据。数据预处理则遵循四个步骤：第一步数据清洗，第二步数据集成将多源异构数据合并，第三步数据归约进行降维和特征选择，第四步数据变换做标准化和离散化处理。请记住数据挖掘领域的一句名言——垃圾进，垃圾出，预处理的质量直接决定了最终分析结果的质量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七个概念是数据标准化与归一化。它们统称为无量纲化，目的是消除不同特征量纲和量级差异对模型的影响。标准化也叫Z-score，将数据转换为均值为0、标准差为1的分布，适用于数据近似正态分布的场景。归一化也叫Min-Max，将数据线性映射到0到1的区间，适用于神经网络和KNN等基于距离的算法。需要特别注意的是，决策树和随机森林基于阈值分裂，与特征的量纲无关，因此不需要做特征缩放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八个概念是衍生变量，这是特征工程的核心环节。衍生变量是从原始变量中通过数学变换、组合或业务逻辑构造出的新变量。常见的构造方式有五种：多项式特征用于捕捉非线性关系，比率和差值用于反映相对关系，分箱将连续值离散化降低噪声影响，时间特征用于捕捉周期性模式，聚合特征用于多对一关系的汇总统计。特征工程决定了模型性能的上限，好的衍生变量能大幅提升模型表现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补充内容——数据挖掘的六阶段生命周期模型。这六个阶段依次是：目标定义、数据准备、数据探索、模型建立、模型评估和模型部署。这个流程是循环迭代的，各阶段之间可以回溯。在实际项目中，我们往往需要多次往返于不同阶段之间不断优化，才能最终得到一个高质量的可部署模型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一个重点回顾。第一讲的核心知识体系可以这样概括：大数据是背景，数据挖掘是方法，降维是预处理手段，有监督和无监督是两种学习范式，理解数据类型是基础，预处理和清洗是必经之路，标准化和归一化是重要的数据变换技巧，衍生变量则是提升模型性能的关键武器。掌握好这些基础概念，我们就能顺利进入后续具体算法的学习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50000">
                  <a:srgbClr val="3498DB"/>
                </a:gs>
                <a:gs pos="100000">
                  <a:srgbClr val="1A527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A5276">
                    <a:alpha val="0"/>
                  </a:srgbClr>
                </a:gs>
                <a:gs pos="100000">
                  <a:srgbClr val="1A5276">
                    <a:alpha val="600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762000" y="-762000"/>
            <a:ext cx="14192250" cy="8858250"/>
            <a:chOff x="-762000" y="-762000"/>
            <a:chExt cx="14192250" cy="8858250"/>
          </a:xfrm>
        </p:grpSpPr>
        <p:sp>
          <p:nvSpPr>
            <p:cNvPr id="6" name="Ellipse 6"/>
            <p:cNvSpPr/>
            <p:nvPr/>
          </p:nvSpPr>
          <p:spPr>
            <a:xfrm>
              <a:off x="-762000" y="-762000"/>
              <a:ext cx="3810000" cy="3810000"/>
            </a:xfrm>
            <a:prstGeom prst="ellipse">
              <a:avLst/>
            </a:prstGeom>
            <a:solidFill>
              <a:srgbClr val="1A5276">
                <a:alpha val="3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667750" y="3333750"/>
              <a:ext cx="4762500" cy="4762500"/>
            </a:xfrm>
            <a:prstGeom prst="ellipse">
              <a:avLst/>
            </a:prstGeom>
            <a:solidFill>
              <a:srgbClr val="3498DB">
                <a:alpha val="3000"/>
              </a:srgb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266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2879274" y="2245995"/>
            <a:ext cx="6433452" cy="1088390"/>
            <a:chOff x="2879274" y="2245995"/>
            <a:chExt cx="6433452" cy="1088390"/>
          </a:xfrm>
        </p:grpSpPr>
        <p:sp>
          <p:nvSpPr>
            <p:cNvPr id="10" name="TextBox 10"/>
            <p:cNvSpPr txBox="1"/>
            <p:nvPr/>
          </p:nvSpPr>
          <p:spPr>
            <a:xfrm>
              <a:off x="2879274" y="2245995"/>
              <a:ext cx="6433452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第1讲 数据挖掘的基本认知</a:t>
              </a:r>
              <a:endParaRPr lang="zh-CN" sz="39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43755" y="3011805"/>
              <a:ext cx="2904490" cy="322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本章概念汇总 · 笔记整理</a:t>
              </a:r>
              <a:endParaRPr lang="zh-CN" sz="2100" dirty="0">
                <a:solidFill>
                  <a:srgbClr val="3498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0" y="3524250"/>
            <a:ext cx="1905000" cy="28575"/>
            <a:chOff x="5143500" y="3524250"/>
            <a:chExt cx="1905000" cy="28575"/>
          </a:xfrm>
        </p:grpSpPr>
        <p:sp>
          <p:nvSpPr>
            <p:cNvPr id="13" name="Rectangle 13"/>
            <p:cNvSpPr/>
            <p:nvPr/>
          </p:nvSpPr>
          <p:spPr>
            <a:xfrm>
              <a:off x="5143500" y="352425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2516314" y="3902392"/>
            <a:ext cx="7159371" cy="593408"/>
            <a:chOff x="2516314" y="3902392"/>
            <a:chExt cx="7159371" cy="593408"/>
          </a:xfrm>
        </p:grpSpPr>
        <p:grpSp>
          <p:nvGrpSpPr>
            <p:cNvPr id="20" name="Group 20"/>
            <p:cNvGrpSpPr/>
            <p:nvPr/>
          </p:nvGrpSpPr>
          <p:grpSpPr>
            <a:xfrm>
              <a:off x="5648325" y="3928037"/>
              <a:ext cx="180975" cy="139138"/>
              <a:chOff x="5648325" y="3928037"/>
              <a:chExt cx="180975" cy="13913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5648325" y="4051862"/>
                <a:ext cx="171450" cy="15313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313">
                    <a:moveTo>
                      <a:pt x="0" y="15313"/>
                    </a:moveTo>
                    <a:cubicBezTo>
                      <a:pt x="26523" y="0"/>
                      <a:pt x="59202" y="0"/>
                      <a:pt x="85725" y="15313"/>
                    </a:cubicBezTo>
                    <a:cubicBezTo>
                      <a:pt x="112248" y="0"/>
                      <a:pt x="144927" y="0"/>
                      <a:pt x="171450" y="15313"/>
                    </a:cubicBezTo>
                  </a:path>
                </a:pathLst>
              </a:custGeom>
              <a:noFill/>
              <a:ln w="19050">
                <a:solidFill>
                  <a:srgbClr val="7F8C8D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648325" y="3928037"/>
                <a:ext cx="171450" cy="15313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313">
                    <a:moveTo>
                      <a:pt x="0" y="15313"/>
                    </a:moveTo>
                    <a:cubicBezTo>
                      <a:pt x="26523" y="0"/>
                      <a:pt x="59202" y="0"/>
                      <a:pt x="85725" y="15313"/>
                    </a:cubicBezTo>
                    <a:cubicBezTo>
                      <a:pt x="112248" y="0"/>
                      <a:pt x="144927" y="0"/>
                      <a:pt x="171450" y="15313"/>
                    </a:cubicBezTo>
                  </a:path>
                </a:pathLst>
              </a:custGeom>
              <a:noFill/>
              <a:ln w="19050">
                <a:solidFill>
                  <a:srgbClr val="7F8C8D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648325" y="3943350"/>
                <a:ext cx="95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">
                    <a:moveTo>
                      <a:pt x="0" y="0"/>
                    </a:moveTo>
                    <a:lnTo>
                      <a:pt x="0" y="123825"/>
                    </a:lnTo>
                  </a:path>
                </a:pathLst>
              </a:custGeom>
              <a:noFill/>
              <a:ln w="19050">
                <a:solidFill>
                  <a:srgbClr val="7F8C8D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734050" y="3943350"/>
                <a:ext cx="95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">
                    <a:moveTo>
                      <a:pt x="0" y="0"/>
                    </a:moveTo>
                    <a:lnTo>
                      <a:pt x="0" y="123825"/>
                    </a:lnTo>
                  </a:path>
                </a:pathLst>
              </a:custGeom>
              <a:noFill/>
              <a:ln w="19050">
                <a:solidFill>
                  <a:srgbClr val="7F8C8D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819775" y="3943350"/>
                <a:ext cx="95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3825">
                    <a:moveTo>
                      <a:pt x="0" y="0"/>
                    </a:moveTo>
                    <a:lnTo>
                      <a:pt x="0" y="123825"/>
                    </a:lnTo>
                  </a:path>
                </a:pathLst>
              </a:custGeom>
              <a:noFill/>
              <a:ln w="19050">
                <a:solidFill>
                  <a:srgbClr val="7F8C8D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935980" y="3902392"/>
              <a:ext cx="25816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数据挖掘与机器学习 · 课堂作业</a:t>
              </a:r>
              <a:endParaRPr lang="zh-CN" sz="13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16314" y="4251960"/>
              <a:ext cx="71593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涵盖大数据、数据挖掘、降维、监督/非监督学习、数据类型、预处理、标准化、衍生变量等核心概念</a:t>
              </a:r>
              <a:endParaRPr lang="zh-CN" sz="12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4031615" y="4784725"/>
            <a:ext cx="5023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学生：张</a:t>
            </a:r>
            <a:r>
              <a:rPr lang="zh-CN" alt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椅</a:t>
            </a:r>
            <a:r>
              <a:rPr 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   |   学号：202321054055   </a:t>
            </a:r>
            <a:endParaRPr lang="zh-CN" dirty="0">
              <a:solidFill>
                <a:srgbClr val="3498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4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38290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概念汇总目录</a:t>
              </a:r>
              <a:endParaRPr lang="zh-CN" sz="21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678656"/>
              <a:ext cx="24738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本章共涵盖 8 大核心概念 + 扩展内容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04" name="Group 104"/>
          <p:cNvGrpSpPr/>
          <p:nvPr/>
        </p:nvGrpSpPr>
        <p:grpSpPr>
          <a:xfrm>
            <a:off x="571500" y="1238250"/>
            <a:ext cx="11049000" cy="3476625"/>
            <a:chOff x="571500" y="1238250"/>
            <a:chExt cx="11049000" cy="3476625"/>
          </a:xfrm>
        </p:grpSpPr>
        <p:grpSp>
          <p:nvGrpSpPr>
            <p:cNvPr id="19" name="Group 19"/>
            <p:cNvGrpSpPr/>
            <p:nvPr/>
          </p:nvGrpSpPr>
          <p:grpSpPr>
            <a:xfrm>
              <a:off x="571500" y="1238250"/>
              <a:ext cx="2571750" cy="1619250"/>
              <a:chOff x="571500" y="1238250"/>
              <a:chExt cx="2571750" cy="16192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238250"/>
                <a:ext cx="2571750" cy="1619250"/>
              </a:xfrm>
              <a:prstGeom prst="roundRect">
                <a:avLst>
                  <a:gd name="adj" fmla="val 5882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238250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831850" y="1524000"/>
                <a:ext cx="203200" cy="228600"/>
                <a:chOff x="831850" y="1524000"/>
                <a:chExt cx="203200" cy="2286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31850" y="1524000"/>
                  <a:ext cx="203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76200">
                      <a:moveTo>
                        <a:pt x="0" y="38100"/>
                      </a:moveTo>
                      <a:cubicBezTo>
                        <a:pt x="0" y="59142"/>
                        <a:pt x="45488" y="76200"/>
                        <a:pt x="101600" y="76200"/>
                      </a:cubicBezTo>
                      <a:cubicBezTo>
                        <a:pt x="157712" y="76200"/>
                        <a:pt x="203200" y="59142"/>
                        <a:pt x="203200" y="38100"/>
                      </a:cubicBezTo>
                      <a:cubicBezTo>
                        <a:pt x="203200" y="17058"/>
                        <a:pt x="157712" y="0"/>
                        <a:pt x="101600" y="0"/>
                      </a:cubicBezTo>
                      <a:cubicBezTo>
                        <a:pt x="4548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31850" y="1562100"/>
                  <a:ext cx="2032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200" y="97242"/>
                        <a:pt x="203200" y="76200"/>
                      </a:cubicBezTo>
                      <a:lnTo>
                        <a:pt x="20320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31850" y="1638300"/>
                  <a:ext cx="2032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200" y="97242"/>
                        <a:pt x="203200" y="76200"/>
                      </a:cubicBezTo>
                      <a:lnTo>
                        <a:pt x="20320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181100" y="153352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大数据</a:t>
                </a:r>
                <a:endPara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7715" y="1867852"/>
                <a:ext cx="5727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Big Data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8668" y="2104549"/>
                <a:ext cx="157845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4V特征：Volume、Variety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8668" y="2275999"/>
                <a:ext cx="98688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Value、Velocity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8668" y="2504599"/>
                <a:ext cx="4343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# 概念1</a:t>
                </a:r>
                <a:endParaRPr lang="zh-CN" sz="97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381375" y="1238250"/>
              <a:ext cx="2571750" cy="1619250"/>
              <a:chOff x="3381375" y="1238250"/>
              <a:chExt cx="2571750" cy="16192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3381375" y="1238250"/>
                <a:ext cx="2571750" cy="1619250"/>
              </a:xfrm>
              <a:prstGeom prst="roundRect">
                <a:avLst>
                  <a:gd name="adj" fmla="val 5882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3381375" y="1238250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3629025" y="1524000"/>
                <a:ext cx="228600" cy="228600"/>
                <a:chOff x="3629025" y="1524000"/>
                <a:chExt cx="228600" cy="22860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3629025" y="1524000"/>
                  <a:ext cx="17780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77800">
                      <a:moveTo>
                        <a:pt x="0" y="88900"/>
                      </a:moveTo>
                      <a:cubicBezTo>
                        <a:pt x="0" y="137998"/>
                        <a:pt x="39802" y="177800"/>
                        <a:pt x="88900" y="177800"/>
                      </a:cubicBezTo>
                      <a:cubicBezTo>
                        <a:pt x="137998" y="177800"/>
                        <a:pt x="177800" y="137998"/>
                        <a:pt x="177800" y="88900"/>
                      </a:cubicBezTo>
                      <a:cubicBezTo>
                        <a:pt x="177800" y="39802"/>
                        <a:pt x="137998" y="0"/>
                        <a:pt x="88900" y="0"/>
                      </a:cubicBezTo>
                      <a:cubicBezTo>
                        <a:pt x="39802" y="0"/>
                        <a:pt x="0" y="39802"/>
                        <a:pt x="0" y="88900"/>
                      </a:cubicBez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3781425" y="16764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762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3990975" y="15335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数据挖掘</a:t>
                </a:r>
                <a:endPara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77590" y="1867852"/>
                <a:ext cx="79676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Data Mining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78542" y="21045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从大量数据中提取隐含的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578542" y="227599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潜在有用信息和知识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578542" y="2504599"/>
                <a:ext cx="4668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# 概念2</a:t>
                </a:r>
                <a:endParaRPr lang="zh-CN" sz="97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191250" y="1238250"/>
              <a:ext cx="2571750" cy="1619250"/>
              <a:chOff x="6191250" y="1238250"/>
              <a:chExt cx="2571750" cy="16192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191250" y="1238250"/>
                <a:ext cx="2571750" cy="1619250"/>
              </a:xfrm>
              <a:prstGeom prst="roundRect">
                <a:avLst>
                  <a:gd name="adj" fmla="val 5882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6191250" y="1238250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438900" y="1524000"/>
                <a:ext cx="228600" cy="228600"/>
                <a:chOff x="6438900" y="1524000"/>
                <a:chExt cx="228600" cy="2286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6464300" y="15494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50800"/>
                      </a:moveTo>
                      <a:lnTo>
                        <a:pt x="50800" y="50800"/>
                      </a:ln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6438900" y="1524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464300" y="16764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0"/>
                      </a:moveTo>
                      <a:lnTo>
                        <a:pt x="50800" y="0"/>
                      </a:lnTo>
                      <a:lnTo>
                        <a:pt x="50800" y="5080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438900" y="16764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591300" y="15494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50800" y="50800"/>
                      </a:moveTo>
                      <a:lnTo>
                        <a:pt x="0" y="508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6591300" y="1524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591300" y="16764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50800" y="0"/>
                      </a:moveTo>
                      <a:lnTo>
                        <a:pt x="0" y="0"/>
                      </a:lnTo>
                      <a:lnTo>
                        <a:pt x="0" y="5080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591300" y="16764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6800850" y="15335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数据降维</a:t>
                </a:r>
                <a:endPara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387465" y="1867852"/>
                <a:ext cx="13778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Dimension Reduction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388418" y="2104549"/>
                <a:ext cx="101938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PCA（线性降维）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388418" y="2275999"/>
                <a:ext cx="12924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t-SNE（非线性降维）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388418" y="2504599"/>
                <a:ext cx="4668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# 概念3</a:t>
                </a:r>
                <a:endParaRPr lang="zh-CN" sz="97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9001125" y="1238250"/>
              <a:ext cx="2619375" cy="1619250"/>
              <a:chOff x="9001125" y="1238250"/>
              <a:chExt cx="2619375" cy="16192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9001125" y="1238250"/>
                <a:ext cx="2619375" cy="1619250"/>
              </a:xfrm>
              <a:prstGeom prst="roundRect">
                <a:avLst>
                  <a:gd name="adj" fmla="val 5882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9001125" y="1238250"/>
                <a:ext cx="2619375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9261475" y="1536700"/>
                <a:ext cx="203200" cy="212725"/>
                <a:chOff x="9261475" y="1536700"/>
                <a:chExt cx="203200" cy="212725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9261475" y="1739900"/>
                  <a:ext cx="203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9525">
                      <a:moveTo>
                        <a:pt x="0" y="0"/>
                      </a:moveTo>
                      <a:lnTo>
                        <a:pt x="20320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9312275" y="1536700"/>
                  <a:ext cx="1016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52400">
                      <a:moveTo>
                        <a:pt x="0" y="1524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cubicBezTo>
                        <a:pt x="78856" y="0"/>
                        <a:pt x="101600" y="22744"/>
                        <a:pt x="101600" y="50800"/>
                      </a:cubicBezTo>
                      <a:lnTo>
                        <a:pt x="101600" y="15240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9312275" y="1612900"/>
                  <a:ext cx="101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9525">
                      <a:moveTo>
                        <a:pt x="0" y="0"/>
                      </a:moveTo>
                      <a:lnTo>
                        <a:pt x="10160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9610725" y="1533525"/>
                <a:ext cx="144527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监督 vs 非监督</a:t>
                </a:r>
                <a:endPara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197340" y="1867852"/>
                <a:ext cx="181189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Supervised / Unsupervised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198292" y="2104549"/>
                <a:ext cx="10258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有标签 vs 无标签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9198292" y="2275999"/>
                <a:ext cx="14289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分类/回归 vs 聚类/关联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198292" y="2504599"/>
                <a:ext cx="4668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# 概念4</a:t>
                </a:r>
                <a:endParaRPr lang="zh-CN" sz="97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571500" y="3095625"/>
              <a:ext cx="2571750" cy="1619250"/>
              <a:chOff x="571500" y="3095625"/>
              <a:chExt cx="2571750" cy="161925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571500" y="3095625"/>
                <a:ext cx="2571750" cy="1619250"/>
              </a:xfrm>
              <a:prstGeom prst="roundRect">
                <a:avLst>
                  <a:gd name="adj" fmla="val 5882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571500" y="309562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831850" y="3394075"/>
                <a:ext cx="203200" cy="203200"/>
                <a:chOff x="831850" y="3394075"/>
                <a:chExt cx="203200" cy="203200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831850" y="3394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0"/>
                      </a:lnTo>
                      <a:lnTo>
                        <a:pt x="76200" y="76200"/>
                      </a:lnTo>
                      <a:lnTo>
                        <a:pt x="0" y="762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958850" y="3394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0"/>
                      </a:lnTo>
                      <a:lnTo>
                        <a:pt x="76200" y="76200"/>
                      </a:lnTo>
                      <a:lnTo>
                        <a:pt x="0" y="762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31850" y="3521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0"/>
                      </a:lnTo>
                      <a:lnTo>
                        <a:pt x="76200" y="76200"/>
                      </a:lnTo>
                      <a:lnTo>
                        <a:pt x="0" y="762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958850" y="3521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</p:grpSp>
          <p:sp>
            <p:nvSpPr>
              <p:cNvPr id="67" name="TextBox 67"/>
              <p:cNvSpPr txBox="1"/>
              <p:nvPr/>
            </p:nvSpPr>
            <p:spPr>
              <a:xfrm>
                <a:off x="1181100" y="3390900"/>
                <a:ext cx="12982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数据结构类型</a:t>
                </a:r>
                <a:endPara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67715" y="3725228"/>
                <a:ext cx="121681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Three Data Forms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68668" y="3961924"/>
                <a:ext cx="10843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结构化 / 半结构化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768668" y="4133374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/ 非结构化数据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768668" y="4361974"/>
                <a:ext cx="4668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# 概念5</a:t>
                </a:r>
                <a:endParaRPr lang="zh-CN" sz="97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3381375" y="3095625"/>
              <a:ext cx="2571750" cy="1619250"/>
              <a:chOff x="3381375" y="3095625"/>
              <a:chExt cx="2571750" cy="161925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3381375" y="3095625"/>
                <a:ext cx="2571750" cy="1619250"/>
              </a:xfrm>
              <a:prstGeom prst="roundRect">
                <a:avLst>
                  <a:gd name="adj" fmla="val 5882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3381375" y="309562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3641725" y="3394075"/>
                <a:ext cx="20320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215900">
                    <a:moveTo>
                      <a:pt x="0" y="0"/>
                    </a:moveTo>
                    <a:lnTo>
                      <a:pt x="203200" y="0"/>
                    </a:lnTo>
                    <a:lnTo>
                      <a:pt x="203200" y="27584"/>
                    </a:lnTo>
                    <a:cubicBezTo>
                      <a:pt x="203199" y="34320"/>
                      <a:pt x="200522" y="40780"/>
                      <a:pt x="195758" y="45542"/>
                    </a:cubicBezTo>
                    <a:lnTo>
                      <a:pt x="139700" y="101600"/>
                    </a:lnTo>
                    <a:lnTo>
                      <a:pt x="139700" y="190500"/>
                    </a:lnTo>
                    <a:lnTo>
                      <a:pt x="63500" y="215900"/>
                    </a:lnTo>
                    <a:lnTo>
                      <a:pt x="63500" y="107950"/>
                    </a:lnTo>
                    <a:lnTo>
                      <a:pt x="6604" y="45364"/>
                    </a:lnTo>
                    <a:cubicBezTo>
                      <a:pt x="2355" y="40690"/>
                      <a:pt x="1" y="34600"/>
                      <a:pt x="0" y="28283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A5276"/>
                </a:solidFill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3990975" y="3390900"/>
                <a:ext cx="171831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数据预处理与清洗</a:t>
                </a:r>
                <a:endPara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3577590" y="3725228"/>
                <a:ext cx="16998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Preprocessing &amp; Cleaning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3578542" y="3961924"/>
                <a:ext cx="153945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缺失值/噪声/不一致/重复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3578542" y="4133374"/>
                <a:ext cx="127942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清洗→集成→归约→变换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3578542" y="4361974"/>
                <a:ext cx="4668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# 概念6</a:t>
                </a:r>
                <a:endParaRPr lang="zh-CN" sz="97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6191250" y="3095625"/>
              <a:ext cx="2571750" cy="1619250"/>
              <a:chOff x="6191250" y="3095625"/>
              <a:chExt cx="2571750" cy="1619250"/>
            </a:xfrm>
          </p:grpSpPr>
          <p:sp>
            <p:nvSpPr>
              <p:cNvPr id="82" name="Rectangle 82"/>
              <p:cNvSpPr/>
              <p:nvPr/>
            </p:nvSpPr>
            <p:spPr>
              <a:xfrm>
                <a:off x="6191250" y="3095625"/>
                <a:ext cx="2571750" cy="1619250"/>
              </a:xfrm>
              <a:prstGeom prst="roundRect">
                <a:avLst>
                  <a:gd name="adj" fmla="val 5882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83" name="Rectangle 83"/>
              <p:cNvSpPr/>
              <p:nvPr/>
            </p:nvSpPr>
            <p:spPr>
              <a:xfrm>
                <a:off x="6191250" y="309562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grpSp>
            <p:nvGrpSpPr>
              <p:cNvPr id="86" name="Group 86"/>
              <p:cNvGrpSpPr/>
              <p:nvPr/>
            </p:nvGrpSpPr>
            <p:grpSpPr>
              <a:xfrm>
                <a:off x="6464300" y="3470275"/>
                <a:ext cx="177800" cy="60325"/>
                <a:chOff x="6464300" y="3470275"/>
                <a:chExt cx="177800" cy="60325"/>
              </a:xfrm>
            </p:grpSpPr>
            <p:sp>
              <p:nvSpPr>
                <p:cNvPr id="84" name="Freeform 84"/>
                <p:cNvSpPr/>
                <p:nvPr/>
              </p:nvSpPr>
              <p:spPr>
                <a:xfrm>
                  <a:off x="6464300" y="3470275"/>
                  <a:ext cx="177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9525">
                      <a:moveTo>
                        <a:pt x="0" y="0"/>
                      </a:moveTo>
                      <a:lnTo>
                        <a:pt x="17780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85" name="Freeform 85"/>
                <p:cNvSpPr/>
                <p:nvPr/>
              </p:nvSpPr>
              <p:spPr>
                <a:xfrm>
                  <a:off x="6464300" y="3521075"/>
                  <a:ext cx="177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9525">
                      <a:moveTo>
                        <a:pt x="0" y="0"/>
                      </a:moveTo>
                      <a:lnTo>
                        <a:pt x="17780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</p:grpSp>
          <p:sp>
            <p:nvSpPr>
              <p:cNvPr id="87" name="TextBox 87"/>
              <p:cNvSpPr txBox="1"/>
              <p:nvPr/>
            </p:nvSpPr>
            <p:spPr>
              <a:xfrm>
                <a:off x="6800850" y="3390900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标准化与归一化</a:t>
                </a:r>
                <a:endPara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6387465" y="3725228"/>
                <a:ext cx="219694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Normalization / Standardization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6388418" y="3961924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Z-score标准化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6388418" y="4133374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Min-Max归一化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6388418" y="4361974"/>
                <a:ext cx="4668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# 概念7</a:t>
                </a:r>
                <a:endParaRPr lang="zh-CN" sz="97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9001125" y="3095625"/>
              <a:ext cx="2619375" cy="1619250"/>
              <a:chOff x="9001125" y="3095625"/>
              <a:chExt cx="2619375" cy="1619250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9001125" y="3095625"/>
                <a:ext cx="2619375" cy="1619250"/>
              </a:xfrm>
              <a:prstGeom prst="roundRect">
                <a:avLst>
                  <a:gd name="adj" fmla="val 5882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94" name="Rectangle 94"/>
              <p:cNvSpPr/>
              <p:nvPr/>
            </p:nvSpPr>
            <p:spPr>
              <a:xfrm>
                <a:off x="9001125" y="3095625"/>
                <a:ext cx="2619375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grpSp>
            <p:nvGrpSpPr>
              <p:cNvPr id="97" name="Group 97"/>
              <p:cNvGrpSpPr/>
              <p:nvPr/>
            </p:nvGrpSpPr>
            <p:grpSpPr>
              <a:xfrm>
                <a:off x="9242425" y="3394075"/>
                <a:ext cx="241300" cy="203200"/>
                <a:chOff x="9242425" y="3394075"/>
                <a:chExt cx="241300" cy="203200"/>
              </a:xfrm>
            </p:grpSpPr>
            <p:sp>
              <p:nvSpPr>
                <p:cNvPr id="95" name="Freeform 95"/>
                <p:cNvSpPr/>
                <p:nvPr/>
              </p:nvSpPr>
              <p:spPr>
                <a:xfrm>
                  <a:off x="9242425" y="3394075"/>
                  <a:ext cx="241300" cy="203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300" h="203200">
                      <a:moveTo>
                        <a:pt x="31750" y="0"/>
                      </a:moveTo>
                      <a:cubicBezTo>
                        <a:pt x="0" y="63500"/>
                        <a:pt x="0" y="127000"/>
                        <a:pt x="31750" y="203200"/>
                      </a:cubicBezTo>
                      <a:moveTo>
                        <a:pt x="209550" y="0"/>
                      </a:moveTo>
                      <a:cubicBezTo>
                        <a:pt x="241300" y="63500"/>
                        <a:pt x="241300" y="127000"/>
                        <a:pt x="209550" y="203200"/>
                      </a:cubicBezTo>
                      <a:moveTo>
                        <a:pt x="82550" y="63500"/>
                      </a:moveTo>
                      <a:lnTo>
                        <a:pt x="95250" y="63500"/>
                      </a:lnTo>
                      <a:cubicBezTo>
                        <a:pt x="107950" y="63500"/>
                        <a:pt x="107950" y="76200"/>
                        <a:pt x="120853" y="108293"/>
                      </a:cubicBezTo>
                      <a:cubicBezTo>
                        <a:pt x="133350" y="139700"/>
                        <a:pt x="133350" y="152400"/>
                        <a:pt x="146050" y="152400"/>
                      </a:cubicBezTo>
                      <a:lnTo>
                        <a:pt x="158750" y="15240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96" name="Freeform 96"/>
                <p:cNvSpPr/>
                <p:nvPr/>
              </p:nvSpPr>
              <p:spPr>
                <a:xfrm>
                  <a:off x="9312275" y="3457575"/>
                  <a:ext cx="1016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88900">
                      <a:moveTo>
                        <a:pt x="0" y="88900"/>
                      </a:moveTo>
                      <a:cubicBezTo>
                        <a:pt x="19050" y="88900"/>
                        <a:pt x="38100" y="63500"/>
                        <a:pt x="50800" y="44450"/>
                      </a:cubicBezTo>
                      <a:cubicBezTo>
                        <a:pt x="63500" y="25400"/>
                        <a:pt x="82550" y="0"/>
                        <a:pt x="101600" y="0"/>
                      </a:cubicBez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</p:grpSp>
          <p:sp>
            <p:nvSpPr>
              <p:cNvPr id="98" name="TextBox 98"/>
              <p:cNvSpPr txBox="1"/>
              <p:nvPr/>
            </p:nvSpPr>
            <p:spPr>
              <a:xfrm>
                <a:off x="9610725" y="3390900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衍生变量</a:t>
                </a:r>
                <a:endPara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9197340" y="3725228"/>
                <a:ext cx="11188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Derived Variable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9198292" y="3961924"/>
                <a:ext cx="10778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多项式/比率/分箱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9198292" y="4133374"/>
                <a:ext cx="8763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时间/聚合特征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9198292" y="4361974"/>
                <a:ext cx="4668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# 概念8</a:t>
                </a:r>
                <a:endParaRPr lang="zh-CN" sz="97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105" name="TextBox 105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" y="244475"/>
            <a:ext cx="4114800" cy="312420"/>
          </a:xfrm>
        </p:spPr>
        <p:txBody>
          <a:bodyPr>
            <a:noAutofit/>
          </a:bodyPr>
          <a:p>
            <a:r>
              <a:rPr lang="zh-CN" sz="28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课堂笔记部分</a:t>
            </a:r>
            <a:endParaRPr lang="zh-CN" sz="2800" b="1" dirty="0">
              <a:solidFill>
                <a:srgbClr val="2C3E50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5" name="图片 64" descr="4415b28a9a14c87039f3a89be8ba2a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8630" y="676275"/>
            <a:ext cx="8035290" cy="60242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3b35577c04119e77a1a109f2a7243aa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3268980" y="-220980"/>
            <a:ext cx="51409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 descr="f2cec1e1ca42989b3f2d0fe9206fbd3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1645920" y="-510540"/>
            <a:ext cx="51409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1321d077dffbabdd7438fdc55dc70d7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614680" y="-995045"/>
            <a:ext cx="5140960" cy="6858000"/>
          </a:xfrm>
          <a:prstGeom prst="rect">
            <a:avLst/>
          </a:prstGeom>
        </p:spPr>
      </p:pic>
      <p:pic>
        <p:nvPicPr>
          <p:cNvPr id="4" name="图片 3" descr="2f0cc4d824300f851480cbea62bd0db3"/>
          <p:cNvPicPr>
            <a:picLocks noChangeAspect="1"/>
          </p:cNvPicPr>
          <p:nvPr/>
        </p:nvPicPr>
        <p:blipFill>
          <a:blip r:embed="rId2"/>
          <a:srcRect l="15909" r="32065"/>
          <a:stretch>
            <a:fillRect/>
          </a:stretch>
        </p:blipFill>
        <p:spPr>
          <a:xfrm rot="5400000">
            <a:off x="7367270" y="1939290"/>
            <a:ext cx="26746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-1428750"/>
            <a:ext cx="13335000" cy="8286750"/>
            <a:chOff x="0" y="-1428750"/>
            <a:chExt cx="13335000" cy="8286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620000" y="-1428750"/>
              <a:ext cx="5715000" cy="5715000"/>
            </a:xfrm>
            <a:prstGeom prst="ellipse">
              <a:avLst/>
            </a:prstGeom>
            <a:solidFill>
              <a:srgbClr val="1A5276">
                <a:alpha val="3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5330" y="382905"/>
              <a:ext cx="32583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一、大数据（Big Data）</a:t>
              </a:r>
              <a:endParaRPr lang="zh-CN" sz="21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143000"/>
            <a:ext cx="11049000" cy="590550"/>
            <a:chOff x="571500" y="1143000"/>
            <a:chExt cx="11049000" cy="590550"/>
          </a:xfrm>
        </p:grpSpPr>
        <p:sp>
          <p:nvSpPr>
            <p:cNvPr id="9" name="Rectangle 9"/>
            <p:cNvSpPr/>
            <p:nvPr/>
          </p:nvSpPr>
          <p:spPr>
            <a:xfrm>
              <a:off x="571500" y="1143000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20440" y="1280160"/>
              <a:ext cx="5151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大数据，又称海量数据，指的是以不同形式存在于数据库、网络等媒介上</a:t>
              </a:r>
              <a:endParaRPr lang="zh-CN" sz="12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80610" y="14897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蕴含丰富信息的规模巨大的数据。</a:t>
              </a:r>
              <a:endParaRPr lang="zh-CN" sz="12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4855" y="1949768"/>
            <a:ext cx="1055018" cy="274320"/>
            <a:chOff x="744855" y="1949768"/>
            <a:chExt cx="1055018" cy="274320"/>
          </a:xfrm>
        </p:grpSpPr>
        <p:sp>
          <p:nvSpPr>
            <p:cNvPr id="13" name="TextBox 13"/>
            <p:cNvSpPr txBox="1"/>
            <p:nvPr/>
          </p:nvSpPr>
          <p:spPr>
            <a:xfrm>
              <a:off x="744855" y="1949768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4V 基本特征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333625"/>
            <a:ext cx="11049000" cy="1905000"/>
            <a:chOff x="571500" y="2333625"/>
            <a:chExt cx="11049000" cy="1905000"/>
          </a:xfrm>
        </p:grpSpPr>
        <p:grpSp>
          <p:nvGrpSpPr>
            <p:cNvPr id="25" name="Group 25"/>
            <p:cNvGrpSpPr/>
            <p:nvPr/>
          </p:nvGrpSpPr>
          <p:grpSpPr>
            <a:xfrm>
              <a:off x="571500" y="2333625"/>
              <a:ext cx="2571750" cy="1905000"/>
              <a:chOff x="571500" y="2333625"/>
              <a:chExt cx="2571750" cy="1905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71500" y="2333625"/>
                <a:ext cx="257175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571500" y="233362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1730375" y="2619375"/>
                <a:ext cx="254000" cy="285750"/>
                <a:chOff x="1730375" y="2619375"/>
                <a:chExt cx="254000" cy="28575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1730375" y="2619375"/>
                  <a:ext cx="25400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0" h="95250">
                      <a:moveTo>
                        <a:pt x="0" y="47625"/>
                      </a:moveTo>
                      <a:cubicBezTo>
                        <a:pt x="0" y="73928"/>
                        <a:pt x="56860" y="95250"/>
                        <a:pt x="127000" y="95250"/>
                      </a:cubicBezTo>
                      <a:cubicBezTo>
                        <a:pt x="197140" y="95250"/>
                        <a:pt x="254000" y="73928"/>
                        <a:pt x="254000" y="47625"/>
                      </a:cubicBezTo>
                      <a:cubicBezTo>
                        <a:pt x="254000" y="21322"/>
                        <a:pt x="197140" y="0"/>
                        <a:pt x="127000" y="0"/>
                      </a:cubicBezTo>
                      <a:cubicBezTo>
                        <a:pt x="56860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730375" y="2667000"/>
                  <a:ext cx="25400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0" h="142875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21553"/>
                        <a:pt x="56860" y="142875"/>
                        <a:pt x="127000" y="142875"/>
                      </a:cubicBezTo>
                      <a:cubicBezTo>
                        <a:pt x="197140" y="142875"/>
                        <a:pt x="254000" y="121553"/>
                        <a:pt x="254000" y="95250"/>
                      </a:cubicBezTo>
                      <a:lnTo>
                        <a:pt x="25400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730375" y="2762250"/>
                  <a:ext cx="25400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0" h="142875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21553"/>
                        <a:pt x="56860" y="142875"/>
                        <a:pt x="127000" y="142875"/>
                      </a:cubicBezTo>
                      <a:cubicBezTo>
                        <a:pt x="197140" y="142875"/>
                        <a:pt x="254000" y="121553"/>
                        <a:pt x="254000" y="95250"/>
                      </a:cubicBezTo>
                      <a:lnTo>
                        <a:pt x="25400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460998" y="2412682"/>
                <a:ext cx="7927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Volume</a:t>
                </a:r>
                <a:endParaRPr lang="zh-CN" sz="16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73159" y="29975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数据体量巨大</a:t>
                </a:r>
                <a:endParaRPr lang="zh-CN" sz="13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1463" y="3287078"/>
                <a:ext cx="12518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TB/PB级别数据存储</a:t>
                </a:r>
                <a:endPara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82457" y="3887152"/>
                <a:ext cx="13498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挑战：存储怎么做？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3381375" y="2333625"/>
              <a:ext cx="2571750" cy="1905000"/>
              <a:chOff x="3381375" y="2333625"/>
              <a:chExt cx="2571750" cy="19050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3381375" y="2333625"/>
                <a:ext cx="257175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3381375" y="233362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4540250" y="2635250"/>
                <a:ext cx="254000" cy="254000"/>
                <a:chOff x="4540250" y="2635250"/>
                <a:chExt cx="254000" cy="25400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4540250" y="26352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0"/>
                      </a:lnTo>
                      <a:lnTo>
                        <a:pt x="95250" y="95250"/>
                      </a:lnTo>
                      <a:lnTo>
                        <a:pt x="0" y="9525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699000" y="26352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0"/>
                      </a:lnTo>
                      <a:lnTo>
                        <a:pt x="95250" y="95250"/>
                      </a:lnTo>
                      <a:lnTo>
                        <a:pt x="0" y="9525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540250" y="27940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0"/>
                      </a:lnTo>
                      <a:lnTo>
                        <a:pt x="95250" y="95250"/>
                      </a:lnTo>
                      <a:lnTo>
                        <a:pt x="0" y="9525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699000" y="279400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4230443" y="2412682"/>
                <a:ext cx="87361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Variety</a:t>
                </a:r>
                <a:endParaRPr lang="zh-CN" sz="16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083034" y="29975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数据类型繁多</a:t>
                </a:r>
                <a:endParaRPr lang="zh-CN" sz="13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806809" y="3287078"/>
                <a:ext cx="17208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结构化/半结构化/非结构化</a:t>
                </a:r>
                <a:endPara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918823" y="3887152"/>
                <a:ext cx="14968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挑战：多源如何融合？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191250" y="2333625"/>
              <a:ext cx="2571750" cy="1905000"/>
              <a:chOff x="6191250" y="2333625"/>
              <a:chExt cx="2571750" cy="19050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191250" y="2333625"/>
                <a:ext cx="2571750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191250" y="2333625"/>
                <a:ext cx="257175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7334250" y="2619375"/>
                <a:ext cx="285750" cy="285750"/>
                <a:chOff x="7334250" y="2619375"/>
                <a:chExt cx="285750" cy="285750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7334250" y="2619375"/>
                  <a:ext cx="222250" cy="22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222250">
                      <a:moveTo>
                        <a:pt x="0" y="111125"/>
                      </a:moveTo>
                      <a:cubicBezTo>
                        <a:pt x="0" y="172498"/>
                        <a:pt x="49752" y="222250"/>
                        <a:pt x="111125" y="222250"/>
                      </a:cubicBezTo>
                      <a:cubicBezTo>
                        <a:pt x="172498" y="222250"/>
                        <a:pt x="222250" y="172498"/>
                        <a:pt x="222250" y="111125"/>
                      </a:cubicBezTo>
                      <a:cubicBezTo>
                        <a:pt x="222250" y="49752"/>
                        <a:pt x="172498" y="0"/>
                        <a:pt x="111125" y="0"/>
                      </a:cubicBezTo>
                      <a:cubicBezTo>
                        <a:pt x="49752" y="0"/>
                        <a:pt x="0" y="49752"/>
                        <a:pt x="0" y="111125"/>
                      </a:cubicBez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524750" y="28098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952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7167384" y="2412682"/>
                <a:ext cx="61948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Value</a:t>
                </a:r>
                <a:endParaRPr lang="zh-CN" sz="16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987421" y="299751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价值密度低</a:t>
                </a:r>
                <a:endParaRPr lang="zh-CN" sz="13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553676" y="3287078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海量数据中高价值信息占比低</a:t>
                </a:r>
                <a:endPara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728698" y="3887152"/>
                <a:ext cx="14968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挑战：如何挖掘价值？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9001125" y="2333625"/>
              <a:ext cx="2619375" cy="1905000"/>
              <a:chOff x="9001125" y="2333625"/>
              <a:chExt cx="2619375" cy="19050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9001125" y="2333625"/>
                <a:ext cx="2619375" cy="1905000"/>
              </a:xfrm>
              <a:prstGeom prst="roundRect">
                <a:avLst>
                  <a:gd name="adj" fmla="val 50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9001125" y="2333625"/>
                <a:ext cx="2619375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10179050" y="2629125"/>
                <a:ext cx="254000" cy="266250"/>
                <a:chOff x="10179050" y="2629125"/>
                <a:chExt cx="254000" cy="266250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10179050" y="2629125"/>
                  <a:ext cx="254000" cy="11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0" h="117250">
                      <a:moveTo>
                        <a:pt x="254000" y="117250"/>
                      </a:moveTo>
                      <a:cubicBezTo>
                        <a:pt x="246019" y="59823"/>
                        <a:pt x="200594" y="14839"/>
                        <a:pt x="143092" y="7420"/>
                      </a:cubicBezTo>
                      <a:cubicBezTo>
                        <a:pt x="85590" y="0"/>
                        <a:pt x="30234" y="31980"/>
                        <a:pt x="7937" y="85500"/>
                      </a:cubicBezTo>
                      <a:moveTo>
                        <a:pt x="0" y="22000"/>
                      </a:moveTo>
                      <a:lnTo>
                        <a:pt x="0" y="85500"/>
                      </a:lnTo>
                      <a:lnTo>
                        <a:pt x="63500" y="8550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0179050" y="2778125"/>
                  <a:ext cx="254000" cy="11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0" h="117250">
                      <a:moveTo>
                        <a:pt x="0" y="0"/>
                      </a:moveTo>
                      <a:cubicBezTo>
                        <a:pt x="7981" y="57427"/>
                        <a:pt x="53406" y="102411"/>
                        <a:pt x="110908" y="109830"/>
                      </a:cubicBezTo>
                      <a:cubicBezTo>
                        <a:pt x="168410" y="117250"/>
                        <a:pt x="223766" y="85270"/>
                        <a:pt x="246062" y="31750"/>
                      </a:cubicBezTo>
                      <a:moveTo>
                        <a:pt x="254000" y="95250"/>
                      </a:moveTo>
                      <a:lnTo>
                        <a:pt x="254000" y="31750"/>
                      </a:lnTo>
                      <a:lnTo>
                        <a:pt x="190500" y="3175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9834589" y="2412682"/>
                <a:ext cx="94292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Velocity</a:t>
                </a:r>
                <a:endParaRPr lang="zh-CN" sz="16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816346" y="299751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处理速度快</a:t>
                </a:r>
                <a:endParaRPr lang="zh-CN" sz="13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624131" y="3287078"/>
                <a:ext cx="13638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实时/近实时处理需求</a:t>
                </a:r>
                <a:endPara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631132" y="3887152"/>
                <a:ext cx="13498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挑战：计算速度要求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571500" y="4524375"/>
            <a:ext cx="11049000" cy="476250"/>
            <a:chOff x="571500" y="4524375"/>
            <a:chExt cx="11049000" cy="476250"/>
          </a:xfrm>
        </p:grpSpPr>
        <p:sp>
          <p:nvSpPr>
            <p:cNvPr id="59" name="Rectangle 59"/>
            <p:cNvSpPr/>
            <p:nvPr/>
          </p:nvSpPr>
          <p:spPr>
            <a:xfrm>
              <a:off x="571500" y="4524375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1A5276">
                <a:alpha val="6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980498" y="4680585"/>
              <a:ext cx="42310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何为大数据？数据量大、数据结构复杂、应用场景众多！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6477000"/>
            <a:ext cx="11049000" cy="276225"/>
            <a:chOff x="571500" y="6477000"/>
            <a:chExt cx="11049000" cy="276225"/>
          </a:xfrm>
        </p:grpSpPr>
        <p:sp>
          <p:nvSpPr>
            <p:cNvPr id="62" name="Line 62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18562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58" grpId="0"/>
      <p:bldP spid="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382905"/>
              <a:ext cx="402283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二、数据挖掘（Data Mining）</a:t>
              </a:r>
              <a:endParaRPr lang="zh-CN" sz="21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143000"/>
            <a:ext cx="11049000" cy="816769"/>
            <a:chOff x="571500" y="1143000"/>
            <a:chExt cx="11049000" cy="816769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11049000" cy="809625"/>
            </a:xfrm>
            <a:prstGeom prst="roundRect">
              <a:avLst>
                <a:gd name="adj" fmla="val 9412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00700" y="12801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数据挖掘是从</a:t>
              </a:r>
              <a:endParaRPr lang="zh-CN" sz="12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03520" y="176164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经典概念：每一个点都重要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4855" y="2140268"/>
            <a:ext cx="1253492" cy="274320"/>
            <a:chOff x="744855" y="2140268"/>
            <a:chExt cx="1253492" cy="274320"/>
          </a:xfrm>
        </p:grpSpPr>
        <p:sp>
          <p:nvSpPr>
            <p:cNvPr id="11" name="TextBox 11"/>
            <p:cNvSpPr txBox="1"/>
            <p:nvPr/>
          </p:nvSpPr>
          <p:spPr>
            <a:xfrm>
              <a:off x="744855" y="2140268"/>
              <a:ext cx="1253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DIKW 层级体系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2619375"/>
            <a:ext cx="10668000" cy="666750"/>
            <a:chOff x="571500" y="2619375"/>
            <a:chExt cx="10668000" cy="666750"/>
          </a:xfrm>
        </p:grpSpPr>
        <p:sp>
          <p:nvSpPr>
            <p:cNvPr id="13" name="Line 13"/>
            <p:cNvSpPr/>
            <p:nvPr/>
          </p:nvSpPr>
          <p:spPr>
            <a:xfrm>
              <a:off x="1333500" y="29527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rgbClr val="3498DB"/>
              </a:solidFill>
              <a:prstDash val="lgDash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71500" y="2619375"/>
              <a:ext cx="1524000" cy="666750"/>
              <a:chOff x="571500" y="2619375"/>
              <a:chExt cx="1524000" cy="666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571500" y="2619375"/>
                <a:ext cx="15240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98978" y="2778442"/>
                <a:ext cx="46904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 据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89028" y="3046095"/>
                <a:ext cx="68894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8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气温、湿度…</a:t>
                </a:r>
                <a:endParaRPr lang="zh-CN" sz="900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857500" y="2619375"/>
              <a:ext cx="1524000" cy="666750"/>
              <a:chOff x="2857500" y="2619375"/>
              <a:chExt cx="1524000" cy="666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857500" y="2619375"/>
                <a:ext cx="15240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384978" y="2778442"/>
                <a:ext cx="46904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信 息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308032" y="3046095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8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天上一朵云</a:t>
                </a:r>
                <a:endParaRPr lang="zh-CN" sz="900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5143500" y="2619375"/>
              <a:ext cx="1524000" cy="666750"/>
              <a:chOff x="5143500" y="2619375"/>
              <a:chExt cx="1524000" cy="666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143500" y="2619375"/>
                <a:ext cx="15240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670978" y="2778442"/>
                <a:ext cx="46904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知 识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594032" y="3046095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8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乌云会下雨</a:t>
                </a:r>
                <a:endParaRPr lang="zh-CN" sz="900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7429500" y="2619375"/>
              <a:ext cx="1524000" cy="666750"/>
              <a:chOff x="7429500" y="2619375"/>
              <a:chExt cx="1524000" cy="6667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429500" y="2619375"/>
                <a:ext cx="15240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5DADE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956978" y="2778442"/>
                <a:ext cx="46904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情 报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63018" y="3046095"/>
                <a:ext cx="85696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8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今天3:10下暴雨</a:t>
                </a:r>
                <a:endParaRPr lang="zh-CN" sz="900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715500" y="2619375"/>
              <a:ext cx="1524000" cy="666750"/>
              <a:chOff x="9715500" y="2619375"/>
              <a:chExt cx="1524000" cy="6667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9715500" y="2619375"/>
                <a:ext cx="152400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85C1E9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242978" y="2778442"/>
                <a:ext cx="46904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智 慧</a:t>
                </a:r>
                <a:endPara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986010" y="3046095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及时收割或预防！</a:t>
                </a:r>
                <a:endParaRPr lang="zh-CN" sz="900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571500" y="3616642"/>
            <a:ext cx="11049000" cy="1193483"/>
            <a:chOff x="571500" y="3616642"/>
            <a:chExt cx="11049000" cy="1193483"/>
          </a:xfrm>
        </p:grpSpPr>
        <p:sp>
          <p:nvSpPr>
            <p:cNvPr id="35" name="TextBox 35"/>
            <p:cNvSpPr txBox="1"/>
            <p:nvPr/>
          </p:nvSpPr>
          <p:spPr>
            <a:xfrm>
              <a:off x="744855" y="36166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相关概念关系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" y="3952875"/>
              <a:ext cx="11049000" cy="857250"/>
            </a:xfrm>
            <a:prstGeom prst="roundRect">
              <a:avLst>
                <a:gd name="adj" fmla="val 11111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64483" y="4137660"/>
              <a:ext cx="44630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人工智能</a:t>
              </a:r>
              <a:r>
                <a:rPr lang="zh-CN" sz="12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⊃ </a:t>
              </a:r>
              <a:r>
                <a: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机器学习 (ML)</a:t>
              </a:r>
              <a:r>
                <a:rPr lang="zh-CN" sz="12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⊃ </a:t>
              </a:r>
              <a:r>
                <a:rPr lang="zh-CN" sz="120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神经网络 (NN)</a:t>
              </a:r>
              <a:r>
                <a:rPr lang="zh-CN" sz="12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⊃ </a:t>
              </a:r>
              <a:r>
                <a:rPr lang="zh-CN" sz="1200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深度学习 (DNN)</a:t>
              </a:r>
              <a:endParaRPr lang="zh-CN" sz="1200" b="1" dirty="0">
                <a:solidFill>
                  <a:srgbClr val="5DAD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42472" y="443960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数据挖掘与机器学习交叉融合，共享大量核心算法</a:t>
              </a:r>
              <a:endParaRPr lang="zh-CN" sz="105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5048250"/>
            <a:ext cx="11049000" cy="476250"/>
            <a:chOff x="571500" y="5048250"/>
            <a:chExt cx="11049000" cy="476250"/>
          </a:xfrm>
        </p:grpSpPr>
        <p:sp>
          <p:nvSpPr>
            <p:cNvPr id="40" name="Rectangle 40"/>
            <p:cNvSpPr/>
            <p:nvPr/>
          </p:nvSpPr>
          <p:spPr>
            <a:xfrm>
              <a:off x="571500" y="504825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1A5276">
                <a:alpha val="6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155784" y="5212556"/>
              <a:ext cx="58804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数据挖掘是大数据价值链上的关键一环 — 从数据到知识、从信息到智慧的核心转换器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6477000"/>
            <a:ext cx="11049000" cy="276225"/>
            <a:chOff x="571500" y="6477000"/>
            <a:chExt cx="11049000" cy="276225"/>
          </a:xfrm>
        </p:grpSpPr>
        <p:sp>
          <p:nvSpPr>
            <p:cNvPr id="43" name="Line 43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18562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34" grpId="0"/>
      <p:bldP spid="39" grpId="0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382905"/>
              <a:ext cx="524308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三、数据降维（Dimension Reduction）</a:t>
              </a:r>
              <a:endParaRPr lang="zh-CN" sz="21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143000"/>
            <a:ext cx="11049000" cy="583406"/>
            <a:chOff x="571500" y="1143000"/>
            <a:chExt cx="11049000" cy="583406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56384" y="1288256"/>
              <a:ext cx="5279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通过线性或非线性变换将原始高维特征空间映射到低维空间，消除冗余和噪声、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26568" y="1497806"/>
              <a:ext cx="23388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降低计算复杂度、缓解 </a:t>
              </a:r>
              <a:r>
                <a: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"维度灾难"</a:t>
              </a:r>
              <a:endParaRPr lang="zh-CN" sz="112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1949768"/>
            <a:ext cx="11049000" cy="3717607"/>
            <a:chOff x="571500" y="1949768"/>
            <a:chExt cx="11049000" cy="3717607"/>
          </a:xfrm>
        </p:grpSpPr>
        <p:sp>
          <p:nvSpPr>
            <p:cNvPr id="11" name="TextBox 11"/>
            <p:cNvSpPr txBox="1"/>
            <p:nvPr/>
          </p:nvSpPr>
          <p:spPr>
            <a:xfrm>
              <a:off x="744855" y="194976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两种经典方法对比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571500" y="2333625"/>
              <a:ext cx="5334000" cy="3333750"/>
              <a:chOff x="571500" y="2333625"/>
              <a:chExt cx="5334000" cy="33337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71500" y="2333625"/>
                <a:ext cx="5334000" cy="3333750"/>
              </a:xfrm>
              <a:prstGeom prst="roundRect">
                <a:avLst>
                  <a:gd name="adj" fmla="val 285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571500" y="233362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3000375" y="2619375"/>
                <a:ext cx="285750" cy="285750"/>
                <a:chOff x="3000375" y="2619375"/>
                <a:chExt cx="285750" cy="28575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3032125" y="26511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63500"/>
                      </a:moveTo>
                      <a:lnTo>
                        <a:pt x="63500" y="63500"/>
                      </a:lnTo>
                      <a:lnTo>
                        <a:pt x="6350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3000375" y="26193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3032125" y="280987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63500" y="0"/>
                      </a:lnTo>
                      <a:lnTo>
                        <a:pt x="63500" y="6350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3000375" y="28098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9525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190875" y="26511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63500" y="63500"/>
                      </a:moveTo>
                      <a:lnTo>
                        <a:pt x="0" y="635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190875" y="26193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9525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3190875" y="280987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63500" y="0"/>
                      </a:moveTo>
                      <a:lnTo>
                        <a:pt x="0" y="0"/>
                      </a:lnTo>
                      <a:lnTo>
                        <a:pt x="0" y="6350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3190875" y="28098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0"/>
                      </a:moveTo>
                      <a:lnTo>
                        <a:pt x="95250" y="9525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3217545" y="2641282"/>
                <a:ext cx="42310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PCA</a:t>
                </a:r>
                <a:endParaRPr lang="zh-CN" sz="16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21233" y="2689860"/>
                <a:ext cx="224675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Principal Component Analysis</a:t>
                </a:r>
                <a:endPara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42010" y="310896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主成分分析</a:t>
                </a:r>
                <a:endPara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43915" y="3363278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线性降维方法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857250" y="3667125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43915" y="379190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通过正交变换将可能相关的变量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43915" y="398240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转换为线性不相关的主成分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43915" y="4220528"/>
                <a:ext cx="22039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按方差大小排序，保留前k个主成分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857250" y="4572000"/>
                <a:ext cx="47625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1A5276">
                  <a:alpha val="8000"/>
                </a:srgbClr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245042" y="470630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5276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适用于数据压缩、去噪、可视化</a:t>
                </a:r>
                <a:endParaRPr lang="zh-CN" sz="10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5156073" y="2333625"/>
              <a:ext cx="6464427" cy="3333750"/>
              <a:chOff x="5156073" y="2333625"/>
              <a:chExt cx="6464427" cy="33337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286500" y="2333625"/>
                <a:ext cx="5334000" cy="3333750"/>
              </a:xfrm>
              <a:prstGeom prst="roundRect">
                <a:avLst>
                  <a:gd name="adj" fmla="val 285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6286500" y="233362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8715375" y="2619375"/>
                <a:ext cx="285750" cy="285750"/>
                <a:chOff x="8715375" y="2619375"/>
                <a:chExt cx="285750" cy="285750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8826500" y="261937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3498DB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715375" y="28416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3498DB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937625" y="28416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3498DB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770938" y="2778125"/>
                  <a:ext cx="174625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5" h="71438">
                      <a:moveTo>
                        <a:pt x="0" y="71438"/>
                      </a:moveTo>
                      <a:lnTo>
                        <a:pt x="87312" y="0"/>
                      </a:lnTo>
                      <a:lnTo>
                        <a:pt x="174625" y="71438"/>
                      </a:lnTo>
                    </a:path>
                  </a:pathLst>
                </a:custGeom>
                <a:noFill/>
                <a:ln w="19050">
                  <a:solidFill>
                    <a:srgbClr val="3498DB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8858250" y="2682875"/>
                  <a:ext cx="95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0">
                      <a:moveTo>
                        <a:pt x="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rgbClr val="3498DB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8932545" y="2641282"/>
                <a:ext cx="67723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t-SNE</a:t>
                </a:r>
                <a:endParaRPr lang="zh-CN" sz="165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156073" y="2689860"/>
                <a:ext cx="352691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t-Distributed Stochastic Neighbor Embedding</a:t>
                </a:r>
                <a:endPara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557010" y="3108960"/>
                <a:ext cx="14670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t分布随机邻域嵌入</a:t>
                </a:r>
                <a:endParaRPr lang="zh-CN" sz="12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558915" y="3363278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非线性降维方法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6572250" y="3667125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558915" y="37919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适用于高维数据的可视化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558915" y="398240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保留数据的局部结构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558915" y="4220528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将相似的数据点在低维空间中聚集</a:t>
                </a:r>
                <a:endPara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6572250" y="4572000"/>
                <a:ext cx="47625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3498DB">
                  <a:alpha val="8000"/>
                </a:srgbClr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960042" y="470630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498D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适用于探索性数据分析、可视化</a:t>
                </a:r>
                <a:endParaRPr lang="zh-CN" sz="1050" dirty="0">
                  <a:solidFill>
                    <a:srgbClr val="3498D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571500" y="6477000"/>
            <a:ext cx="11049000" cy="276225"/>
            <a:chOff x="571500" y="6477000"/>
            <a:chExt cx="11049000" cy="276225"/>
          </a:xfrm>
        </p:grpSpPr>
        <p:sp>
          <p:nvSpPr>
            <p:cNvPr id="54" name="Line 54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018562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382905"/>
              <a:ext cx="349357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四、有监督 vs 无监督学习</a:t>
              </a:r>
              <a:endParaRPr lang="zh-CN" sz="21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678656"/>
              <a:ext cx="33589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Supervised Learning vs Unsupervised Learning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571500" y="1190625"/>
            <a:ext cx="11049000" cy="4181475"/>
            <a:chOff x="571500" y="1190625"/>
            <a:chExt cx="11049000" cy="4181475"/>
          </a:xfrm>
        </p:grpSpPr>
        <p:sp>
          <p:nvSpPr>
            <p:cNvPr id="8" name="Rectangle 8"/>
            <p:cNvSpPr/>
            <p:nvPr/>
          </p:nvSpPr>
          <p:spPr>
            <a:xfrm>
              <a:off x="571500" y="1190625"/>
              <a:ext cx="2476500" cy="419100"/>
            </a:xfrm>
            <a:prstGeom prst="roundRect">
              <a:avLst>
                <a:gd name="adj" fmla="val 22727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400175"/>
              <a:ext cx="2476500" cy="209550"/>
            </a:xfrm>
            <a:prstGeom prst="rect">
              <a:avLst/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58468" y="13373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对比维度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048000" y="1190625"/>
              <a:ext cx="4286250" cy="419100"/>
            </a:xfrm>
            <a:prstGeom prst="roundRect">
              <a:avLst>
                <a:gd name="adj" fmla="val 22727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048000" y="1400175"/>
              <a:ext cx="4286250" cy="209550"/>
            </a:xfrm>
            <a:prstGeom prst="rect">
              <a:avLst/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55832" y="13373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有监督学习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334250" y="1190625"/>
              <a:ext cx="4286250" cy="419100"/>
            </a:xfrm>
            <a:prstGeom prst="roundRect">
              <a:avLst>
                <a:gd name="adj" fmla="val 22727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334250" y="1400175"/>
              <a:ext cx="4286250" cy="209550"/>
            </a:xfrm>
            <a:prstGeom prst="rect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42082" y="13373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无监督学习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1609725"/>
              <a:ext cx="2476500" cy="714375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7712" y="18978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训练数据</a:t>
              </a:r>
              <a:endParaRPr lang="zh-CN" sz="112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048000" y="1609725"/>
              <a:ext cx="4286250" cy="7143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224212" y="1897856"/>
              <a:ext cx="23538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有标签（Label），已知类别或数值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334250" y="1609725"/>
              <a:ext cx="4286250" cy="714375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10462" y="18978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无标签，只有输入特征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71500" y="2324100"/>
              <a:ext cx="2476500" cy="7143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7712" y="26122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学习目标</a:t>
              </a:r>
              <a:endParaRPr lang="zh-CN" sz="112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048000" y="2324100"/>
              <a:ext cx="4286250" cy="714375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224212" y="261223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学习输入到输出的映射，预测新数据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334250" y="2324100"/>
              <a:ext cx="4286250" cy="7143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10462" y="2612231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发现数据内在的结构、分布或模式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3038475"/>
              <a:ext cx="2476500" cy="714375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7712" y="33266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典型任务</a:t>
              </a:r>
              <a:endParaRPr lang="zh-CN" sz="112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3038475"/>
              <a:ext cx="4286250" cy="7143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24212" y="332660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分类、回归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334250" y="3038475"/>
              <a:ext cx="4286250" cy="714375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10462" y="33266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聚类、关联规则、降维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71500" y="3752850"/>
              <a:ext cx="2476500" cy="9048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7712" y="41171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代表算法</a:t>
              </a:r>
              <a:endParaRPr lang="zh-CN" sz="112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048000" y="3752850"/>
              <a:ext cx="4286250" cy="904875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25165" y="4030028"/>
              <a:ext cx="12168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决策树、KNN、SVM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25165" y="4249102"/>
              <a:ext cx="15528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Logistic回归、神经网络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334250" y="3752850"/>
              <a:ext cx="4286250" cy="9048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11415" y="4030028"/>
              <a:ext cx="1895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K-means、层次聚类、DBSCAN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11415" y="42491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Apriori、PCA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71500" y="4657725"/>
              <a:ext cx="2476500" cy="714375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7712" y="49649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先验知识</a:t>
              </a:r>
              <a:endParaRPr lang="zh-CN" sz="1125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048000" y="4657725"/>
              <a:ext cx="4286250" cy="7143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224212" y="4964906"/>
              <a:ext cx="18438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需要已有标注的"正确答案"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334250" y="4657725"/>
              <a:ext cx="4286250" cy="714375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10462" y="49649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无需先验知识，自动探索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5619750"/>
            <a:ext cx="11049000" cy="476250"/>
            <a:chOff x="571500" y="5619750"/>
            <a:chExt cx="11049000" cy="476250"/>
          </a:xfrm>
        </p:grpSpPr>
        <p:sp>
          <p:nvSpPr>
            <p:cNvPr id="50" name="Rectangle 50"/>
            <p:cNvSpPr/>
            <p:nvPr/>
          </p:nvSpPr>
          <p:spPr>
            <a:xfrm>
              <a:off x="571500" y="561975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1A5276">
                <a:alpha val="6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230606" y="5784056"/>
              <a:ext cx="57307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核心区别：有监督需要标签，解决"已知问题"；无监督无需标签，发现"未知模式"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6477000"/>
            <a:ext cx="11049000" cy="276225"/>
            <a:chOff x="571500" y="6477000"/>
            <a:chExt cx="11049000" cy="276225"/>
          </a:xfrm>
        </p:grpSpPr>
        <p:sp>
          <p:nvSpPr>
            <p:cNvPr id="53" name="Line 53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18562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06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476250" y="-952500"/>
            <a:ext cx="12858750" cy="9525000"/>
            <a:chOff x="-476250" y="-952500"/>
            <a:chExt cx="12858750" cy="9525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-476250" y="3810000"/>
              <a:ext cx="4762500" cy="4762500"/>
            </a:xfrm>
            <a:prstGeom prst="ellipse">
              <a:avLst/>
            </a:prstGeom>
            <a:solidFill>
              <a:srgbClr val="3498DB">
                <a:alpha val="3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572500" y="-952500"/>
              <a:ext cx="3810000" cy="3810000"/>
            </a:xfrm>
            <a:prstGeom prst="ellipse">
              <a:avLst/>
            </a:prstGeom>
            <a:solidFill>
              <a:srgbClr val="1A5276">
                <a:alpha val="3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6" name="Rectangle 6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5330" y="382905"/>
              <a:ext cx="328774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五、数据类型的三种形态</a:t>
              </a:r>
              <a:endParaRPr lang="zh-CN" sz="21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678656"/>
              <a:ext cx="37940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Structured / Semi-Structured / Unstructured Data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571500" y="1238250"/>
            <a:ext cx="11039475" cy="4191000"/>
            <a:chOff x="571500" y="1238250"/>
            <a:chExt cx="11039475" cy="4191000"/>
          </a:xfrm>
        </p:grpSpPr>
        <p:grpSp>
          <p:nvGrpSpPr>
            <p:cNvPr id="32" name="Group 32"/>
            <p:cNvGrpSpPr/>
            <p:nvPr/>
          </p:nvGrpSpPr>
          <p:grpSpPr>
            <a:xfrm>
              <a:off x="571500" y="1238250"/>
              <a:ext cx="3476625" cy="4191000"/>
              <a:chOff x="571500" y="1238250"/>
              <a:chExt cx="3476625" cy="4191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238250"/>
                <a:ext cx="3476625" cy="4191000"/>
              </a:xfrm>
              <a:prstGeom prst="roundRect">
                <a:avLst>
                  <a:gd name="adj" fmla="val 274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71500" y="123825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2066925" y="1571625"/>
                <a:ext cx="285750" cy="285750"/>
                <a:chOff x="2066925" y="1571625"/>
                <a:chExt cx="285750" cy="28575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066925" y="1571625"/>
                  <a:ext cx="2857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285750">
                      <a:moveTo>
                        <a:pt x="0" y="31750"/>
                      </a:move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254000" y="0"/>
                      </a:lnTo>
                      <a:cubicBezTo>
                        <a:pt x="271535" y="0"/>
                        <a:pt x="285750" y="14215"/>
                        <a:pt x="285750" y="31750"/>
                      </a:cubicBezTo>
                      <a:lnTo>
                        <a:pt x="285750" y="254000"/>
                      </a:lnTo>
                      <a:cubicBezTo>
                        <a:pt x="285750" y="271535"/>
                        <a:pt x="271535" y="285750"/>
                        <a:pt x="254000" y="285750"/>
                      </a:cubicBezTo>
                      <a:lnTo>
                        <a:pt x="31750" y="285750"/>
                      </a:lnTo>
                      <a:cubicBezTo>
                        <a:pt x="14215" y="285750"/>
                        <a:pt x="0" y="271535"/>
                        <a:pt x="0" y="254000"/>
                      </a:cubicBezTo>
                      <a:lnTo>
                        <a:pt x="0" y="3175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2066925" y="1682750"/>
                  <a:ext cx="285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9525">
                      <a:moveTo>
                        <a:pt x="0" y="0"/>
                      </a:moveTo>
                      <a:lnTo>
                        <a:pt x="28575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2178050" y="1571625"/>
                  <a:ext cx="9525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0">
                      <a:moveTo>
                        <a:pt x="0" y="0"/>
                      </a:moveTo>
                      <a:lnTo>
                        <a:pt x="0" y="28575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2286000" y="16097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结构化数据</a:t>
                </a:r>
                <a:endPara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43915" y="207740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定义</a:t>
                </a:r>
                <a:endPara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44868" y="2295049"/>
                <a:ext cx="19750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具有明确的行列结构，可用二维表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44868" y="24664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逻辑表达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857250" y="2762250"/>
                <a:ext cx="2905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05125" h="9525">
                    <a:moveTo>
                      <a:pt x="0" y="0"/>
                    </a:moveTo>
                    <a:lnTo>
                      <a:pt x="2905125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43915" y="2887028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示例</a:t>
                </a:r>
                <a:endPara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44868" y="3133249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关系数据库中的客户表、订单表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44868" y="3323749"/>
                <a:ext cx="12924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Excel 表格、CSV 文件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857250" y="3619500"/>
                <a:ext cx="2905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05125" h="9525">
                    <a:moveTo>
                      <a:pt x="0" y="0"/>
                    </a:moveTo>
                    <a:lnTo>
                      <a:pt x="2905125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43915" y="3744278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特点</a:t>
                </a:r>
                <a:endPara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44868" y="39904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预定义的数据模型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44868" y="41619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严格的数据类型和约束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44868" y="433339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易于查询和分析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857250" y="4714875"/>
                <a:ext cx="2905125" cy="381000"/>
              </a:xfrm>
              <a:prstGeom prst="roundRect">
                <a:avLst>
                  <a:gd name="adj" fmla="val 15000"/>
                </a:avLst>
              </a:prstGeom>
              <a:solidFill>
                <a:srgbClr val="1A5276">
                  <a:alpha val="8000"/>
                </a:srgbClr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772602" y="4857274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A5276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传统数据仓库处理</a:t>
                </a:r>
                <a:endParaRPr lang="zh-CN" sz="97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352925" y="1238250"/>
              <a:ext cx="3476625" cy="4191000"/>
              <a:chOff x="4352925" y="1238250"/>
              <a:chExt cx="3476625" cy="41910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4352925" y="1238250"/>
                <a:ext cx="3476625" cy="4191000"/>
              </a:xfrm>
              <a:prstGeom prst="roundRect">
                <a:avLst>
                  <a:gd name="adj" fmla="val 274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4352925" y="123825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5880100" y="1571625"/>
                <a:ext cx="222250" cy="285750"/>
                <a:chOff x="5880100" y="1571625"/>
                <a:chExt cx="222250" cy="285750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6022975" y="1571625"/>
                  <a:ext cx="7937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79375">
                      <a:moveTo>
                        <a:pt x="0" y="0"/>
                      </a:moveTo>
                      <a:lnTo>
                        <a:pt x="0" y="63500"/>
                      </a:lnTo>
                      <a:cubicBezTo>
                        <a:pt x="0" y="72268"/>
                        <a:pt x="7107" y="79375"/>
                        <a:pt x="15875" y="79375"/>
                      </a:cubicBezTo>
                      <a:lnTo>
                        <a:pt x="79375" y="79375"/>
                      </a:lnTo>
                    </a:path>
                  </a:pathLst>
                </a:custGeom>
                <a:noFill/>
                <a:ln w="19050">
                  <a:solidFill>
                    <a:srgbClr val="3498DB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5880100" y="1571625"/>
                  <a:ext cx="2222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285750">
                      <a:moveTo>
                        <a:pt x="190500" y="285750"/>
                      </a:moveTo>
                      <a:lnTo>
                        <a:pt x="31750" y="285750"/>
                      </a:lnTo>
                      <a:cubicBezTo>
                        <a:pt x="14215" y="285750"/>
                        <a:pt x="0" y="271535"/>
                        <a:pt x="0" y="254000"/>
                      </a:cubicBez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142875" y="0"/>
                      </a:lnTo>
                      <a:lnTo>
                        <a:pt x="222250" y="79375"/>
                      </a:lnTo>
                      <a:lnTo>
                        <a:pt x="222250" y="254000"/>
                      </a:lnTo>
                      <a:cubicBezTo>
                        <a:pt x="222250" y="271535"/>
                        <a:pt x="208035" y="285750"/>
                        <a:pt x="190500" y="285750"/>
                      </a:cubicBezTo>
                    </a:path>
                  </a:pathLst>
                </a:custGeom>
                <a:noFill/>
                <a:ln w="19050">
                  <a:solidFill>
                    <a:srgbClr val="3498DB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5943600" y="1793875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3498DB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5943600" y="1730375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3498DB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6067425" y="1609725"/>
                <a:ext cx="12982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半结构化数据</a:t>
                </a:r>
                <a:endParaRPr lang="zh-CN" sz="150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625340" y="207740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定义</a:t>
                </a:r>
                <a:endPara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626292" y="2295049"/>
                <a:ext cx="17149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具有一定的结构但不严格遵循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626292" y="2466499"/>
                <a:ext cx="15199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数据模型，Schema自描述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4638675" y="2762250"/>
                <a:ext cx="2905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05125" h="9525">
                    <a:moveTo>
                      <a:pt x="0" y="0"/>
                    </a:moveTo>
                    <a:lnTo>
                      <a:pt x="2905125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625340" y="2887028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示例</a:t>
                </a:r>
                <a:endPara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626292" y="3133249"/>
                <a:ext cx="5643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XML 文档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626292" y="3323749"/>
                <a:ext cx="6358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JSON 数据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626292" y="3514249"/>
                <a:ext cx="6358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HTML 网页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Line 49"/>
              <p:cNvSpPr/>
              <p:nvPr/>
            </p:nvSpPr>
            <p:spPr>
              <a:xfrm>
                <a:off x="4638675" y="3810000"/>
                <a:ext cx="2905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05125" h="9525">
                    <a:moveTo>
                      <a:pt x="0" y="0"/>
                    </a:moveTo>
                    <a:lnTo>
                      <a:pt x="2905125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625340" y="3934778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特点</a:t>
                </a:r>
                <a:endPara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626292" y="418099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隐含结构而非显式定义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626292" y="43524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自描述标记语言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4638675" y="4714875"/>
                <a:ext cx="2905125" cy="381000"/>
              </a:xfrm>
              <a:prstGeom prst="roundRect">
                <a:avLst>
                  <a:gd name="adj" fmla="val 15000"/>
                </a:avLst>
              </a:prstGeom>
              <a:solidFill>
                <a:srgbClr val="3498DB">
                  <a:alpha val="8000"/>
                </a:srgbClr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5508522" y="4857274"/>
                <a:ext cx="11559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498D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Web API / 日志数据</a:t>
                </a:r>
                <a:endParaRPr lang="zh-CN" sz="975" dirty="0">
                  <a:solidFill>
                    <a:srgbClr val="3498D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8134350" y="1238250"/>
              <a:ext cx="3476625" cy="4191000"/>
              <a:chOff x="8134350" y="1238250"/>
              <a:chExt cx="3476625" cy="41910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8134350" y="1238250"/>
                <a:ext cx="3476625" cy="4191000"/>
              </a:xfrm>
              <a:prstGeom prst="roundRect">
                <a:avLst>
                  <a:gd name="adj" fmla="val 274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8134350" y="1238250"/>
                <a:ext cx="3476625" cy="5715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9661525" y="1571625"/>
                <a:ext cx="222250" cy="285750"/>
                <a:chOff x="9661525" y="1571625"/>
                <a:chExt cx="222250" cy="285750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9804400" y="1571625"/>
                  <a:ext cx="7937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79375">
                      <a:moveTo>
                        <a:pt x="0" y="0"/>
                      </a:moveTo>
                      <a:lnTo>
                        <a:pt x="0" y="63500"/>
                      </a:lnTo>
                      <a:cubicBezTo>
                        <a:pt x="0" y="72268"/>
                        <a:pt x="7107" y="79375"/>
                        <a:pt x="15875" y="79375"/>
                      </a:cubicBezTo>
                      <a:lnTo>
                        <a:pt x="79375" y="79375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9661525" y="1571625"/>
                  <a:ext cx="2222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285750">
                      <a:moveTo>
                        <a:pt x="190500" y="285750"/>
                      </a:moveTo>
                      <a:lnTo>
                        <a:pt x="31750" y="285750"/>
                      </a:lnTo>
                      <a:cubicBezTo>
                        <a:pt x="14215" y="285750"/>
                        <a:pt x="0" y="271535"/>
                        <a:pt x="0" y="254000"/>
                      </a:cubicBez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142875" y="0"/>
                      </a:lnTo>
                      <a:lnTo>
                        <a:pt x="222250" y="79375"/>
                      </a:lnTo>
                      <a:lnTo>
                        <a:pt x="222250" y="254000"/>
                      </a:lnTo>
                      <a:cubicBezTo>
                        <a:pt x="222250" y="271535"/>
                        <a:pt x="208035" y="285750"/>
                        <a:pt x="190500" y="285750"/>
                      </a:cubicBez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9725025" y="1793875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9725025" y="1730375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9848850" y="1609725"/>
                <a:ext cx="12982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非结构化数据</a:t>
                </a:r>
                <a:endParaRPr lang="zh-CN" sz="15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406765" y="207740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定义</a:t>
                </a:r>
                <a:endPara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407718" y="22950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没有预定义的数据模型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407718" y="246649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结构不规则或不完整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7" name="Line 67"/>
              <p:cNvSpPr/>
              <p:nvPr/>
            </p:nvSpPr>
            <p:spPr>
              <a:xfrm>
                <a:off x="8420100" y="2762250"/>
                <a:ext cx="2905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05125" h="9525">
                    <a:moveTo>
                      <a:pt x="0" y="0"/>
                    </a:moveTo>
                    <a:lnTo>
                      <a:pt x="2905125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8406765" y="2887028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示例</a:t>
                </a:r>
                <a:endPara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407718" y="313324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文本、邮件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407718" y="332374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图像、音频、视频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407718" y="351424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社交媒体帖子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2" name="Line 72"/>
              <p:cNvSpPr/>
              <p:nvPr/>
            </p:nvSpPr>
            <p:spPr>
              <a:xfrm>
                <a:off x="8420100" y="3810000"/>
                <a:ext cx="2905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05125" h="9525">
                    <a:moveTo>
                      <a:pt x="0" y="0"/>
                    </a:moveTo>
                    <a:lnTo>
                      <a:pt x="2905125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406765" y="3934778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特点</a:t>
                </a:r>
                <a:endPara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407718" y="41809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存储格式多样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407718" y="43524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分析处理难度大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8407718" y="4523899"/>
                <a:ext cx="11039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需要NLP/CV等技术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7" name="Rectangle 77"/>
              <p:cNvSpPr/>
              <p:nvPr/>
            </p:nvSpPr>
            <p:spPr>
              <a:xfrm>
                <a:off x="8420100" y="4714875"/>
                <a:ext cx="2905125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74C3C">
                  <a:alpha val="8000"/>
                </a:srgbClr>
              </a:solidFill>
              <a:ln>
                <a:noFill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9400461" y="4857274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E74C3C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大数据主要来源</a:t>
                </a:r>
                <a:endParaRPr lang="zh-CN" sz="975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571500" y="6477000"/>
            <a:ext cx="11049000" cy="276225"/>
            <a:chOff x="571500" y="6477000"/>
            <a:chExt cx="11049000" cy="276225"/>
          </a:xfrm>
        </p:grpSpPr>
        <p:sp>
          <p:nvSpPr>
            <p:cNvPr id="81" name="Line 81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018562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07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382905"/>
              <a:ext cx="35817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六、数据预处理与数据清洗</a:t>
              </a:r>
              <a:endParaRPr lang="zh-CN" sz="21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678656"/>
              <a:ext cx="21963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Data Preprocessing &amp; Cleaning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71500" y="1140142"/>
            <a:ext cx="11049000" cy="1479233"/>
            <a:chOff x="571500" y="1140142"/>
            <a:chExt cx="11049000" cy="1479233"/>
          </a:xfrm>
        </p:grpSpPr>
        <p:sp>
          <p:nvSpPr>
            <p:cNvPr id="8" name="TextBox 8"/>
            <p:cNvSpPr txBox="1"/>
            <p:nvPr/>
          </p:nvSpPr>
          <p:spPr>
            <a:xfrm>
              <a:off x="744855" y="1140142"/>
              <a:ext cx="23025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数据清洗：处理四大类问题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71500" y="1476375"/>
              <a:ext cx="2571750" cy="1143000"/>
              <a:chOff x="571500" y="1476375"/>
              <a:chExt cx="2571750" cy="1143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476375"/>
                <a:ext cx="257175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814388" y="1700212"/>
                <a:ext cx="200025" cy="200025"/>
                <a:chOff x="814388" y="1700212"/>
                <a:chExt cx="200025" cy="200025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14388" y="1700212"/>
                  <a:ext cx="155575" cy="15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55575">
                      <a:moveTo>
                        <a:pt x="0" y="77787"/>
                      </a:moveTo>
                      <a:cubicBezTo>
                        <a:pt x="0" y="120748"/>
                        <a:pt x="34827" y="155575"/>
                        <a:pt x="77788" y="155575"/>
                      </a:cubicBezTo>
                      <a:cubicBezTo>
                        <a:pt x="120748" y="155575"/>
                        <a:pt x="155575" y="120748"/>
                        <a:pt x="155575" y="77787"/>
                      </a:cubicBezTo>
                      <a:cubicBezTo>
                        <a:pt x="155575" y="34827"/>
                        <a:pt x="120748" y="0"/>
                        <a:pt x="77788" y="0"/>
                      </a:cubicBezTo>
                      <a:cubicBezTo>
                        <a:pt x="34827" y="0"/>
                        <a:pt x="0" y="34827"/>
                        <a:pt x="0" y="77787"/>
                      </a:cubicBez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947738" y="1833562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66675" y="6667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108710" y="171831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缺失值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8668" y="200929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删除含有缺失值的样本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8668" y="2199799"/>
                <a:ext cx="15979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填充（均值/中位数/众数）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8668" y="239029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插值法处理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381375" y="1476375"/>
              <a:ext cx="2571750" cy="1143000"/>
              <a:chOff x="3381375" y="1476375"/>
              <a:chExt cx="2571750" cy="1143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3381375" y="1476375"/>
                <a:ext cx="257175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3635375" y="1707037"/>
                <a:ext cx="177800" cy="186376"/>
                <a:chOff x="3635375" y="1707037"/>
                <a:chExt cx="177800" cy="186376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3635375" y="1707037"/>
                  <a:ext cx="177800" cy="8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82075">
                      <a:moveTo>
                        <a:pt x="177800" y="82075"/>
                      </a:moveTo>
                      <a:cubicBezTo>
                        <a:pt x="172213" y="41876"/>
                        <a:pt x="140416" y="10388"/>
                        <a:pt x="100164" y="5194"/>
                      </a:cubicBezTo>
                      <a:cubicBezTo>
                        <a:pt x="59913" y="0"/>
                        <a:pt x="21164" y="22386"/>
                        <a:pt x="5556" y="59850"/>
                      </a:cubicBezTo>
                      <a:moveTo>
                        <a:pt x="0" y="15400"/>
                      </a:moveTo>
                      <a:lnTo>
                        <a:pt x="0" y="59850"/>
                      </a:lnTo>
                      <a:lnTo>
                        <a:pt x="44450" y="5985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3635375" y="1811338"/>
                  <a:ext cx="177800" cy="8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82075">
                      <a:moveTo>
                        <a:pt x="0" y="0"/>
                      </a:moveTo>
                      <a:cubicBezTo>
                        <a:pt x="5587" y="40199"/>
                        <a:pt x="37384" y="71687"/>
                        <a:pt x="77636" y="76881"/>
                      </a:cubicBezTo>
                      <a:cubicBezTo>
                        <a:pt x="117887" y="82075"/>
                        <a:pt x="156636" y="59689"/>
                        <a:pt x="172244" y="22225"/>
                      </a:cubicBezTo>
                      <a:moveTo>
                        <a:pt x="177800" y="66675"/>
                      </a:moveTo>
                      <a:lnTo>
                        <a:pt x="177800" y="22225"/>
                      </a:lnTo>
                      <a:lnTo>
                        <a:pt x="133350" y="22225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3918585" y="17183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噪声数据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578542" y="20092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平滑处理（分箱）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578542" y="219979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聚类识别异常值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578542" y="23902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回归拟合修正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191250" y="1476375"/>
              <a:ext cx="2571750" cy="1143000"/>
              <a:chOff x="6191250" y="1476375"/>
              <a:chExt cx="2571750" cy="1143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191250" y="1476375"/>
                <a:ext cx="257175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6434138" y="1700212"/>
                <a:ext cx="200025" cy="200026"/>
                <a:chOff x="6434138" y="1700212"/>
                <a:chExt cx="200025" cy="200026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6434138" y="1700212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545262" y="1700212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88900" y="88900"/>
                      </a:moveTo>
                      <a:lnTo>
                        <a:pt x="88900" y="55563"/>
                      </a:lnTo>
                      <a:cubicBezTo>
                        <a:pt x="88900" y="43288"/>
                        <a:pt x="78950" y="33338"/>
                        <a:pt x="66675" y="33338"/>
                      </a:cubicBezTo>
                      <a:lnTo>
                        <a:pt x="0" y="33338"/>
                      </a:lnTo>
                      <a:lnTo>
                        <a:pt x="33338" y="66675"/>
                      </a:lnTo>
                      <a:moveTo>
                        <a:pt x="33338" y="0"/>
                      </a:moveTo>
                      <a:lnTo>
                        <a:pt x="0" y="33338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434138" y="1811338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0"/>
                      </a:moveTo>
                      <a:lnTo>
                        <a:pt x="0" y="33338"/>
                      </a:lnTo>
                      <a:cubicBezTo>
                        <a:pt x="0" y="45612"/>
                        <a:pt x="9950" y="55563"/>
                        <a:pt x="22225" y="55563"/>
                      </a:cubicBezTo>
                      <a:lnTo>
                        <a:pt x="88900" y="55563"/>
                      </a:lnTo>
                      <a:lnTo>
                        <a:pt x="55563" y="22225"/>
                      </a:lnTo>
                      <a:moveTo>
                        <a:pt x="55563" y="88900"/>
                      </a:moveTo>
                      <a:lnTo>
                        <a:pt x="88900" y="55563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6567488" y="1833562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6728460" y="171831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不一致数据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388418" y="200929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纠正编码不一致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388418" y="219979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统一单位不统一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388418" y="239029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格式标准化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9001125" y="1476375"/>
              <a:ext cx="2619375" cy="1143000"/>
              <a:chOff x="9001125" y="1476375"/>
              <a:chExt cx="2619375" cy="11430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9001125" y="1476375"/>
                <a:ext cx="2619375" cy="1143000"/>
              </a:xfrm>
              <a:prstGeom prst="roundRect">
                <a:avLst>
                  <a:gd name="adj" fmla="val 6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9244012" y="1700212"/>
                <a:ext cx="200025" cy="200025"/>
                <a:chOff x="9244012" y="1700212"/>
                <a:chExt cx="200025" cy="200025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9244012" y="1700212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77800" y="0"/>
                      </a:lnTo>
                      <a:cubicBezTo>
                        <a:pt x="190075" y="0"/>
                        <a:pt x="200025" y="9950"/>
                        <a:pt x="200025" y="22225"/>
                      </a:cubicBezTo>
                      <a:lnTo>
                        <a:pt x="200025" y="177800"/>
                      </a:lnTo>
                      <a:cubicBezTo>
                        <a:pt x="200025" y="190075"/>
                        <a:pt x="190075" y="200025"/>
                        <a:pt x="177800" y="200025"/>
                      </a:cubicBezTo>
                      <a:lnTo>
                        <a:pt x="22225" y="200025"/>
                      </a:lnTo>
                      <a:cubicBezTo>
                        <a:pt x="9950" y="200025"/>
                        <a:pt x="0" y="190075"/>
                        <a:pt x="0" y="177800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9244012" y="1778000"/>
                  <a:ext cx="2000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9525">
                      <a:moveTo>
                        <a:pt x="0" y="0"/>
                      </a:moveTo>
                      <a:lnTo>
                        <a:pt x="200025" y="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9321800" y="1700212"/>
                  <a:ext cx="95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0025">
                      <a:moveTo>
                        <a:pt x="0" y="0"/>
                      </a:moveTo>
                      <a:lnTo>
                        <a:pt x="0" y="200025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9538335" y="17183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重复数据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198292" y="20092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完全重复记录去重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198292" y="21997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部分重复合并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72" name="Group 72"/>
          <p:cNvGrpSpPr/>
          <p:nvPr/>
        </p:nvGrpSpPr>
        <p:grpSpPr>
          <a:xfrm>
            <a:off x="571500" y="2854642"/>
            <a:ext cx="11049000" cy="1336358"/>
            <a:chOff x="571500" y="2854642"/>
            <a:chExt cx="11049000" cy="1336358"/>
          </a:xfrm>
        </p:grpSpPr>
        <p:sp>
          <p:nvSpPr>
            <p:cNvPr id="48" name="TextBox 48"/>
            <p:cNvSpPr txBox="1"/>
            <p:nvPr/>
          </p:nvSpPr>
          <p:spPr>
            <a:xfrm>
              <a:off x="744855" y="28546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预处理四步骤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571500" y="3238500"/>
              <a:ext cx="2381250" cy="952500"/>
              <a:chOff x="571500" y="3238500"/>
              <a:chExt cx="2381250" cy="9525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571500" y="3238500"/>
                <a:ext cx="238125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480347" y="3426142"/>
                <a:ext cx="56355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Step 1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447800" y="3707606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FFFFF">
                        <a:alphaMod val="9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数据清洗</a:t>
                </a:r>
                <a:endParaRPr lang="zh-CN" sz="1125" dirty="0">
                  <a:solidFill>
                    <a:srgbClr val="FFFFFF">
                      <a:alphaMod val="9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090612" y="392239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7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处理缺失、噪声、不一致</a:t>
                </a:r>
                <a:endParaRPr lang="zh-CN" sz="900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2952750" y="3714750"/>
              <a:ext cx="333375" cy="1"/>
            </a:xfrm>
            <a:prstGeom prst="line">
              <a:avLst/>
            </a:prstGeom>
            <a:noFill/>
            <a:ln w="19050">
              <a:solidFill>
                <a:srgbClr val="3498DB"/>
              </a:solidFill>
              <a:tailEnd type="triangle" w="lg" len="lg"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3381375" y="3238500"/>
              <a:ext cx="2381250" cy="952500"/>
              <a:chOff x="3381375" y="3238500"/>
              <a:chExt cx="2381250" cy="9525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3381375" y="3238500"/>
                <a:ext cx="238125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4266594" y="3426142"/>
                <a:ext cx="61081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Step 2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257675" y="3707606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FFFFF">
                        <a:alphaMod val="9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数据集成</a:t>
                </a:r>
                <a:endParaRPr lang="zh-CN" sz="1125" dirty="0">
                  <a:solidFill>
                    <a:srgbClr val="FFFFFF">
                      <a:alphaMod val="9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080510" y="3922395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7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合并多源异构数据</a:t>
                </a:r>
                <a:endParaRPr lang="zh-CN" sz="900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60" name="Line 60"/>
            <p:cNvSpPr/>
            <p:nvPr/>
          </p:nvSpPr>
          <p:spPr>
            <a:xfrm>
              <a:off x="5762625" y="3714750"/>
              <a:ext cx="333375" cy="1"/>
            </a:xfrm>
            <a:prstGeom prst="line">
              <a:avLst/>
            </a:prstGeom>
            <a:noFill/>
            <a:ln w="19050">
              <a:solidFill>
                <a:srgbClr val="3498DB"/>
              </a:solidFill>
              <a:tailEnd type="triangle" w="lg" len="lg"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191250" y="3238500"/>
              <a:ext cx="2381250" cy="952500"/>
              <a:chOff x="6191250" y="3238500"/>
              <a:chExt cx="2381250" cy="9525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6191250" y="3238500"/>
                <a:ext cx="238125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076469" y="3426142"/>
                <a:ext cx="61081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Step 3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067550" y="3707606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FFFFF">
                        <a:alphaMod val="9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数据归约</a:t>
                </a:r>
                <a:endParaRPr lang="zh-CN" sz="1125" dirty="0">
                  <a:solidFill>
                    <a:srgbClr val="FFFFFF">
                      <a:alphaMod val="9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950392" y="3922395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7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降维、特征选择</a:t>
                </a:r>
                <a:endParaRPr lang="zh-CN" sz="900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66" name="Line 66"/>
            <p:cNvSpPr/>
            <p:nvPr/>
          </p:nvSpPr>
          <p:spPr>
            <a:xfrm>
              <a:off x="8572500" y="3714750"/>
              <a:ext cx="333375" cy="1"/>
            </a:xfrm>
            <a:prstGeom prst="line">
              <a:avLst/>
            </a:prstGeom>
            <a:noFill/>
            <a:ln w="19050">
              <a:solidFill>
                <a:srgbClr val="3498DB"/>
              </a:solidFill>
              <a:tailEnd type="triangle" w="lg" len="lg"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9001125" y="3238500"/>
              <a:ext cx="2619375" cy="952500"/>
              <a:chOff x="9001125" y="3238500"/>
              <a:chExt cx="2619375" cy="9525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9001125" y="3238500"/>
                <a:ext cx="2619375" cy="952500"/>
              </a:xfrm>
              <a:prstGeom prst="roundRect">
                <a:avLst>
                  <a:gd name="adj" fmla="val 10000"/>
                </a:avLst>
              </a:prstGeom>
              <a:solidFill>
                <a:srgbClr val="5DADE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10000644" y="3426142"/>
                <a:ext cx="61081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Step 4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9991725" y="3707606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FFFFF">
                        <a:alphaMod val="9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数据变换</a:t>
                </a:r>
                <a:endParaRPr lang="zh-CN" sz="1125" dirty="0">
                  <a:solidFill>
                    <a:srgbClr val="FFFFFF">
                      <a:alphaMod val="9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634538" y="392239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70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标准化、离散化、规范化</a:t>
                </a:r>
                <a:endParaRPr lang="zh-CN" sz="900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571500" y="4524375"/>
            <a:ext cx="11049000" cy="476250"/>
            <a:chOff x="571500" y="4524375"/>
            <a:chExt cx="11049000" cy="476250"/>
          </a:xfrm>
        </p:grpSpPr>
        <p:sp>
          <p:nvSpPr>
            <p:cNvPr id="73" name="Rectangle 73"/>
            <p:cNvSpPr/>
            <p:nvPr/>
          </p:nvSpPr>
          <p:spPr>
            <a:xfrm>
              <a:off x="571500" y="4524375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1A5276">
                <a:alpha val="6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722855" y="4688681"/>
              <a:ext cx="47462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数据预处理是数据挖掘中最耗时但最关键的一步 —"垃圾进，垃圾出"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6477000"/>
            <a:ext cx="11049000" cy="276225"/>
            <a:chOff x="571500" y="6477000"/>
            <a:chExt cx="11049000" cy="276225"/>
          </a:xfrm>
        </p:grpSpPr>
        <p:sp>
          <p:nvSpPr>
            <p:cNvPr id="76" name="Line 76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018562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08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72" grpId="0"/>
      <p:bldP spid="7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382905"/>
              <a:ext cx="328774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七、数据标准化与归一化</a:t>
              </a:r>
              <a:endParaRPr lang="zh-CN" sz="21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678656"/>
              <a:ext cx="24363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Standardization vs Normalization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143000"/>
            <a:ext cx="11049000" cy="476250"/>
            <a:chOff x="571500" y="1143000"/>
            <a:chExt cx="11049000" cy="476250"/>
          </a:xfrm>
        </p:grpSpPr>
        <p:sp>
          <p:nvSpPr>
            <p:cNvPr id="8" name="Rectangle 8"/>
            <p:cNvSpPr/>
            <p:nvPr/>
          </p:nvSpPr>
          <p:spPr>
            <a:xfrm>
              <a:off x="571500" y="114300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823930" y="1307306"/>
              <a:ext cx="45441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统称</a:t>
              </a:r>
              <a:r>
                <a: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"无量纲化"</a:t>
              </a:r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，目的是消除不同特征量纲和量级差异对模型的影响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1857375"/>
            <a:ext cx="12646533" cy="3810000"/>
            <a:chOff x="571500" y="1857375"/>
            <a:chExt cx="12646533" cy="3810000"/>
          </a:xfrm>
        </p:grpSpPr>
        <p:grpSp>
          <p:nvGrpSpPr>
            <p:cNvPr id="28" name="Group 28"/>
            <p:cNvGrpSpPr/>
            <p:nvPr/>
          </p:nvGrpSpPr>
          <p:grpSpPr>
            <a:xfrm>
              <a:off x="571500" y="1857375"/>
              <a:ext cx="6697277" cy="3810000"/>
              <a:chOff x="571500" y="1857375"/>
              <a:chExt cx="6697277" cy="3810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857375"/>
                <a:ext cx="5286375" cy="3810000"/>
              </a:xfrm>
              <a:prstGeom prst="roundRect">
                <a:avLst>
                  <a:gd name="adj" fmla="val 25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71500" y="1857375"/>
                <a:ext cx="5286375" cy="47625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3024188" y="2257425"/>
                <a:ext cx="200025" cy="66675"/>
                <a:chOff x="3024188" y="2257425"/>
                <a:chExt cx="200025" cy="66675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3024188" y="2257425"/>
                  <a:ext cx="2000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9525">
                      <a:moveTo>
                        <a:pt x="0" y="0"/>
                      </a:moveTo>
                      <a:lnTo>
                        <a:pt x="200025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3024188" y="2314575"/>
                  <a:ext cx="2000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9525">
                      <a:moveTo>
                        <a:pt x="0" y="0"/>
                      </a:moveTo>
                      <a:lnTo>
                        <a:pt x="200025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3190875" y="218122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标准化</a:t>
                </a:r>
                <a:endParaRPr lang="zh-CN" sz="15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76363" y="2229802"/>
                <a:ext cx="18468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Standardization (Z-score)</a:t>
                </a:r>
                <a:endPara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857250" y="2571750"/>
                <a:ext cx="4714875" cy="523875"/>
              </a:xfrm>
              <a:prstGeom prst="roundRect">
                <a:avLst>
                  <a:gd name="adj" fmla="val 10909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540692" y="2642235"/>
                <a:ext cx="111061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E74C3C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z = (x − μ) / σ</a:t>
                </a:r>
                <a:endParaRPr lang="zh-CN" sz="1200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923222" y="2885599"/>
                <a:ext cx="23455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将数据转换为均值为0、标准差为1的分布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857250" y="3286125"/>
                <a:ext cx="4714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14875" h="9525">
                    <a:moveTo>
                      <a:pt x="0" y="0"/>
                    </a:moveTo>
                    <a:lnTo>
                      <a:pt x="4714875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43915" y="34109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适用场景</a:t>
                </a:r>
                <a:endPara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44868" y="3657124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数据近似正态分布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44868" y="3847624"/>
                <a:ext cx="19100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算法要求零均值（如SVM、PCA）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44868" y="4038124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存在离群点的数据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857250" y="4381500"/>
                <a:ext cx="4714875" cy="381000"/>
              </a:xfrm>
              <a:prstGeom prst="roundRect">
                <a:avLst>
                  <a:gd name="adj" fmla="val 15000"/>
                </a:avLst>
              </a:prstGeom>
              <a:solidFill>
                <a:srgbClr val="1A5276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2157412" y="4523899"/>
                <a:ext cx="210502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A5276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输出范围不固定，适合有异常值场景</a:t>
                </a:r>
                <a:endParaRPr lang="zh-CN" sz="97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334125" y="1857375"/>
              <a:ext cx="6883908" cy="3810000"/>
              <a:chOff x="6334125" y="1857375"/>
              <a:chExt cx="6883908" cy="38100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334125" y="1857375"/>
                <a:ext cx="5286375" cy="3810000"/>
              </a:xfrm>
              <a:prstGeom prst="roundRect">
                <a:avLst>
                  <a:gd name="adj" fmla="val 2500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6334125" y="1857375"/>
                <a:ext cx="5286375" cy="47625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8786812" y="2257425"/>
                <a:ext cx="200025" cy="66675"/>
                <a:chOff x="8786812" y="2257425"/>
                <a:chExt cx="200025" cy="66675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8786812" y="2257425"/>
                  <a:ext cx="2000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9525">
                      <a:moveTo>
                        <a:pt x="0" y="0"/>
                      </a:moveTo>
                      <a:lnTo>
                        <a:pt x="200025" y="0"/>
                      </a:lnTo>
                    </a:path>
                  </a:pathLst>
                </a:custGeom>
                <a:noFill/>
                <a:ln w="19050">
                  <a:solidFill>
                    <a:srgbClr val="3498D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786812" y="2314575"/>
                  <a:ext cx="2000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9525">
                      <a:moveTo>
                        <a:pt x="0" y="0"/>
                      </a:moveTo>
                      <a:lnTo>
                        <a:pt x="200025" y="0"/>
                      </a:lnTo>
                    </a:path>
                  </a:pathLst>
                </a:custGeom>
                <a:noFill/>
                <a:ln w="19050">
                  <a:solidFill>
                    <a:srgbClr val="3498DB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8953500" y="218122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归一化</a:t>
                </a:r>
                <a:endParaRPr lang="zh-CN" sz="150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279005" y="222980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Normalization (Min-Max)</a:t>
                </a:r>
                <a:endParaRPr lang="zh-CN" sz="105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619875" y="2571750"/>
                <a:ext cx="4714875" cy="523875"/>
              </a:xfrm>
              <a:prstGeom prst="roundRect">
                <a:avLst>
                  <a:gd name="adj" fmla="val 10909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499217" y="2642235"/>
                <a:ext cx="271881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E74C3C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x' = (x - x_min) / (x_max - x_min)</a:t>
                </a:r>
                <a:endParaRPr lang="zh-CN" sz="1200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975134" y="2885599"/>
                <a:ext cx="17669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将数据线性映射到 [0, 1] 区间</a:t>
                </a:r>
                <a:endPara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6619875" y="3286125"/>
                <a:ext cx="4714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14875" h="9525">
                    <a:moveTo>
                      <a:pt x="0" y="0"/>
                    </a:moveTo>
                    <a:lnTo>
                      <a:pt x="4714875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606540" y="34109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适用场景</a:t>
                </a:r>
                <a:endParaRPr lang="zh-CN" sz="10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607492" y="3657124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不要求分布形态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607492" y="3847624"/>
                <a:ext cx="21895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特征尺度差异大（如神经网络、KNN）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607492" y="4038124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数据有明确上下界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6619875" y="4381500"/>
                <a:ext cx="4714875" cy="381000"/>
              </a:xfrm>
              <a:prstGeom prst="roundRect">
                <a:avLst>
                  <a:gd name="adj" fmla="val 15000"/>
                </a:avLst>
              </a:prstGeom>
              <a:solidFill>
                <a:srgbClr val="3498DB">
                  <a:alpha val="8000"/>
                </a:srgbClr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887533" y="4523899"/>
                <a:ext cx="21700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498D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输出固定在[0,1]，受离群点影响较大</a:t>
                </a:r>
                <a:endParaRPr lang="zh-CN" sz="975" dirty="0">
                  <a:solidFill>
                    <a:srgbClr val="3498D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571500" y="5905500"/>
            <a:ext cx="11049000" cy="428625"/>
            <a:chOff x="571500" y="5905500"/>
            <a:chExt cx="11049000" cy="428625"/>
          </a:xfrm>
        </p:grpSpPr>
        <p:sp>
          <p:nvSpPr>
            <p:cNvPr id="48" name="Rectangle 48"/>
            <p:cNvSpPr/>
            <p:nvPr/>
          </p:nvSpPr>
          <p:spPr>
            <a:xfrm>
              <a:off x="571500" y="5905500"/>
              <a:ext cx="11049000" cy="428625"/>
            </a:xfrm>
            <a:prstGeom prst="roundRect">
              <a:avLst>
                <a:gd name="adj" fmla="val 17778"/>
              </a:avLst>
            </a:prstGeom>
            <a:solidFill>
              <a:srgbClr val="1A5276">
                <a:alpha val="6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484665" y="6058852"/>
              <a:ext cx="92226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注意：决策树/随机森林基于阈值分裂，与特征量纲无关，无需标准化或归一化！KNN/SVM/LR 等基于距离或梯度的模型则必须进行特征缩放。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6477000"/>
            <a:ext cx="11049000" cy="276225"/>
            <a:chOff x="571500" y="6477000"/>
            <a:chExt cx="11049000" cy="276225"/>
          </a:xfrm>
        </p:grpSpPr>
        <p:sp>
          <p:nvSpPr>
            <p:cNvPr id="51" name="Line 51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18562" y="6570345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09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7" grpId="0"/>
      <p:bldP spid="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5330" y="382905"/>
              <a:ext cx="469912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八、衍生变量（Derived Variable）</a:t>
              </a:r>
              <a:endParaRPr lang="zh-CN" sz="21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7712" y="6786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特征工程的核心环节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71500" y="1143000"/>
            <a:ext cx="11049000" cy="583406"/>
            <a:chOff x="571500" y="1143000"/>
            <a:chExt cx="11049000" cy="583406"/>
          </a:xfrm>
        </p:grpSpPr>
        <p:sp>
          <p:nvSpPr>
            <p:cNvPr id="8" name="Rectangle 8"/>
            <p:cNvSpPr/>
            <p:nvPr/>
          </p:nvSpPr>
          <p:spPr>
            <a:xfrm>
              <a:off x="571500" y="1143000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981450" y="1288256"/>
              <a:ext cx="4229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从原始变量中通过</a:t>
              </a:r>
              <a:r>
                <a: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数学变换、组合或业务逻辑</a:t>
              </a:r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构造出的新变量，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81562" y="1497806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用于更好地捕捉数据中的模式和关系</a:t>
              </a:r>
              <a:endParaRPr lang="zh-CN" sz="112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71500" y="1949768"/>
            <a:ext cx="11049000" cy="3050857"/>
            <a:chOff x="571500" y="1949768"/>
            <a:chExt cx="11049000" cy="3050857"/>
          </a:xfrm>
        </p:grpSpPr>
        <p:sp>
          <p:nvSpPr>
            <p:cNvPr id="12" name="TextBox 12"/>
            <p:cNvSpPr txBox="1"/>
            <p:nvPr/>
          </p:nvSpPr>
          <p:spPr>
            <a:xfrm>
              <a:off x="744855" y="194976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五种常见构造方式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71500" y="2333625"/>
              <a:ext cx="2095500" cy="2667000"/>
              <a:chOff x="571500" y="2333625"/>
              <a:chExt cx="2095500" cy="2667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2333625"/>
                <a:ext cx="2095500" cy="2667000"/>
              </a:xfrm>
              <a:prstGeom prst="roundRect">
                <a:avLst>
                  <a:gd name="adj" fmla="val 3636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71500" y="2333625"/>
                <a:ext cx="20955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1419225" y="2590800"/>
                <a:ext cx="228600" cy="228600"/>
                <a:chOff x="1419225" y="2590800"/>
                <a:chExt cx="228600" cy="228600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1419225" y="2590800"/>
                  <a:ext cx="1270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228600">
                      <a:moveTo>
                        <a:pt x="0" y="203200"/>
                      </a:moveTo>
                      <a:cubicBezTo>
                        <a:pt x="0" y="217228"/>
                        <a:pt x="11372" y="228600"/>
                        <a:pt x="25400" y="228600"/>
                      </a:cubicBezTo>
                      <a:cubicBezTo>
                        <a:pt x="50800" y="228600"/>
                        <a:pt x="50800" y="177800"/>
                        <a:pt x="63500" y="114300"/>
                      </a:cubicBezTo>
                      <a:cubicBezTo>
                        <a:pt x="76200" y="50800"/>
                        <a:pt x="76200" y="0"/>
                        <a:pt x="101600" y="0"/>
                      </a:cubicBezTo>
                      <a:cubicBezTo>
                        <a:pt x="115628" y="0"/>
                        <a:pt x="127000" y="11372"/>
                        <a:pt x="127000" y="25400"/>
                      </a:cubicBez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444625" y="270510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571625" y="27051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1571625" y="27051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1A5276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604010" y="263271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多项式</a:t>
                </a:r>
                <a:endPara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8665" y="2934652"/>
                <a:ext cx="4537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x², x³</a:t>
                </a:r>
                <a:endParaRPr lang="zh-CN" sz="10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48665" y="3144202"/>
                <a:ext cx="4957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x₁ · x₂</a:t>
                </a:r>
                <a:endParaRPr lang="zh-CN" sz="10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762000" y="3476625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9525">
                    <a:moveTo>
                      <a:pt x="0" y="0"/>
                    </a:moveTo>
                    <a:lnTo>
                      <a:pt x="1619250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50570" y="3617595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捕捉非线性关系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50570" y="378904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交互效应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762000" y="4143375"/>
                <a:ext cx="17145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1A5276">
                  <a:alpha val="6000"/>
                </a:srgbClr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78731" y="427339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回归分析常用</a:t>
                </a:r>
                <a:endParaRPr lang="zh-CN" sz="825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2762250" y="2333625"/>
              <a:ext cx="2095500" cy="2667000"/>
              <a:chOff x="2762250" y="2333625"/>
              <a:chExt cx="2095500" cy="26670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2762250" y="2333625"/>
                <a:ext cx="2095500" cy="2667000"/>
              </a:xfrm>
              <a:prstGeom prst="roundRect">
                <a:avLst>
                  <a:gd name="adj" fmla="val 3636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2762250" y="2333625"/>
                <a:ext cx="20955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3635375" y="2679700"/>
                <a:ext cx="177800" cy="60325"/>
                <a:chOff x="3635375" y="2679700"/>
                <a:chExt cx="177800" cy="60325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3635375" y="2679700"/>
                  <a:ext cx="177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9525">
                      <a:moveTo>
                        <a:pt x="0" y="0"/>
                      </a:moveTo>
                      <a:lnTo>
                        <a:pt x="177800" y="0"/>
                      </a:lnTo>
                    </a:path>
                  </a:pathLst>
                </a:custGeom>
                <a:noFill/>
                <a:ln w="19050">
                  <a:solidFill>
                    <a:srgbClr val="3498D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635375" y="2730500"/>
                  <a:ext cx="177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9525">
                      <a:moveTo>
                        <a:pt x="0" y="0"/>
                      </a:moveTo>
                      <a:lnTo>
                        <a:pt x="177800" y="0"/>
                      </a:lnTo>
                    </a:path>
                  </a:pathLst>
                </a:custGeom>
                <a:noFill/>
                <a:ln w="19050">
                  <a:solidFill>
                    <a:srgbClr val="3498DB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3794760" y="2632710"/>
                <a:ext cx="79497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比率/差值</a:t>
                </a:r>
                <a:endParaRPr lang="zh-CN" sz="120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939415" y="2934652"/>
                <a:ext cx="4957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x₁ / x₂</a:t>
                </a:r>
                <a:endParaRPr lang="zh-CN" sz="10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939415" y="3144202"/>
                <a:ext cx="4957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x₁ − x₂</a:t>
                </a:r>
                <a:endParaRPr lang="zh-CN" sz="10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2952750" y="3476625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9525">
                    <a:moveTo>
                      <a:pt x="0" y="0"/>
                    </a:moveTo>
                    <a:lnTo>
                      <a:pt x="1619250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2941320" y="361759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反映相对关系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941320" y="3789045"/>
                <a:ext cx="8089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增长率/变化量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2952750" y="4143375"/>
                <a:ext cx="17145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3498DB">
                  <a:alpha val="6000"/>
                </a:srgb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469481" y="427339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财务指标常用</a:t>
                </a:r>
                <a:endParaRPr lang="zh-CN" sz="825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953000" y="2333625"/>
              <a:ext cx="2095500" cy="2667000"/>
              <a:chOff x="4953000" y="2333625"/>
              <a:chExt cx="2095500" cy="26670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4953000" y="2333625"/>
                <a:ext cx="2095500" cy="2667000"/>
              </a:xfrm>
              <a:prstGeom prst="roundRect">
                <a:avLst>
                  <a:gd name="adj" fmla="val 3636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4953000" y="2333625"/>
                <a:ext cx="20955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5800725" y="2590800"/>
                <a:ext cx="228600" cy="228600"/>
                <a:chOff x="5800725" y="2590800"/>
                <a:chExt cx="228600" cy="228600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5800725" y="259080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25400"/>
                      </a:move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203200" y="0"/>
                      </a:lnTo>
                      <a:cubicBezTo>
                        <a:pt x="217228" y="0"/>
                        <a:pt x="228600" y="11372"/>
                        <a:pt x="228600" y="25400"/>
                      </a:cubicBezTo>
                      <a:lnTo>
                        <a:pt x="228600" y="203200"/>
                      </a:lnTo>
                      <a:cubicBezTo>
                        <a:pt x="228600" y="217228"/>
                        <a:pt x="217228" y="228600"/>
                        <a:pt x="203200" y="228600"/>
                      </a:cubicBezTo>
                      <a:lnTo>
                        <a:pt x="25400" y="228600"/>
                      </a:lnTo>
                      <a:cubicBezTo>
                        <a:pt x="11372" y="228600"/>
                        <a:pt x="0" y="217228"/>
                        <a:pt x="0" y="203200"/>
                      </a:cubicBez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5800725" y="2679700"/>
                  <a:ext cx="228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9525">
                      <a:moveTo>
                        <a:pt x="0" y="0"/>
                      </a:moveTo>
                      <a:lnTo>
                        <a:pt x="228600" y="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5889625" y="2590800"/>
                  <a:ext cx="9525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8600">
                      <a:moveTo>
                        <a:pt x="0" y="0"/>
                      </a:moveTo>
                      <a:lnTo>
                        <a:pt x="0" y="228600"/>
                      </a:lnTo>
                    </a:path>
                  </a:pathLst>
                </a:custGeom>
                <a:noFill/>
                <a:ln w="19050">
                  <a:solidFill>
                    <a:srgbClr val="E74C3C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5985510" y="263271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分箱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131118" y="2942749"/>
                <a:ext cx="6943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连续 → 离散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131118" y="3152299"/>
                <a:ext cx="8243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年龄 → 年龄段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Line 52"/>
              <p:cNvSpPr/>
              <p:nvPr/>
            </p:nvSpPr>
            <p:spPr>
              <a:xfrm>
                <a:off x="5143500" y="3476625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9525">
                    <a:moveTo>
                      <a:pt x="0" y="0"/>
                    </a:moveTo>
                    <a:lnTo>
                      <a:pt x="1619250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5132070" y="3617595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离散化处理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5132070" y="37890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降低噪声影响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5143500" y="4143375"/>
                <a:ext cx="17145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E74C3C">
                  <a:alpha val="6000"/>
                </a:srgbClr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5660231" y="427339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信用评分常用</a:t>
                </a:r>
                <a:endParaRPr lang="zh-CN" sz="825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7143750" y="2333625"/>
              <a:ext cx="2095500" cy="2667000"/>
              <a:chOff x="7143750" y="2333625"/>
              <a:chExt cx="2095500" cy="266700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7143750" y="2333625"/>
                <a:ext cx="2095500" cy="2667000"/>
              </a:xfrm>
              <a:prstGeom prst="roundRect">
                <a:avLst>
                  <a:gd name="adj" fmla="val 3636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7143750" y="2333625"/>
                <a:ext cx="20955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8004175" y="2598600"/>
                <a:ext cx="203200" cy="213000"/>
                <a:chOff x="8004175" y="2598600"/>
                <a:chExt cx="203200" cy="21300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8004175" y="2598600"/>
                  <a:ext cx="203200" cy="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93800">
                      <a:moveTo>
                        <a:pt x="203200" y="93800"/>
                      </a:moveTo>
                      <a:cubicBezTo>
                        <a:pt x="196815" y="47858"/>
                        <a:pt x="160476" y="11871"/>
                        <a:pt x="114474" y="5936"/>
                      </a:cubicBezTo>
                      <a:cubicBezTo>
                        <a:pt x="68472" y="0"/>
                        <a:pt x="24187" y="25584"/>
                        <a:pt x="6350" y="68400"/>
                      </a:cubicBezTo>
                      <a:moveTo>
                        <a:pt x="0" y="17600"/>
                      </a:moveTo>
                      <a:lnTo>
                        <a:pt x="0" y="68400"/>
                      </a:lnTo>
                      <a:lnTo>
                        <a:pt x="50800" y="68400"/>
                      </a:lnTo>
                    </a:path>
                  </a:pathLst>
                </a:custGeom>
                <a:noFill/>
                <a:ln w="19050">
                  <a:solidFill>
                    <a:srgbClr val="2980B9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8004175" y="2717800"/>
                  <a:ext cx="203200" cy="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200" h="93800">
                      <a:moveTo>
                        <a:pt x="0" y="0"/>
                      </a:moveTo>
                      <a:cubicBezTo>
                        <a:pt x="6385" y="45942"/>
                        <a:pt x="42724" y="81929"/>
                        <a:pt x="88726" y="87864"/>
                      </a:cubicBezTo>
                      <a:cubicBezTo>
                        <a:pt x="134728" y="93800"/>
                        <a:pt x="179013" y="68216"/>
                        <a:pt x="196850" y="25400"/>
                      </a:cubicBezTo>
                      <a:moveTo>
                        <a:pt x="203200" y="76200"/>
                      </a:moveTo>
                      <a:lnTo>
                        <a:pt x="203200" y="25400"/>
                      </a:lnTo>
                      <a:lnTo>
                        <a:pt x="152400" y="25400"/>
                      </a:lnTo>
                    </a:path>
                  </a:pathLst>
                </a:custGeom>
                <a:noFill/>
                <a:ln w="19050">
                  <a:solidFill>
                    <a:srgbClr val="2980B9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8176260" y="26327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时间特征</a:t>
                </a:r>
                <a:endPara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321868" y="294274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年、月、日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321868" y="31522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星期、是否节假日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6" name="Line 66"/>
              <p:cNvSpPr/>
              <p:nvPr/>
            </p:nvSpPr>
            <p:spPr>
              <a:xfrm>
                <a:off x="7334250" y="3476625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9525">
                    <a:moveTo>
                      <a:pt x="0" y="0"/>
                    </a:moveTo>
                    <a:lnTo>
                      <a:pt x="1619250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322820" y="361759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时间序列分析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322820" y="3789045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周期性模式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9" name="Rectangle 69"/>
              <p:cNvSpPr/>
              <p:nvPr/>
            </p:nvSpPr>
            <p:spPr>
              <a:xfrm>
                <a:off x="7334250" y="4143375"/>
                <a:ext cx="17145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2980B9">
                  <a:alpha val="6000"/>
                </a:srgbClr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7850981" y="427339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销量预测常用</a:t>
                </a:r>
                <a:endParaRPr lang="zh-CN" sz="825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9334500" y="2333625"/>
              <a:ext cx="2286000" cy="2667000"/>
              <a:chOff x="9334500" y="2333625"/>
              <a:chExt cx="2286000" cy="266700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9334500" y="2333625"/>
                <a:ext cx="2286000" cy="2667000"/>
              </a:xfrm>
              <a:prstGeom prst="roundRect">
                <a:avLst>
                  <a:gd name="adj" fmla="val 3333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73" name="Rectangle 73"/>
              <p:cNvSpPr/>
              <p:nvPr/>
            </p:nvSpPr>
            <p:spPr>
              <a:xfrm>
                <a:off x="9334500" y="2333625"/>
                <a:ext cx="2286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5DADE2"/>
              </a:solidFill>
              <a:ln>
                <a:noFill/>
              </a:ln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10229850" y="2590800"/>
                <a:ext cx="228600" cy="228600"/>
                <a:chOff x="10229850" y="2590800"/>
                <a:chExt cx="228600" cy="228600"/>
              </a:xfrm>
            </p:grpSpPr>
            <p:sp>
              <p:nvSpPr>
                <p:cNvPr id="74" name="Freeform 74"/>
                <p:cNvSpPr/>
                <p:nvPr/>
              </p:nvSpPr>
              <p:spPr>
                <a:xfrm>
                  <a:off x="10318750" y="25908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5DADE2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10229850" y="27686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5DADE2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10407650" y="276860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19050">
                  <a:solidFill>
                    <a:srgbClr val="5DADE2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0274300" y="2717800"/>
                  <a:ext cx="1397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57150">
                      <a:moveTo>
                        <a:pt x="0" y="57150"/>
                      </a:moveTo>
                      <a:lnTo>
                        <a:pt x="69850" y="0"/>
                      </a:lnTo>
                      <a:lnTo>
                        <a:pt x="139700" y="57150"/>
                      </a:lnTo>
                    </a:path>
                  </a:pathLst>
                </a:custGeom>
                <a:noFill/>
                <a:ln w="19050">
                  <a:solidFill>
                    <a:srgbClr val="5DADE2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0344150" y="2641600"/>
                  <a:ext cx="952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76200">
                      <a:moveTo>
                        <a:pt x="0" y="0"/>
                      </a:move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5DADE2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10414635" y="26327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ADE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聚合特征</a:t>
                </a:r>
                <a:endParaRPr lang="zh-CN" sz="1200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511665" y="29346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均值、总和、计数</a:t>
                </a:r>
                <a:endParaRPr lang="zh-CN" sz="10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9511665" y="314420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C3E50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最大、最小、标准差</a:t>
                </a:r>
                <a:endParaRPr lang="zh-CN" sz="1050" dirty="0">
                  <a:solidFill>
                    <a:srgbClr val="2C3E5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83" name="Line 83"/>
              <p:cNvSpPr/>
              <p:nvPr/>
            </p:nvSpPr>
            <p:spPr>
              <a:xfrm>
                <a:off x="9525000" y="3476625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D5D8DC"/>
                </a:solidFill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9513570" y="3617595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多对一关系汇总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9513570" y="37890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F8C8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用户行为统计</a:t>
                </a:r>
                <a:endPara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6" name="Rectangle 86"/>
              <p:cNvSpPr/>
              <p:nvPr/>
            </p:nvSpPr>
            <p:spPr>
              <a:xfrm>
                <a:off x="9525000" y="4143375"/>
                <a:ext cx="19050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5DADE2">
                  <a:alpha val="6000"/>
                </a:srgbClr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10136981" y="427339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DADE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客户画像常用</a:t>
                </a:r>
                <a:endParaRPr lang="zh-CN" sz="825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92" name="Group 92"/>
          <p:cNvGrpSpPr/>
          <p:nvPr/>
        </p:nvGrpSpPr>
        <p:grpSpPr>
          <a:xfrm>
            <a:off x="571500" y="5286375"/>
            <a:ext cx="11049000" cy="476250"/>
            <a:chOff x="571500" y="5286375"/>
            <a:chExt cx="11049000" cy="476250"/>
          </a:xfrm>
        </p:grpSpPr>
        <p:sp>
          <p:nvSpPr>
            <p:cNvPr id="90" name="Rectangle 90"/>
            <p:cNvSpPr/>
            <p:nvPr/>
          </p:nvSpPr>
          <p:spPr>
            <a:xfrm>
              <a:off x="571500" y="5286375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1A5276">
                <a:alpha val="6000"/>
              </a:srgbClr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3707103" y="5450681"/>
              <a:ext cx="47777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特征工程决定了模型性能的上限 — 好的衍生变量能大幅提升模型表现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71500" y="6477000"/>
            <a:ext cx="11049000" cy="276225"/>
            <a:chOff x="571500" y="6477000"/>
            <a:chExt cx="11049000" cy="276225"/>
          </a:xfrm>
        </p:grpSpPr>
        <p:sp>
          <p:nvSpPr>
            <p:cNvPr id="93" name="Line 93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033564" y="6570345"/>
              <a:ext cx="124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9" grpId="0"/>
      <p:bldP spid="9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3238500" y="571500"/>
              <a:ext cx="5715000" cy="5715000"/>
            </a:xfrm>
            <a:prstGeom prst="ellipse">
              <a:avLst/>
            </a:prstGeom>
            <a:solidFill>
              <a:srgbClr val="1A5276">
                <a:alpha val="2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5" name="Rectangle 5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5330" y="382905"/>
              <a:ext cx="47579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补充：数据挖掘六阶段生命周期模型</a:t>
              </a:r>
              <a:endParaRPr lang="zh-CN" sz="210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7712" y="678656"/>
              <a:ext cx="16262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CRISP-DM 标准流程框架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857250" y="1905000"/>
            <a:ext cx="11049000" cy="1524000"/>
            <a:chOff x="857250" y="1905000"/>
            <a:chExt cx="11049000" cy="1524000"/>
          </a:xfrm>
        </p:grpSpPr>
        <p:grpSp>
          <p:nvGrpSpPr>
            <p:cNvPr id="14" name="Group 14"/>
            <p:cNvGrpSpPr/>
            <p:nvPr/>
          </p:nvGrpSpPr>
          <p:grpSpPr>
            <a:xfrm>
              <a:off x="857250" y="1905000"/>
              <a:ext cx="1524000" cy="1524000"/>
              <a:chOff x="857250" y="1905000"/>
              <a:chExt cx="1524000" cy="1524000"/>
            </a:xfrm>
            <a:effectLst>
              <a:outerShdw blurRad="76200" dist="28575" dir="5400000" algn="ctr" rotWithShape="0">
                <a:srgbClr val="1A5276">
                  <a:alpha val="7500"/>
                </a:srgbClr>
              </a:outerShdw>
            </a:effectLst>
          </p:grpSpPr>
          <p:sp>
            <p:nvSpPr>
              <p:cNvPr id="10" name="Ellipse 10"/>
              <p:cNvSpPr/>
              <p:nvPr/>
            </p:nvSpPr>
            <p:spPr>
              <a:xfrm>
                <a:off x="857250" y="1905000"/>
                <a:ext cx="1524000" cy="1524000"/>
              </a:xfrm>
              <a:prstGeom prst="ellipse">
                <a:avLst/>
              </a:prstGeom>
              <a:solidFill>
                <a:srgbClr val="1A5276"/>
              </a:solidFill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548474" y="2249805"/>
                <a:ext cx="141551" cy="4267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</a:t>
                </a:r>
                <a:endPara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367790" y="266509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8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目标定义</a:t>
                </a:r>
                <a:endParaRPr lang="zh-CN" sz="900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47490" y="2863691"/>
                <a:ext cx="543520" cy="1676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FFFFF">
                        <a:alphaMod val="6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Definition</a:t>
                </a:r>
                <a:endParaRPr lang="zh-CN" sz="825" dirty="0">
                  <a:solidFill>
                    <a:srgbClr val="FFFFFF">
                      <a:alphaMod val="6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2381250" y="2667000"/>
              <a:ext cx="381000" cy="1"/>
            </a:xfrm>
            <a:prstGeom prst="line">
              <a:avLst/>
            </a:prstGeom>
            <a:noFill/>
            <a:ln w="19050">
              <a:solidFill>
                <a:srgbClr val="3498DB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2762250" y="1905000"/>
              <a:ext cx="1524000" cy="1524000"/>
              <a:chOff x="2762250" y="1905000"/>
              <a:chExt cx="1524000" cy="1524000"/>
            </a:xfrm>
            <a:effectLst>
              <a:outerShdw blurRad="76200" dist="28575" dir="5400000" algn="ctr" rotWithShape="0">
                <a:srgbClr val="1A5276">
                  <a:alpha val="7500"/>
                </a:srgbClr>
              </a:outerShdw>
            </a:effectLst>
          </p:grpSpPr>
          <p:sp>
            <p:nvSpPr>
              <p:cNvPr id="16" name="Ellipse 16"/>
              <p:cNvSpPr/>
              <p:nvPr/>
            </p:nvSpPr>
            <p:spPr>
              <a:xfrm>
                <a:off x="2762250" y="1905000"/>
                <a:ext cx="1524000" cy="1524000"/>
              </a:xfrm>
              <a:prstGeom prst="ellipse">
                <a:avLst/>
              </a:prstGeom>
              <a:solidFill>
                <a:srgbClr val="2980B9"/>
              </a:solidFill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416720" y="2249805"/>
                <a:ext cx="215060" cy="4267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272790" y="266509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8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数据准备</a:t>
                </a:r>
                <a:endParaRPr lang="zh-CN" sz="900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194733" y="2863691"/>
                <a:ext cx="659035" cy="1676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FFFFF">
                        <a:alphaMod val="6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Preparation</a:t>
                </a:r>
                <a:endParaRPr lang="zh-CN" sz="825" dirty="0">
                  <a:solidFill>
                    <a:srgbClr val="FFFFFF">
                      <a:alphaMod val="6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4286250" y="2667000"/>
              <a:ext cx="381000" cy="1"/>
            </a:xfrm>
            <a:prstGeom prst="line">
              <a:avLst/>
            </a:prstGeom>
            <a:noFill/>
            <a:ln w="19050">
              <a:solidFill>
                <a:srgbClr val="3498DB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667250" y="1905000"/>
              <a:ext cx="1524000" cy="1524000"/>
              <a:chOff x="4667250" y="1905000"/>
              <a:chExt cx="1524000" cy="1524000"/>
            </a:xfrm>
            <a:effectLst>
              <a:outerShdw blurRad="76200" dist="28575" dir="5400000" algn="ctr" rotWithShape="0">
                <a:srgbClr val="1A5276">
                  <a:alpha val="7500"/>
                </a:srgbClr>
              </a:outerShdw>
            </a:effectLst>
          </p:grpSpPr>
          <p:sp>
            <p:nvSpPr>
              <p:cNvPr id="22" name="Ellipse 22"/>
              <p:cNvSpPr/>
              <p:nvPr/>
            </p:nvSpPr>
            <p:spPr>
              <a:xfrm>
                <a:off x="4667250" y="1905000"/>
                <a:ext cx="1524000" cy="1524000"/>
              </a:xfrm>
              <a:prstGeom prst="ellipse">
                <a:avLst/>
              </a:prstGeom>
              <a:solidFill>
                <a:srgbClr val="3498DB"/>
              </a:solidFill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321720" y="2249805"/>
                <a:ext cx="215060" cy="4267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</a:t>
                </a:r>
                <a:endPara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177790" y="266509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8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数据探索</a:t>
                </a:r>
                <a:endParaRPr lang="zh-CN" sz="900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220748" y="2863691"/>
                <a:ext cx="417005" cy="1676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FFFFF">
                        <a:alphaMod val="6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Explore</a:t>
                </a:r>
                <a:endParaRPr lang="zh-CN" sz="825" dirty="0">
                  <a:solidFill>
                    <a:srgbClr val="FFFFFF">
                      <a:alphaMod val="6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7" name="Line 27"/>
            <p:cNvSpPr/>
            <p:nvPr/>
          </p:nvSpPr>
          <p:spPr>
            <a:xfrm>
              <a:off x="6191250" y="2667000"/>
              <a:ext cx="381000" cy="1"/>
            </a:xfrm>
            <a:prstGeom prst="line">
              <a:avLst/>
            </a:prstGeom>
            <a:noFill/>
            <a:ln w="19050">
              <a:solidFill>
                <a:srgbClr val="3498DB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572250" y="1905000"/>
              <a:ext cx="1524000" cy="1524000"/>
              <a:chOff x="6572250" y="1905000"/>
              <a:chExt cx="1524000" cy="1524000"/>
            </a:xfrm>
            <a:effectLst>
              <a:outerShdw blurRad="76200" dist="28575" dir="5400000" algn="ctr" rotWithShape="0">
                <a:srgbClr val="1A5276">
                  <a:alpha val="7500"/>
                </a:srgbClr>
              </a:outerShdw>
            </a:effectLst>
          </p:grpSpPr>
          <p:sp>
            <p:nvSpPr>
              <p:cNvPr id="28" name="Ellipse 28"/>
              <p:cNvSpPr/>
              <p:nvPr/>
            </p:nvSpPr>
            <p:spPr>
              <a:xfrm>
                <a:off x="6572250" y="1905000"/>
                <a:ext cx="1524000" cy="1524000"/>
              </a:xfrm>
              <a:prstGeom prst="ellipse">
                <a:avLst/>
              </a:prstGeom>
              <a:solidFill>
                <a:srgbClr val="5DADE2"/>
              </a:solidFill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226720" y="2249805"/>
                <a:ext cx="215060" cy="4267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4</a:t>
                </a:r>
                <a:endPara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082790" y="266509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>
                        <a:alphaMod val="8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模型建立</a:t>
                </a:r>
                <a:endParaRPr lang="zh-CN" sz="900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098244" y="2863691"/>
                <a:ext cx="472011" cy="1676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FFFFF">
                        <a:alphaMod val="6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Modeling</a:t>
                </a:r>
                <a:endParaRPr lang="zh-CN" sz="825" dirty="0">
                  <a:solidFill>
                    <a:srgbClr val="FFFFFF">
                      <a:alphaMod val="6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8096250" y="2667000"/>
              <a:ext cx="381000" cy="1"/>
            </a:xfrm>
            <a:prstGeom prst="line">
              <a:avLst/>
            </a:prstGeom>
            <a:noFill/>
            <a:ln w="19050">
              <a:solidFill>
                <a:srgbClr val="3498DB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477250" y="1905000"/>
              <a:ext cx="1524000" cy="1524000"/>
              <a:chOff x="8477250" y="1905000"/>
              <a:chExt cx="1524000" cy="1524000"/>
            </a:xfrm>
            <a:effectLst>
              <a:outerShdw blurRad="76200" dist="28575" dir="5400000" algn="ctr" rotWithShape="0">
                <a:srgbClr val="1A5276">
                  <a:alpha val="7500"/>
                </a:srgbClr>
              </a:outerShdw>
            </a:effectLst>
          </p:grpSpPr>
          <p:sp>
            <p:nvSpPr>
              <p:cNvPr id="34" name="Ellipse 34"/>
              <p:cNvSpPr/>
              <p:nvPr/>
            </p:nvSpPr>
            <p:spPr>
              <a:xfrm>
                <a:off x="8477250" y="1905000"/>
                <a:ext cx="1524000" cy="1524000"/>
              </a:xfrm>
              <a:prstGeom prst="ellipse">
                <a:avLst/>
              </a:prstGeom>
              <a:solidFill>
                <a:srgbClr val="85C1E9"/>
              </a:solidFill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131720" y="2249805"/>
                <a:ext cx="215060" cy="4267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</a:t>
                </a:r>
                <a:endParaRPr lang="zh-CN" sz="21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87790" y="266509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5276">
                        <a:alphaMod val="8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模型评估</a:t>
                </a:r>
                <a:endParaRPr lang="zh-CN" sz="900" dirty="0">
                  <a:solidFill>
                    <a:srgbClr val="1A5276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953738" y="2863691"/>
                <a:ext cx="571024" cy="1676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5276">
                        <a:alphaMod val="6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Evaluation</a:t>
                </a:r>
                <a:endParaRPr lang="zh-CN" sz="825" dirty="0">
                  <a:solidFill>
                    <a:srgbClr val="1A5276">
                      <a:alphaMod val="6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10001250" y="2667000"/>
              <a:ext cx="381000" cy="1"/>
            </a:xfrm>
            <a:prstGeom prst="line">
              <a:avLst/>
            </a:prstGeom>
            <a:noFill/>
            <a:ln w="19050">
              <a:solidFill>
                <a:srgbClr val="3498DB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382250" y="1905000"/>
              <a:ext cx="1524000" cy="1524000"/>
              <a:chOff x="10382250" y="1905000"/>
              <a:chExt cx="1524000" cy="1524000"/>
            </a:xfrm>
            <a:effectLst>
              <a:outerShdw blurRad="76200" dist="28575" dir="5400000" algn="ctr" rotWithShape="0">
                <a:srgbClr val="1A5276">
                  <a:alpha val="7500"/>
                </a:srgbClr>
              </a:outerShdw>
            </a:effectLst>
          </p:grpSpPr>
          <p:sp>
            <p:nvSpPr>
              <p:cNvPr id="40" name="Ellipse 40"/>
              <p:cNvSpPr/>
              <p:nvPr/>
            </p:nvSpPr>
            <p:spPr>
              <a:xfrm>
                <a:off x="10382250" y="1905000"/>
                <a:ext cx="1524000" cy="1524000"/>
              </a:xfrm>
              <a:prstGeom prst="ellipse">
                <a:avLst/>
              </a:prstGeom>
              <a:solidFill>
                <a:srgbClr val="D5E8F7"/>
              </a:solidFill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1036720" y="2249805"/>
                <a:ext cx="215060" cy="42672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6</a:t>
                </a:r>
                <a:endParaRPr lang="zh-CN" sz="21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892790" y="266509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A5276">
                        <a:alphaMod val="8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模型部署</a:t>
                </a:r>
                <a:endParaRPr lang="zh-CN" sz="900" dirty="0">
                  <a:solidFill>
                    <a:srgbClr val="1A5276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833985" y="2863691"/>
                <a:ext cx="620530" cy="16764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1A5276">
                    <a:alpha val="7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A5276">
                        <a:alphaMod val="6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Deployment</a:t>
                </a:r>
                <a:endParaRPr lang="zh-CN" sz="825" dirty="0">
                  <a:solidFill>
                    <a:srgbClr val="1A5276">
                      <a:alphaMod val="6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46" name="Freeform 46"/>
          <p:cNvSpPr/>
          <p:nvPr/>
        </p:nvSpPr>
        <p:spPr>
          <a:xfrm>
            <a:off x="1047750" y="3429000"/>
            <a:ext cx="10096500" cy="1047750"/>
          </a:xfrm>
          <a:custGeom>
            <a:avLst/>
            <a:gdLst/>
            <a:ahLst/>
            <a:cxnLst/>
            <a:rect l="l" t="t" r="r" b="b"/>
            <a:pathLst>
              <a:path w="10096500" h="1047750">
                <a:moveTo>
                  <a:pt x="10096500" y="0"/>
                </a:moveTo>
                <a:cubicBezTo>
                  <a:pt x="10096500" y="698500"/>
                  <a:pt x="8413750" y="1047750"/>
                  <a:pt x="5048250" y="1047750"/>
                </a:cubicBezTo>
                <a:cubicBezTo>
                  <a:pt x="1682750" y="1047750"/>
                  <a:pt x="0" y="698500"/>
                  <a:pt x="0" y="0"/>
                </a:cubicBezTo>
              </a:path>
            </a:pathLst>
          </a:custGeom>
          <a:noFill/>
          <a:ln w="14288">
            <a:solidFill>
              <a:srgbClr val="E74C3C"/>
            </a:solidFill>
            <a:prstDash val="dash"/>
            <a:tailEnd type="triangle" w="lg" len="lg"/>
          </a:ln>
        </p:spPr>
      </p:sp>
      <p:sp>
        <p:nvSpPr>
          <p:cNvPr id="47" name="TextBox 47"/>
          <p:cNvSpPr txBox="1"/>
          <p:nvPr/>
        </p:nvSpPr>
        <p:spPr>
          <a:xfrm>
            <a:off x="5238512" y="4704874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反馈循环：各阶段可回溯迭代</a:t>
            </a:r>
            <a:endParaRPr lang="zh-CN" sz="975" dirty="0">
              <a:solidFill>
                <a:srgbClr val="E74C3C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56" name="Group 56"/>
          <p:cNvGrpSpPr/>
          <p:nvPr/>
        </p:nvGrpSpPr>
        <p:grpSpPr>
          <a:xfrm>
            <a:off x="571500" y="5048250"/>
            <a:ext cx="11049000" cy="952500"/>
            <a:chOff x="571500" y="5048250"/>
            <a:chExt cx="11049000" cy="952500"/>
          </a:xfrm>
        </p:grpSpPr>
        <p:sp>
          <p:nvSpPr>
            <p:cNvPr id="48" name="Rectangle 48"/>
            <p:cNvSpPr/>
            <p:nvPr/>
          </p:nvSpPr>
          <p:spPr>
            <a:xfrm>
              <a:off x="571500" y="5048250"/>
              <a:ext cx="11049000" cy="952500"/>
            </a:xfrm>
            <a:prstGeom prst="roundRect">
              <a:avLst>
                <a:gd name="adj" fmla="val 10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8665" y="520160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各阶段关键任务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9618" y="5438299"/>
              <a:ext cx="1994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 目标定义：明确问题与量化指标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69118" y="5438299"/>
              <a:ext cx="23260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2. 数据准备：选择 → 质量分析 → 预处理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02868" y="5438299"/>
              <a:ext cx="25860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 数据探索：描述统计 → 可视化 → 探索建模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9618" y="5657374"/>
              <a:ext cx="20465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4. 模型建立：选择算法 → 训练模型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369118" y="5657374"/>
              <a:ext cx="2306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5. 模型评估：准确率 → ROC → 回测验证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02868" y="5657374"/>
              <a:ext cx="22870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6. 模型部署：嵌入业务系统或分析参考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6477000"/>
            <a:ext cx="11049000" cy="276225"/>
            <a:chOff x="571500" y="6477000"/>
            <a:chExt cx="11049000" cy="276225"/>
          </a:xfrm>
        </p:grpSpPr>
        <p:sp>
          <p:nvSpPr>
            <p:cNvPr id="57" name="Line 57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48566" y="6570345"/>
              <a:ext cx="948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11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50000">
                  <a:srgbClr val="3498DB"/>
                </a:gs>
                <a:gs pos="100000">
                  <a:srgbClr val="1A5276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340542" y="502920"/>
            <a:ext cx="3510915" cy="763905"/>
            <a:chOff x="4340542" y="502920"/>
            <a:chExt cx="3510915" cy="763905"/>
          </a:xfrm>
        </p:grpSpPr>
        <p:sp>
          <p:nvSpPr>
            <p:cNvPr id="5" name="TextBox 5"/>
            <p:cNvSpPr txBox="1"/>
            <p:nvPr/>
          </p:nvSpPr>
          <p:spPr>
            <a:xfrm>
              <a:off x="5393436" y="502920"/>
              <a:ext cx="14051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重点回顾</a:t>
              </a:r>
              <a:endParaRPr lang="zh-CN" sz="24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340542" y="918210"/>
              <a:ext cx="35109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第1讲 数据挖掘的基本认知 · 核心概念一句话总结</a:t>
              </a:r>
              <a:endParaRPr lang="zh-CN" sz="12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0" y="123825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571500" y="1524000"/>
            <a:ext cx="11049000" cy="3857625"/>
            <a:chOff x="571500" y="1524000"/>
            <a:chExt cx="11049000" cy="3857625"/>
          </a:xfrm>
        </p:grpSpPr>
        <p:grpSp>
          <p:nvGrpSpPr>
            <p:cNvPr id="13" name="Group 13"/>
            <p:cNvGrpSpPr/>
            <p:nvPr/>
          </p:nvGrpSpPr>
          <p:grpSpPr>
            <a:xfrm>
              <a:off x="571500" y="1524000"/>
              <a:ext cx="5334000" cy="619125"/>
              <a:chOff x="571500" y="1524000"/>
              <a:chExt cx="5334000" cy="619125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524000"/>
                <a:ext cx="5334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71500" y="1524000"/>
                <a:ext cx="38100" cy="619125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94385" y="16611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大数据</a:t>
                </a:r>
                <a:endPara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97242" y="1894999"/>
                <a:ext cx="42307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4V特征（Volume、Variety、Value、Velocity）定义了大数据的核心属性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286500" y="1524000"/>
              <a:ext cx="5334000" cy="619125"/>
              <a:chOff x="6286500" y="1524000"/>
              <a:chExt cx="5334000" cy="61912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286500" y="1524000"/>
                <a:ext cx="5334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6286500" y="1524000"/>
                <a:ext cx="38100" cy="619125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509385" y="16611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数据挖掘</a:t>
                </a:r>
                <a:endPara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512242" y="1894999"/>
                <a:ext cx="340518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从大量有噪声的数据中提取隐含的、潜在有用的信息和知识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71500" y="2333625"/>
              <a:ext cx="5334000" cy="619125"/>
              <a:chOff x="571500" y="2333625"/>
              <a:chExt cx="5334000" cy="61912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71500" y="2333625"/>
                <a:ext cx="5334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571500" y="2333625"/>
                <a:ext cx="38100" cy="619125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94385" y="247078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数据降维</a:t>
                </a:r>
                <a:endParaRPr lang="zh-CN" sz="120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97242" y="2704624"/>
                <a:ext cx="31061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PCA（线性）和 t-SNE（非线性）是两种经典降维方法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286500" y="2333625"/>
              <a:ext cx="5334000" cy="619125"/>
              <a:chOff x="6286500" y="2333625"/>
              <a:chExt cx="5334000" cy="619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286500" y="2333625"/>
                <a:ext cx="5334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6286500" y="2333625"/>
                <a:ext cx="38100" cy="619125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509385" y="2470785"/>
                <a:ext cx="132424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有监督 vs 无监督</a:t>
                </a:r>
                <a:endParaRPr lang="zh-CN" sz="120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512242" y="2704624"/>
                <a:ext cx="35482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有监督需要标签用于分类/回归；无监督无标签用于聚类/关联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71500" y="3143250"/>
              <a:ext cx="5334000" cy="619125"/>
              <a:chOff x="571500" y="3143250"/>
              <a:chExt cx="5334000" cy="619125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71500" y="3143250"/>
                <a:ext cx="5334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571500" y="3143250"/>
                <a:ext cx="38100" cy="619125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94385" y="328041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数据结构类型</a:t>
                </a:r>
                <a:endPara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97242" y="3514249"/>
                <a:ext cx="38407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结构化（表）、半结构化（XML/JSON）、非结构化（文本/图像）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286500" y="3143250"/>
              <a:ext cx="5334000" cy="619125"/>
              <a:chOff x="6286500" y="3143250"/>
              <a:chExt cx="5334000" cy="619125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286500" y="3143250"/>
                <a:ext cx="5334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6286500" y="3143250"/>
                <a:ext cx="38100" cy="619125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509385" y="3280410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预处理与清洗</a:t>
                </a:r>
                <a:endParaRPr lang="zh-CN" sz="120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512242" y="3514249"/>
                <a:ext cx="246257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清洗→集成→归约→变换；"垃圾进，垃圾出"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71500" y="3952875"/>
              <a:ext cx="5334000" cy="619125"/>
              <a:chOff x="571500" y="3952875"/>
              <a:chExt cx="5334000" cy="619125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571500" y="3952875"/>
                <a:ext cx="5334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571500" y="3952875"/>
                <a:ext cx="38100" cy="619125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94385" y="4090035"/>
                <a:ext cx="120662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标准化与归一化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97242" y="4323874"/>
                <a:ext cx="406177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标准化(Z-score)和归一化(Min-Max)消除量纲影响；决策树无需缩放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286500" y="3952875"/>
              <a:ext cx="5334000" cy="619125"/>
              <a:chOff x="6286500" y="3952875"/>
              <a:chExt cx="5334000" cy="619125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6286500" y="3952875"/>
                <a:ext cx="5334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6286500" y="3952875"/>
                <a:ext cx="38100" cy="619125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509385" y="409003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衍生变量</a:t>
                </a:r>
                <a:endParaRPr lang="zh-CN" sz="120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512242" y="4323874"/>
                <a:ext cx="36652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特征工程决定模型性能上限，好的衍生变量能大幅提升模型表现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571500" y="4762500"/>
              <a:ext cx="11049000" cy="619125"/>
              <a:chOff x="571500" y="4762500"/>
              <a:chExt cx="11049000" cy="619125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571500" y="4762500"/>
                <a:ext cx="11049000" cy="619125"/>
              </a:xfrm>
              <a:prstGeom prst="roundRect">
                <a:avLst>
                  <a:gd name="adj" fmla="val 12308"/>
                </a:avLst>
              </a:prstGeom>
              <a:solidFill>
                <a:srgbClr val="1A5276">
                  <a:alpha val="6000"/>
                </a:srgbClr>
              </a:solidFill>
              <a:ln>
                <a:noFill/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571500" y="4762500"/>
                <a:ext cx="38100" cy="619125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94385" y="4899660"/>
                <a:ext cx="120662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六阶段生命周期</a:t>
                </a:r>
                <a:endPara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97242" y="5133499"/>
                <a:ext cx="4802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目标定义 → 数据准备 → 数据探索 → 模型建立 → 模型评估 → 模型部署（可回溯迭代）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2865453" y="5855018"/>
            <a:ext cx="6461093" cy="274320"/>
            <a:chOff x="2865453" y="5855018"/>
            <a:chExt cx="6461093" cy="274320"/>
          </a:xfrm>
        </p:grpSpPr>
        <p:sp>
          <p:nvSpPr>
            <p:cNvPr id="55" name="TextBox 55"/>
            <p:cNvSpPr txBox="1"/>
            <p:nvPr/>
          </p:nvSpPr>
          <p:spPr>
            <a:xfrm>
              <a:off x="2865453" y="5855018"/>
              <a:ext cx="64610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牢记这些基础概念，为后续回归、分类、聚类、关联规则的学习打下坚实基础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3542</Words>
  <Application>WPS 演示</Application>
  <PresentationFormat>On-screen Show (4:3)</PresentationFormat>
  <Paragraphs>639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Noto Sans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张椅达</cp:lastModifiedBy>
  <cp:revision>2</cp:revision>
  <dcterms:created xsi:type="dcterms:W3CDTF">2013-01-27T09:14:00Z</dcterms:created>
  <dcterms:modified xsi:type="dcterms:W3CDTF">2026-06-14T07:39:26Z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BB7FEC64CFAF4F959A3920FC0479AFD6_12</vt:lpwstr>
  </property>
</Properties>
</file>