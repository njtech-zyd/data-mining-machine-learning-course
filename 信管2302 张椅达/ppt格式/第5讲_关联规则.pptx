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第五讲课后作业，整理关联规则与Apriori算法完整笔记，涵盖应用场景、基本概念、算法流程、手动计算、矩阵表示和Python实现。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联规则有五大应用场景。购物篮分析中淘宝京东都在用，工程故障分析降低维护成本，医学中自闭症药物关联网络发现跨治疗组药物研究超过70%，金融保险行业也有重要应用。两种思维：直接解决问题或构建知识图谱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九个基本概念非常重要，考试常考。项和项集、事务、支持度计数、关联规则、支持度、置信度、提升度、频繁项集、强关联规则。关键是要能在案例中准确识别这些概念。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网球拍示例最经典。6条交易记录，网球拍为例。支持度3除以6等于0.5，置信度3除以5等于0.6。每个概念都能在示例中对号入座，考试就是这么考。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Apriori两大步：先找频繁项集，再生成强关联规则。核心是先验原则，非频繁的超集也是非频繁的，通过剪枝降低计算量。连接和剪枝的操作要理解。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手动计算第一步。9条记录5个项，最小支持度设为2。C1到L1全部保留，C2到L2剪掉支持度不足的。重点掌握这个迭代过程。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继续计算C3到L3，L3只有两个3项集。第4次扫描C4为空算法终止。然后从频繁项集生成强关联规则，这里是考试重点。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矩阵表示很重要，行是事务列是项，交叉点0或1。这就是NLP里的词向量。课堂练习计算两个句子的余弦相似度，结果是1除以3约等于0.33。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Python代码实现。用mlxtend库的TransactionEncoder把数据转成0-1矩阵，然后调apriori函数挖掘频繁项集。数据是25种商品100笔交易。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执行apriori函数，最小支持度0.02，共发现83条关联关系。然后构建知识图谱，节点是商品，边是关联关系，边粗表示共现强度。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知识图谱可视化结果和行业关联选股法。节点和边的网络直观展示商品关联关系。选股法通过行业涨跌联动发现潜在投资机会。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六项作业任务全部完成。所有代码和结果都在PPT中，无需辅助文件。关联规则的本质是从大规模数据中发现隐藏的共现关系。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47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610050" y="2087880"/>
            <a:ext cx="6971900" cy="1829276"/>
            <a:chOff x="2610050" y="2087880"/>
            <a:chExt cx="6971900" cy="1829276"/>
          </a:xfrm>
        </p:grpSpPr>
        <p:sp>
          <p:nvSpPr>
            <p:cNvPr id="8" name="TextBox 8"/>
            <p:cNvSpPr txBox="1"/>
            <p:nvPr/>
          </p:nvSpPr>
          <p:spPr>
            <a:xfrm>
              <a:off x="2610050" y="2087880"/>
              <a:ext cx="697190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第五讲 关联规则与Apriori算法</a:t>
              </a:r>
              <a:endParaRPr lang="zh-CN" sz="36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81586" y="2742248"/>
              <a:ext cx="242882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课后作业 · 完整笔记</a:t>
              </a:r>
              <a:endParaRPr lang="zh-CN" sz="1950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238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887688" y="3688556"/>
              <a:ext cx="4416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关联规则应用 · 基本概念 · Apriori算法 · Python实现 · 知识图谱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35464" y="637984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数据挖掘与机器学习 · 课堂作业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73195" y="4243070"/>
            <a:ext cx="6191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40785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任务1：关联规则的应用场景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5334000" cy="1190625"/>
            <a:chOff x="571500" y="1143000"/>
            <a:chExt cx="5334000" cy="1190625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1190625"/>
            </a:xfrm>
            <a:prstGeom prst="roundRect">
              <a:avLst>
                <a:gd name="adj" fmla="val 64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3182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购物篮分析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590199"/>
              <a:ext cx="2768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发现顾客购买行为模式，"啤酒与尿布"经典案例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807845"/>
              <a:ext cx="2195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用途：商品摆放优化·关联推荐·交叉销售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143000"/>
            <a:ext cx="5334000" cy="1190625"/>
            <a:chOff x="6286500" y="1143000"/>
            <a:chExt cx="5334000" cy="1190625"/>
          </a:xfrm>
        </p:grpSpPr>
        <p:sp>
          <p:nvSpPr>
            <p:cNvPr id="13" name="Rectangle 13"/>
            <p:cNvSpPr/>
            <p:nvPr/>
          </p:nvSpPr>
          <p:spPr>
            <a:xfrm>
              <a:off x="6286500" y="1143000"/>
              <a:ext cx="5334000" cy="1190625"/>
            </a:xfrm>
            <a:prstGeom prst="roundRect">
              <a:avLst>
                <a:gd name="adj" fmla="val 64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1760" y="13182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工程故障关联分析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618" y="15901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设备A故障→设备B也很可能故障的关联模式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5570" y="1807845"/>
              <a:ext cx="31792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用途：降低维护成本·预防性维修·参《大话数据挖掘》P206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2524125"/>
            <a:ext cx="5334000" cy="1381125"/>
            <a:chOff x="571500" y="2524125"/>
            <a:chExt cx="5334000" cy="1381125"/>
          </a:xfrm>
        </p:grpSpPr>
        <p:sp>
          <p:nvSpPr>
            <p:cNvPr id="19" name="Rectangle 19"/>
            <p:cNvSpPr/>
            <p:nvPr/>
          </p:nvSpPr>
          <p:spPr>
            <a:xfrm>
              <a:off x="571500" y="2524125"/>
              <a:ext cx="5334000" cy="1381125"/>
            </a:xfrm>
            <a:prstGeom prst="roundRect">
              <a:avLst>
                <a:gd name="adj" fmla="val 551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5241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2699385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医学规律发现（重点展开）</a:t>
              </a:r>
              <a:endParaRPr lang="zh-CN" sz="120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2971324"/>
              <a:ext cx="1870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"症状-基因-药物"潜在关联分析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3180874"/>
              <a:ext cx="2150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案例：自闭症(Autism)药物关联网络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0570" y="3398520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19869篇文献·145种药物·构建药物关联网络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0570" y="3569970"/>
              <a:ext cx="2219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发现跨治疗组药物研究越来越普遍(70%+)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2524125"/>
            <a:ext cx="5334000" cy="1381125"/>
            <a:chOff x="6286500" y="2524125"/>
            <a:chExt cx="5334000" cy="1381125"/>
          </a:xfrm>
        </p:grpSpPr>
        <p:sp>
          <p:nvSpPr>
            <p:cNvPr id="27" name="Rectangle 27"/>
            <p:cNvSpPr/>
            <p:nvPr/>
          </p:nvSpPr>
          <p:spPr>
            <a:xfrm>
              <a:off x="6286500" y="2524125"/>
              <a:ext cx="5334000" cy="1381125"/>
            </a:xfrm>
            <a:prstGeom prst="roundRect">
              <a:avLst>
                <a:gd name="adj" fmla="val 551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25241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1760" y="2699385"/>
              <a:ext cx="17610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金融证券 + 保险 + 餐厅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2971324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行业关联选股：发现股票与行业的涨跌联动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180874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保险业：识别高风险关联特征组合以降低风险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5570" y="3398520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餐厅：发现关联大的菜品，辅助生成满意菜单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143375"/>
            <a:ext cx="11049000" cy="835819"/>
            <a:chOff x="571500" y="4143375"/>
            <a:chExt cx="11049000" cy="835819"/>
          </a:xfrm>
        </p:grpSpPr>
        <p:sp>
          <p:nvSpPr>
            <p:cNvPr id="34" name="Rectangle 34"/>
            <p:cNvSpPr/>
            <p:nvPr/>
          </p:nvSpPr>
          <p:spPr>
            <a:xfrm>
              <a:off x="571500" y="4143375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6760" y="4299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应用关联规则的两种思维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4590574"/>
              <a:ext cx="39252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思维一：发现事物之间的关联，直接解决问题（如行业关联选股法）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4781074"/>
              <a:ext cx="41852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思维二：发现关联构建大规模知识图谱，再基于图谱进行更高维度的工作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6" grpId="0"/>
      <p:bldP spid="33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47610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任务2：关联规则的基本概念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1143000"/>
            <a:ext cx="11049000" cy="1285875"/>
            <a:chOff x="571500" y="1143000"/>
            <a:chExt cx="11049000" cy="1285875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143000"/>
              <a:ext cx="2571750" cy="571500"/>
              <a:chOff x="571500" y="1143000"/>
              <a:chExt cx="2571750" cy="571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48665" y="1286828"/>
                <a:ext cx="10925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项(Item)与项集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1522" y="1511141"/>
                <a:ext cx="14731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商品/属性，如{网球拍,网球}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381375" y="1143000"/>
              <a:ext cx="2571750" cy="571500"/>
              <a:chOff x="3381375" y="1143000"/>
              <a:chExt cx="257175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381375" y="1143000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381375" y="1143000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58540" y="1286828"/>
                <a:ext cx="13351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事务(Transaction)</a:t>
                </a:r>
                <a:endPara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61398" y="151114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每一条购买记录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191250" y="1143000"/>
              <a:ext cx="2571750" cy="571500"/>
              <a:chOff x="6191250" y="1143000"/>
              <a:chExt cx="2571750" cy="571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191250" y="1143000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191250" y="1143000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68415" y="1286828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支持度计数</a:t>
                </a:r>
                <a:endPara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71272" y="1511141"/>
                <a:ext cx="12311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项集在事务中的出现次数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001125" y="1143000"/>
              <a:ext cx="2619375" cy="571500"/>
              <a:chOff x="9001125" y="1143000"/>
              <a:chExt cx="2619375" cy="571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001125" y="1143000"/>
                <a:ext cx="2619375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9001125" y="1143000"/>
                <a:ext cx="2619375" cy="28575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178290" y="12868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关联规则</a:t>
                </a:r>
                <a:endParaRPr lang="zh-CN" sz="105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81148" y="1511141"/>
                <a:ext cx="7525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A→B的蕴含关系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1857375"/>
              <a:ext cx="2571750" cy="571500"/>
              <a:chOff x="571500" y="1857375"/>
              <a:chExt cx="2571750" cy="571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1857375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71500" y="1857375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48665" y="2001202"/>
                <a:ext cx="11954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支持度(Support)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1522" y="2225516"/>
                <a:ext cx="11540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P(A∩B)，项集出现频率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381375" y="1857375"/>
              <a:ext cx="2571750" cy="571500"/>
              <a:chOff x="3381375" y="1857375"/>
              <a:chExt cx="257175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381375" y="1857375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3381375" y="1857375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558540" y="2001202"/>
                <a:ext cx="14012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置信度(Confidence)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561398" y="2225516"/>
                <a:ext cx="1126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P(B|A)，规则的可靠性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191250" y="1857375"/>
              <a:ext cx="2571750" cy="571500"/>
              <a:chOff x="6191250" y="1857375"/>
              <a:chExt cx="2571750" cy="571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191250" y="1857375"/>
                <a:ext cx="2571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191250" y="1857375"/>
                <a:ext cx="2571750" cy="28575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368415" y="2001202"/>
                <a:ext cx="916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提升度(Lift)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71272" y="2225516"/>
                <a:ext cx="120910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Conf/P(B)，&gt;1为正相关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001125" y="1857375"/>
              <a:ext cx="2619375" cy="571500"/>
              <a:chOff x="9001125" y="1857375"/>
              <a:chExt cx="2619375" cy="571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001125" y="1857375"/>
                <a:ext cx="2619375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9001125" y="1857375"/>
                <a:ext cx="2619375" cy="2857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178290" y="2001202"/>
                <a:ext cx="11366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频繁项集/强规则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181148" y="2225516"/>
                <a:ext cx="18251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支持度≥min_sup / 置信度≥min_conf</a:t>
                </a:r>
                <a:endParaRPr lang="zh-CN" sz="8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71500" y="2667000"/>
            <a:ext cx="11049000" cy="666750"/>
            <a:chOff x="571500" y="2667000"/>
            <a:chExt cx="11049000" cy="666750"/>
          </a:xfrm>
        </p:grpSpPr>
        <p:sp>
          <p:nvSpPr>
            <p:cNvPr id="48" name="Rectangle 48"/>
            <p:cNvSpPr/>
            <p:nvPr/>
          </p:nvSpPr>
          <p:spPr>
            <a:xfrm>
              <a:off x="571500" y="2667000"/>
              <a:ext cx="11049000" cy="666750"/>
            </a:xfrm>
            <a:prstGeom prst="roundRect">
              <a:avLst>
                <a:gd name="adj" fmla="val 1142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8665" y="28203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核心公式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8665" y="3058478"/>
              <a:ext cx="64394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Support(A→B) = P(A∪B) | Confidence(A→B) = P(B|A) = P(A∪B)/P(A) | Lift(A→B) = Conf(A→B)/P(B)</a:t>
              </a:r>
              <a:endParaRPr lang="zh-CN" sz="10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3571875"/>
            <a:ext cx="11049000" cy="771525"/>
            <a:chOff x="571500" y="3571875"/>
            <a:chExt cx="11049000" cy="771525"/>
          </a:xfrm>
        </p:grpSpPr>
        <p:sp>
          <p:nvSpPr>
            <p:cNvPr id="52" name="Rectangle 52"/>
            <p:cNvSpPr/>
            <p:nvPr/>
          </p:nvSpPr>
          <p:spPr>
            <a:xfrm>
              <a:off x="571500" y="3571875"/>
              <a:ext cx="11049000" cy="714375"/>
            </a:xfrm>
            <a:prstGeom prst="roundRect">
              <a:avLst>
                <a:gd name="adj" fmla="val 10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22595" y="37157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关联规则挖掘流程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499545" y="3990499"/>
              <a:ext cx="5192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原始数据 → 设置最小支持度 → 找频繁项集 → 设置最小置信度 → 生成强关联规则 → 结果分析</a:t>
              </a:r>
              <a:endParaRPr lang="zh-CN" sz="97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434364" y="4160520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考试要求：遇到类似J-表6-1的案例，要能将上述概念对号入座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51552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任务2（续）：概念对号入座 — 网球拍示例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143000"/>
            <a:ext cx="4762500" cy="1905000"/>
            <a:chOff x="571500" y="1143000"/>
            <a:chExt cx="4762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47625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47625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318260"/>
              <a:ext cx="1945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事务数据库 D（6条记录）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1598295"/>
              <a:ext cx="13910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T1: 网球拍, 网球, 运动鞋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788795"/>
              <a:ext cx="9589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T2: 网球拍, 网球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1979295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T3: 网球拍, 羽毛球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169795"/>
              <a:ext cx="14210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T4: 网球拍, 网球, 羽毛球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360295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T5: 运动鞋, 羽毛球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550795"/>
              <a:ext cx="616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T6: 运动鞋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2799874"/>
              <a:ext cx="2673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全项集 I = {网球拍, 网球, 运动鞋, 羽毛球}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19750" y="1143000"/>
            <a:ext cx="6000750" cy="2085975"/>
            <a:chOff x="5619750" y="1143000"/>
            <a:chExt cx="6000750" cy="2085975"/>
          </a:xfrm>
        </p:grpSpPr>
        <p:sp>
          <p:nvSpPr>
            <p:cNvPr id="18" name="Rectangle 18"/>
            <p:cNvSpPr/>
            <p:nvPr/>
          </p:nvSpPr>
          <p:spPr>
            <a:xfrm>
              <a:off x="5619750" y="1143000"/>
              <a:ext cx="600075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95010" y="1318260"/>
              <a:ext cx="1903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关联规则：网球拍 → 网球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5810250" y="16192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96915" y="17726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支持度计算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7868" y="19902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Support(网球拍→网球) = 3/6 = 0.5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8820" y="2207895"/>
              <a:ext cx="22731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解释：{网球拍,网球}在6条记录中出现3次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5810250" y="2476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96915" y="26012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置信度计算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7868" y="2818924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Conf(网球拍→网球) = 3/5 = 0.6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98820" y="3046095"/>
              <a:ext cx="2195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解释：买网球拍的5人中有3人也买了网球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235642"/>
            <a:ext cx="11049000" cy="2526983"/>
            <a:chOff x="571500" y="3235642"/>
            <a:chExt cx="11049000" cy="2526983"/>
          </a:xfrm>
        </p:grpSpPr>
        <p:sp>
          <p:nvSpPr>
            <p:cNvPr id="29" name="TextBox 29"/>
            <p:cNvSpPr txBox="1"/>
            <p:nvPr/>
          </p:nvSpPr>
          <p:spPr>
            <a:xfrm>
              <a:off x="744855" y="3235642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概念对号入座（考试重点）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3571875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618" y="3733324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 → 映射到案例</a:t>
              </a:r>
              <a:endParaRPr lang="zh-CN" sz="9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398145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4133374"/>
              <a:ext cx="2527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项(Item)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：网球拍、网球、运动鞋、羽毛球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371499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事务(Transaction)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：T1到T6，共6条购买记录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4609624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项集(Itemset)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：{网球拍,网球}是2-项集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4847749"/>
              <a:ext cx="3203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支持度计数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：{网球拍,网球}出现了3次 → 支持度计数=3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5085874"/>
              <a:ext cx="29826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：网球拍→网球 |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支持度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=0.5 |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=0.6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5323999"/>
              <a:ext cx="4705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频繁项集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：设min_sup=0.3→支持度≥0.3的项集 | </a:t>
              </a:r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强关联规则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：同时满足min_conf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5570220"/>
              <a:ext cx="41033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考试要求：给一个新的案例数据，能准确找出项、事务、计算支持度和置信度</a:t>
              </a:r>
              <a:endParaRPr lang="zh-CN" sz="90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02560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任务3：Apriori算法流程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1092518"/>
            <a:ext cx="11049000" cy="2727007"/>
            <a:chOff x="571500" y="1092518"/>
            <a:chExt cx="11049000" cy="2727007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092518"/>
              <a:ext cx="18016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Apriori算法两大步骤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71500" y="1476375"/>
              <a:ext cx="5334000" cy="2190750"/>
              <a:chOff x="571500" y="1476375"/>
              <a:chExt cx="5334000" cy="2190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5808" y="1653064"/>
                <a:ext cx="160338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1：找频繁项集</a:t>
                </a:r>
                <a:endPara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950720"/>
                <a:ext cx="19190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① 扫描全部数据，产生候选1-项集C₁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2122170"/>
                <a:ext cx="18290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② 根据最小支持度，由C₁筛选出L₁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2293620"/>
                <a:ext cx="18710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③ 对k&gt;1：Lₖ连接+剪枝→Cₖ₊₁→Lₖ₊₁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2465070"/>
                <a:ext cx="976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④ 重复直到Lₖ为空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762000" y="2762250"/>
                <a:ext cx="485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9525">
                    <a:moveTo>
                      <a:pt x="0" y="0"/>
                    </a:moveTo>
                    <a:lnTo>
                      <a:pt x="48577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50570" y="2903220"/>
                <a:ext cx="2273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Cₖ → Lₖ → Cₖ₊₁ → Lₖ₊₁ → ... → Lₙ=Φ→停止</a:t>
                </a:r>
                <a:endParaRPr lang="zh-CN" sz="90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3141345"/>
                <a:ext cx="17510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Cₖ=候选k-项集 | Lₖ=频繁k-项集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0570" y="3350895"/>
                <a:ext cx="20631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先验原则：非频繁项集的超集必非频繁</a:t>
                </a:r>
                <a:endPara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1476375"/>
              <a:ext cx="5334000" cy="2343150"/>
              <a:chOff x="6286500" y="1476375"/>
              <a:chExt cx="5334000" cy="23431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286500" y="1476375"/>
                <a:ext cx="53340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286500" y="14763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460808" y="1653064"/>
                <a:ext cx="200505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2：生成强关联规则</a:t>
                </a:r>
                <a:endPara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5570" y="1950720"/>
                <a:ext cx="2045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⑤ 从每个频繁项集中生成所有可能规则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5570" y="2122170"/>
                <a:ext cx="1325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⑥ 计算每条规则的置信度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5570" y="2293620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⑦ 保留置信度 ≥ 最小置信度的规则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477000" y="2762250"/>
                <a:ext cx="485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9525">
                    <a:moveTo>
                      <a:pt x="0" y="0"/>
                    </a:moveTo>
                    <a:lnTo>
                      <a:pt x="48577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462712" y="29075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连接操作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65570" y="3160395"/>
                <a:ext cx="25011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Lₖ与Lₖ连接：前(k-1)个项相同→合并为k+1项集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62712" y="33837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剪枝操作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65570" y="3636645"/>
                <a:ext cx="2081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删除含非频繁子集的候选 → 减少计算量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571500" y="3905250"/>
            <a:ext cx="11049000" cy="2212181"/>
            <a:chOff x="571500" y="3905250"/>
            <a:chExt cx="11049000" cy="2212181"/>
          </a:xfrm>
        </p:grpSpPr>
        <p:sp>
          <p:nvSpPr>
            <p:cNvPr id="33" name="Rectangle 33"/>
            <p:cNvSpPr/>
            <p:nvPr/>
          </p:nvSpPr>
          <p:spPr>
            <a:xfrm>
              <a:off x="571500" y="3905250"/>
              <a:ext cx="11049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40805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算法伪代码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522" y="4406741"/>
              <a:ext cx="983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L₁ = {频繁1-项集};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522" y="4578191"/>
              <a:ext cx="13631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(k=2; Lₖ₋₁≠Φ; k++) {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022" y="474964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Cₖ = apriori_gen(Lₖ₋₁); // 连接+剪枝生成候选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022" y="4921091"/>
              <a:ext cx="20617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each 事务 t ∈ D { // 扫描数据库计数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2522" y="5092541"/>
              <a:ext cx="22157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Cₜ = subset(Cₖ, t); // 找出t中包含的候选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2522" y="5263991"/>
              <a:ext cx="17701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each 候选 c ∈ Cₜ: c.count++;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022" y="5435441"/>
              <a:ext cx="814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2022" y="5606891"/>
              <a:ext cx="17646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Lₖ = {c ∈ Cₖ | c.count ≥ min_sup}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522" y="5778341"/>
              <a:ext cx="814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522" y="5949791"/>
              <a:ext cx="17756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∪ Lₖ (所有频繁项集的并集)</a:t>
              </a:r>
              <a:endParaRPr lang="zh-CN" sz="825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52644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任务3（续）：手动计算示例 — 第1-2次扫描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71500" y="1143000"/>
            <a:ext cx="4762500" cy="2359819"/>
            <a:chOff x="571500" y="1143000"/>
            <a:chExt cx="4762500" cy="2359819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476250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47625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318260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事务数据库（9条记录）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1598295"/>
              <a:ext cx="706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T1: I1, I2, I5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788795"/>
              <a:ext cx="562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T2: I2, I4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1979295"/>
              <a:ext cx="562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T3: I2, I3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169795"/>
              <a:ext cx="7369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T4: I1, I2, I4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36029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T5: I1, I3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550795"/>
              <a:ext cx="562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T6: I2, I3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74129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T7: I1, I3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2931795"/>
              <a:ext cx="940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T8: I1, I2, I3, I5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570" y="3122295"/>
              <a:ext cx="7369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T9: I1, I2, I3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304699"/>
              <a:ext cx="28721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设定最小支持度计数 = 2（即min_sup=2/9≈22%）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19750" y="1143000"/>
            <a:ext cx="6000750" cy="2286000"/>
            <a:chOff x="5619750" y="1143000"/>
            <a:chExt cx="6000750" cy="2286000"/>
          </a:xfrm>
        </p:grpSpPr>
        <p:sp>
          <p:nvSpPr>
            <p:cNvPr id="21" name="Rectangle 21"/>
            <p:cNvSpPr/>
            <p:nvPr/>
          </p:nvSpPr>
          <p:spPr>
            <a:xfrm>
              <a:off x="5619750" y="1143000"/>
              <a:ext cx="600075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95010" y="1346835"/>
              <a:ext cx="1509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第1次扫描 → C₁ → L₁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5810250" y="16192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6915" y="1744028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候选1-项集 C₁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7868" y="19902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I1: 6次 | I2: 7次 | I3: 6次 | I4: 2次 | I5: 2次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810250" y="23336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96915" y="2458402"/>
              <a:ext cx="19305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频繁1-项集 L₁（支持度 ≥ 2）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6915" y="2696528"/>
              <a:ext cx="1607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L₁ = {I1, I2, I3, I4, I5}</a:t>
              </a:r>
              <a:endParaRPr lang="zh-CN" sz="1050" b="1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7868" y="294274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所有项均满足最小支持度，全部进入L₁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98820" y="3188970"/>
              <a:ext cx="1769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C₁大小=5 → L₁大小=5（无剪枝）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667125"/>
            <a:ext cx="11049000" cy="2190750"/>
            <a:chOff x="571500" y="3667125"/>
            <a:chExt cx="11049000" cy="2190750"/>
          </a:xfrm>
        </p:grpSpPr>
        <p:sp>
          <p:nvSpPr>
            <p:cNvPr id="32" name="Rectangle 32"/>
            <p:cNvSpPr/>
            <p:nvPr/>
          </p:nvSpPr>
          <p:spPr>
            <a:xfrm>
              <a:off x="571500" y="3667125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6760" y="3851910"/>
              <a:ext cx="15510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第2次扫描 → C₂ → L₂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762000" y="414337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8665" y="4268152"/>
              <a:ext cx="23201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连接：L₁自连接生成候选2-项集 C₂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4503420"/>
              <a:ext cx="63716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C₂ = {I1,I2}:4, {I1,I3}:4, {I1,I4}:1, {I1,I5}:2, {I2,I3}:4, {I2,I4}:2, {I2,I5}:2, {I3,I4}:0, {I3,I5}:1, {I4,I5}:0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762000" y="48387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665" y="4963478"/>
              <a:ext cx="2680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剪枝（最小支持度 ≥ 2）→ 频繁2-项集 L₂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8665" y="5201602"/>
              <a:ext cx="3422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L₂ = {I1,I2} {I1,I3} {I1,I5} {I2,I3} {I2,I4} {I2,I5}</a:t>
              </a:r>
              <a:endParaRPr lang="zh-CN" sz="1050" b="1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570" y="5427345"/>
              <a:ext cx="37253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C₂大小=10，剪枝后L₂大小=6（删除了{I1,I4}{I3,I4}{I3,I5}{I4,I5}）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56178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删除{I1,I4}支持度=1 &lt; 2；{I3,I4}{I4,I5}=0；{I3,I5}=1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478667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任务3（续）：第3-4次扫描 + 生成规则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143000"/>
            <a:ext cx="5334000" cy="2381250"/>
            <a:chOff x="571500" y="1143000"/>
            <a:chExt cx="5334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346835"/>
              <a:ext cx="15510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第3次扫描 → C₃ → L₃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20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连接操作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855470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L₂={I1,I2}{I1,I3}{I1,I5}{I2,I3}{I2,I4}{I2,I5}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074545"/>
              <a:ext cx="13910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连接条件：前k-1个项相同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275999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{I1,I2}+{I1,I3}→{I1,I2,I3}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466499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{I1,I2}+{I1,I5}→{I1,I2,I5}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696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经剪枝验证后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9317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{I1,I2,I3} 子集都是频繁的 → 保留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1222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{I1,I2,I5} 子集都是频繁的 → 保留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304699"/>
              <a:ext cx="1601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L₃ = {I1,I2,I3} {I1,I2,I5}</a:t>
              </a:r>
              <a:endParaRPr lang="zh-CN" sz="975" b="1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143000"/>
            <a:ext cx="5334000" cy="2562225"/>
            <a:chOff x="6286500" y="1143000"/>
            <a:chExt cx="5334000" cy="2562225"/>
          </a:xfrm>
        </p:grpSpPr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1760" y="1346835"/>
              <a:ext cx="1458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第4次扫描 → C₄ = Φ</a:t>
              </a:r>
              <a:endParaRPr lang="zh-CN" sz="120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1620202"/>
              <a:ext cx="1951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L₃自连接生成C₄：前2个项相同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18759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{I1,I2,I3}+{I1,I2,I5}→{I1,I2,I3,I5}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114074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剪枝：子集{I3,I5}不是频繁的 → 删除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344102"/>
              <a:ext cx="11954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C₄ = Φ → 算法终止</a:t>
              </a:r>
              <a:endParaRPr lang="zh-CN" sz="1050" b="1" dirty="0">
                <a:solidFill>
                  <a:srgbClr val="3498D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477000" y="2714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1760" y="28708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所有频繁项集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5570" y="3141345"/>
              <a:ext cx="1145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L₁: I1, I2, I3, I4, I5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5570" y="3331845"/>
              <a:ext cx="25791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L₂: {I1,I2}{I1,I3}{I1,I5}{I2,I3}{I2,I4}{I2,I5}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5570" y="3522345"/>
              <a:ext cx="1402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L₃: {I1,I2,I3}{I1,I2,I5}</a:t>
              </a:r>
              <a:endParaRPr lang="zh-CN" sz="90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664268"/>
            <a:ext cx="11049000" cy="2145982"/>
            <a:chOff x="571500" y="3664268"/>
            <a:chExt cx="11049000" cy="2145982"/>
          </a:xfrm>
        </p:grpSpPr>
        <p:sp>
          <p:nvSpPr>
            <p:cNvPr id="33" name="TextBox 33"/>
            <p:cNvSpPr txBox="1"/>
            <p:nvPr/>
          </p:nvSpPr>
          <p:spPr>
            <a:xfrm>
              <a:off x="744855" y="3664268"/>
              <a:ext cx="21230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2：生成强关联规则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000500"/>
              <a:ext cx="11049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8665" y="4172902"/>
              <a:ext cx="1967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以频繁3-项集 {I1,I2,I5} 为例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4427220"/>
              <a:ext cx="3395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可生成6条候选规则，计算每条规则的置信度（min_conf=0.7）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4665345"/>
              <a:ext cx="43914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I1∧I2→I5: conf=2/4=0.5 ✗ | I1∧I5→I2: conf=2/2=1.0 ✓ | I2∧I5→I1: conf=2/2=1.0 ✓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570" y="4874895"/>
              <a:ext cx="4553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I1→I2∧I5: conf=2/6=0.33 ✗ | I2→I1∧I5: conf=2/7=0.29 ✗ | I5→I1∧I2: conf=2/2=1.0 ✓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519112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8665" y="5334952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强关联规则（conf ≥ 0.7）：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5582602"/>
              <a:ext cx="7259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I1∧I5→I2 (支持度=2/9, 置信度=1.0) | I2∧I5→I1 (支持度=2/9, 置信度=1.0) | I5→I1∧I2 (支持度=2/9, 置信度=1.0)</a:t>
              </a:r>
              <a:endParaRPr lang="zh-CN" sz="10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347610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任务4：事务数据的矩阵表示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571500"/>
            <a:chOff x="571500" y="1143000"/>
            <a:chExt cx="11049000" cy="571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96352"/>
              <a:ext cx="6012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矩阵！矩阵！矩阵！行=事务，列=项，交叉点=元素（0或1）→ 也称为0-1矩阵、布尔矩阵、词向量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618" y="1494949"/>
              <a:ext cx="38342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这种矩阵表示在自然语言处理（NLP）中也常用，如"词-文档矩阵"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902142"/>
            <a:ext cx="4762500" cy="3050858"/>
            <a:chOff x="571500" y="1902142"/>
            <a:chExt cx="4762500" cy="3050858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1902142"/>
              <a:ext cx="28034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示例：将上述9事务×5项转为矩阵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86000"/>
              <a:ext cx="47625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618" y="2485549"/>
              <a:ext cx="7346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I1 I2 I3 I4 I5</a:t>
              </a:r>
              <a:endParaRPr lang="zh-CN" sz="975" b="1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712720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T1 1 1 0 0 1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903220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T2 0 1 0 1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3093720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T3 0 1 1 0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28422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T4 1 1 0 1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570" y="3474720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T5 1 0 1 0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0570" y="3665220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T6 0 1 1 0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0570" y="3855720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T7 1 0 1 0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0570" y="4046220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T8 1 1 1 0 1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570" y="423672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T9 1 1 1 0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0570" y="4474845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= 事务包含该项 | 0 = 不包含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19750" y="2286000"/>
            <a:ext cx="6000750" cy="2814638"/>
            <a:chOff x="5619750" y="2286000"/>
            <a:chExt cx="6000750" cy="2814638"/>
          </a:xfrm>
        </p:grpSpPr>
        <p:sp>
          <p:nvSpPr>
            <p:cNvPr id="25" name="Rectangle 25"/>
            <p:cNvSpPr/>
            <p:nvPr/>
          </p:nvSpPr>
          <p:spPr>
            <a:xfrm>
              <a:off x="5619750" y="2286000"/>
              <a:ext cx="600075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19750" y="2286000"/>
              <a:ext cx="6000750" cy="38100"/>
            </a:xfrm>
            <a:prstGeom prst="roundRect">
              <a:avLst>
                <a:gd name="adj" fmla="val 50000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94058" y="2481739"/>
              <a:ext cx="22906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NLP中的词向量（课堂练习）</a:t>
              </a:r>
              <a:endParaRPr lang="zh-CN" sz="12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6915" y="279177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句子1：我 / 喜欢 / 数据挖掘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96915" y="30299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句子2：你 / 喜欢 / 打游戏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810250" y="338137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96915" y="3506152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构建词-文档矩阵：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7868" y="3780949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我 你 喜欢 数据挖掘 打游戏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8820" y="3998595"/>
              <a:ext cx="7189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句子1 1 0 1 1 0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8820" y="4189095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句子2 0 1 1 0 1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5810250" y="452437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96915" y="4649152"/>
              <a:ext cx="21059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计算句子1与句子2的余弦相似度：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6915" y="4887278"/>
              <a:ext cx="2904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cos(θ) = (0+0+1+0+0)/(√3×√3) = 1/3 ≈ 0.33</a:t>
              </a:r>
              <a:endParaRPr lang="zh-CN" sz="10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53327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任务5：Python实现Apriori（1）— 数据准备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092518"/>
            <a:ext cx="5334000" cy="2012632"/>
            <a:chOff x="571500" y="1092518"/>
            <a:chExt cx="5334000" cy="2012632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092518"/>
              <a:ext cx="2170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步骤1：安装并导入依赖库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5334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0570" y="159829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安装所需库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1788795"/>
              <a:ext cx="2741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pip install mlxtend networkx pandas matplotlib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045970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导入库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236470"/>
              <a:ext cx="1181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pandas as pd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407920"/>
              <a:ext cx="3317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mlxtend.preprocessing import TransactionEncoder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579370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mlxtend.frequent_patterns import apriori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750820"/>
              <a:ext cx="1337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networkx as nx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922270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matplotlib.pyplot as plt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428750"/>
            <a:ext cx="5334000" cy="1143000"/>
            <a:chOff x="6286500" y="1428750"/>
            <a:chExt cx="53340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428750"/>
              <a:ext cx="5334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5570" y="159829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读取CSV数据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5570" y="1788795"/>
              <a:ext cx="20751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df = pd.read_csv('products.csv')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5570" y="204597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将每行转为商品列表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5570" y="2236470"/>
              <a:ext cx="3701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transactions = df[['商品1','商品2','商品3']].values.tolist()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3024822"/>
            <a:ext cx="11049000" cy="1869758"/>
            <a:chOff x="571500" y="2759392"/>
            <a:chExt cx="11049000" cy="1869758"/>
          </a:xfrm>
        </p:grpSpPr>
        <p:sp>
          <p:nvSpPr>
            <p:cNvPr id="24" name="TextBox 24"/>
            <p:cNvSpPr txBox="1"/>
            <p:nvPr/>
          </p:nvSpPr>
          <p:spPr>
            <a:xfrm>
              <a:off x="744855" y="2759392"/>
              <a:ext cx="22175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步骤2：数据转换与矩阵化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095625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0570" y="3255645"/>
              <a:ext cx="28912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使用TransactionEncoder将事务数据转换为0-1矩阵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34461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 = TransactionEncoder()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3636645"/>
              <a:ext cx="3395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te_ary = te.fit(transactions).transform(transactions)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3827145"/>
              <a:ext cx="33772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trans_df = pd.DataFrame(te_ary, columns=te.columns_)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0570" y="4065270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输出转换后的矩阵（25列 = 25种商品）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4255770"/>
              <a:ext cx="3347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print(trans_df.shape) # (100, 25) → 100条交易 × 25种商品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4446270"/>
              <a:ext cx="25371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print(trans_df.head()) # 显示前5行0-1矩阵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853622"/>
            <a:ext cx="11049000" cy="1491139"/>
            <a:chOff x="571500" y="4378642"/>
            <a:chExt cx="11049000" cy="1491139"/>
          </a:xfrm>
        </p:grpSpPr>
        <p:sp>
          <p:nvSpPr>
            <p:cNvPr id="34" name="TextBox 34"/>
            <p:cNvSpPr txBox="1"/>
            <p:nvPr/>
          </p:nvSpPr>
          <p:spPr>
            <a:xfrm>
              <a:off x="744855" y="4378642"/>
              <a:ext cx="2595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步骤3：运行结果（截图展示）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4762500"/>
              <a:ext cx="11049000" cy="1047750"/>
            </a:xfrm>
            <a:prstGeom prst="roundRect">
              <a:avLst>
                <a:gd name="adj" fmla="val 7273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1522" y="4940141"/>
              <a:ext cx="26777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⎡ 加湿器 吸尘器 吹风机 咖啡机 ... 蓝牙耳机 路由器 ⎤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1522" y="5130641"/>
              <a:ext cx="23312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⎢ 0 False False False False ... False False ⎥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522" y="5321141"/>
              <a:ext cx="29583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⎢ 1 False False False False ... False False ⎥ 100行 × 25列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522" y="5511641"/>
              <a:ext cx="29583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⎢ 2 False False False False ... False False ⎥ 0-1布尔矩阵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522" y="57021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⎣ ... ⎦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018562" y="67798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33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567403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任务5：Python实现（2）— Apriori挖掘与结果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092518"/>
            <a:ext cx="5334000" cy="2746057"/>
            <a:chOff x="571500" y="1092518"/>
            <a:chExt cx="5334000" cy="2746057"/>
          </a:xfrm>
        </p:grpSpPr>
        <p:sp>
          <p:nvSpPr>
            <p:cNvPr id="7" name="TextBox 7"/>
            <p:cNvSpPr txBox="1"/>
            <p:nvPr/>
          </p:nvSpPr>
          <p:spPr>
            <a:xfrm>
              <a:off x="744855" y="1092518"/>
              <a:ext cx="2472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步骤4：Apriori频繁项集挖掘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5334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0570" y="1598295"/>
              <a:ext cx="26211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调用Apriori（min_support=0.02 → 至少2次）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1807845"/>
              <a:ext cx="2339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frequent_itemsets = apriori(trans_df,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070" y="1979295"/>
              <a:ext cx="1138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min_support=0.02,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1070" y="2150745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use_colnames=True,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1070" y="2322195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max_len=2)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569845"/>
              <a:ext cx="10849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计算实际出现次数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760345"/>
              <a:ext cx="19370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frequent_itemsets['count'] = \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070" y="2931795"/>
              <a:ext cx="38873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(frequent_itemsets['support']*len(transactions)).astype(int)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1413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过滤出2项集且出现≥2次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570" y="331279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qualified = frequent_itemsets[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070" y="3484245"/>
              <a:ext cx="22011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(frequent_itemsets['length']==2) &amp;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1070" y="3655695"/>
              <a:ext cx="2129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(frequent_itemsets['count']&gt;=2)]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428750"/>
            <a:ext cx="5334000" cy="1964531"/>
            <a:chOff x="6286500" y="1428750"/>
            <a:chExt cx="5334000" cy="1964531"/>
          </a:xfrm>
        </p:grpSpPr>
        <p:sp>
          <p:nvSpPr>
            <p:cNvPr id="22" name="Rectangle 22"/>
            <p:cNvSpPr/>
            <p:nvPr/>
          </p:nvSpPr>
          <p:spPr>
            <a:xfrm>
              <a:off x="6286500" y="1428750"/>
              <a:ext cx="5334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1760" y="1565910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运行结果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5570" y="1855470"/>
              <a:ext cx="17750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输出 qualified（83条关联关系）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6522" y="2082641"/>
              <a:ext cx="12916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support itemsets count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6522" y="227314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0.02 [加湿器, 咖啡机] 2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6522" y="246364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0.02 [加湿器, 打印机] 2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6522" y="265414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0.02 [加湿器, 摄像头] 2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6522" y="2844641"/>
              <a:ext cx="1374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0.03 [智能手表, 加湿器] 3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6522" y="3035141"/>
              <a:ext cx="1484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0.04 [笔记本电脑, 路由器] 4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6522" y="3225641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... ... ...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788093"/>
            <a:ext cx="5334000" cy="2450782"/>
            <a:chOff x="571500" y="3473768"/>
            <a:chExt cx="5334000" cy="2450782"/>
          </a:xfrm>
        </p:grpSpPr>
        <p:sp>
          <p:nvSpPr>
            <p:cNvPr id="33" name="TextBox 33"/>
            <p:cNvSpPr txBox="1"/>
            <p:nvPr/>
          </p:nvSpPr>
          <p:spPr>
            <a:xfrm>
              <a:off x="744855" y="3473768"/>
              <a:ext cx="2595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步骤5：知识图谱构建与可视化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3810000"/>
              <a:ext cx="533400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0570" y="3979545"/>
              <a:ext cx="7249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创建图对象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4170045"/>
              <a:ext cx="886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 = nx.Graph()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4379595"/>
              <a:ext cx="1325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添加节点（所有商品）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570" y="45700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G.add_nodes_from(te.columns_)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476059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添加边（关联关系，权重=共现次数）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570" y="495109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_, row in qualified.iterrows():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1070" y="5141595"/>
              <a:ext cx="1829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items = list(row['itemsets'])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070" y="5332095"/>
              <a:ext cx="33052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G.add_edge(items[0], items[1], weight=row['count'])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570" y="5570220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保存关联关系到CSV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0570" y="5741670"/>
              <a:ext cx="3503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edge_df.to_csv('product_associations.csv', index=False)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4124325"/>
            <a:ext cx="5334000" cy="2009775"/>
            <a:chOff x="6286500" y="3810000"/>
            <a:chExt cx="5334000" cy="2009775"/>
          </a:xfrm>
        </p:grpSpPr>
        <p:sp>
          <p:nvSpPr>
            <p:cNvPr id="46" name="Rectangle 46"/>
            <p:cNvSpPr/>
            <p:nvPr/>
          </p:nvSpPr>
          <p:spPr>
            <a:xfrm>
              <a:off x="6286500" y="3810000"/>
              <a:ext cx="533400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65570" y="397954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可视化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5570" y="4170045"/>
              <a:ext cx="1661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plt.figure(figsize=(14, 10))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5570" y="4360545"/>
              <a:ext cx="19851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pos = nx.spring_layout(G, k=0.5)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5570" y="4551045"/>
              <a:ext cx="2987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nx.draw_networkx_nodes(G, pos, node_size=1500,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6070" y="4712970"/>
              <a:ext cx="1349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node_color='skyblue')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5570" y="4903470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nx.draw_networkx_labels(G, pos,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6070" y="5065395"/>
              <a:ext cx="2213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font_size=12, font_color='darkred')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5570" y="5255895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plt.title("商品关联知识图谱")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5570" y="5446395"/>
              <a:ext cx="952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plt.axis('off')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65570" y="5636895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plt.show()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45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59743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任务5（续）：知识图谱可视化结果 + 关联选股法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143000"/>
            <a:ext cx="5905500" cy="4667250"/>
            <a:chOff x="571500" y="1143000"/>
            <a:chExt cx="590550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905500" cy="4667250"/>
            </a:xfrm>
            <a:prstGeom prst="roundRect">
              <a:avLst>
                <a:gd name="adj" fmla="val 16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36926" y="13468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商品关联知识图谱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Ellipse 9"/>
            <p:cNvSpPr/>
            <p:nvPr/>
          </p:nvSpPr>
          <p:spPr>
            <a:xfrm>
              <a:off x="876300" y="27813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88" y="30065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笔记本电脑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3257550" y="18288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48752" y="2054066"/>
              <a:ext cx="3509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路由器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4495800" y="27813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7002" y="3006566"/>
              <a:ext cx="3509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微波炉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2590800" y="33528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37009" y="3578066"/>
              <a:ext cx="2409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硬盘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1638300" y="16383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74495" y="1863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蓝牙耳机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5257800" y="211455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93995" y="23398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智能手表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3352800" y="411480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44002" y="4340066"/>
              <a:ext cx="3509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加湿器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62050" y="4019550"/>
              <a:ext cx="533400" cy="533400"/>
            </a:xfrm>
            <a:prstGeom prst="ellipse">
              <a:avLst/>
            </a:prstGeom>
            <a:solidFill>
              <a:srgbClr val="E8F4FD"/>
            </a:solidFill>
            <a:ln w="14288">
              <a:solidFill>
                <a:srgbClr val="3498D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98245" y="42448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空气炸锅</a:t>
              </a:r>
              <a:endParaRPr lang="zh-CN" sz="8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1409700" y="2095500"/>
              <a:ext cx="1847850" cy="952500"/>
            </a:xfrm>
            <a:custGeom>
              <a:avLst/>
              <a:gdLst/>
              <a:ahLst/>
              <a:cxnLst/>
              <a:rect l="l" t="t" r="r" b="b"/>
              <a:pathLst>
                <a:path w="1847850" h="952500">
                  <a:moveTo>
                    <a:pt x="0" y="952500"/>
                  </a:moveTo>
                  <a:lnTo>
                    <a:pt x="1847850" y="0"/>
                  </a:lnTo>
                </a:path>
              </a:pathLst>
            </a:custGeom>
            <a:noFill/>
            <a:ln w="28575">
              <a:solidFill>
                <a:srgbClr val="3498DB">
                  <a:alpha val="6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409700" y="30480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19050">
              <a:solidFill>
                <a:srgbClr val="3498DB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409700" y="3048000"/>
              <a:ext cx="1181100" cy="571500"/>
            </a:xfrm>
            <a:custGeom>
              <a:avLst/>
              <a:gdLst/>
              <a:ahLst/>
              <a:cxnLst/>
              <a:rect l="l" t="t" r="r" b="b"/>
              <a:pathLst>
                <a:path w="1181100" h="571500">
                  <a:moveTo>
                    <a:pt x="0" y="0"/>
                  </a:moveTo>
                  <a:lnTo>
                    <a:pt x="1181100" y="571500"/>
                  </a:lnTo>
                </a:path>
              </a:pathLst>
            </a:custGeom>
            <a:noFill/>
            <a:ln w="23812">
              <a:solidFill>
                <a:srgbClr val="3498DB">
                  <a:alpha val="5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257550" y="2095500"/>
              <a:ext cx="1238250" cy="952500"/>
            </a:xfrm>
            <a:custGeom>
              <a:avLst/>
              <a:gdLst/>
              <a:ahLst/>
              <a:cxnLst/>
              <a:rect l="l" t="t" r="r" b="b"/>
              <a:pathLst>
                <a:path w="1238250" h="952500">
                  <a:moveTo>
                    <a:pt x="0" y="0"/>
                  </a:moveTo>
                  <a:lnTo>
                    <a:pt x="1238250" y="952500"/>
                  </a:lnTo>
                </a:path>
              </a:pathLst>
            </a:custGeom>
            <a:noFill/>
            <a:ln w="19050">
              <a:solidFill>
                <a:srgbClr val="3498DB">
                  <a:alpha val="4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905000" y="1905000"/>
              <a:ext cx="1352550" cy="190500"/>
            </a:xfrm>
            <a:custGeom>
              <a:avLst/>
              <a:gdLst/>
              <a:ahLst/>
              <a:cxnLst/>
              <a:rect l="l" t="t" r="r" b="b"/>
              <a:pathLst>
                <a:path w="1352550" h="190500">
                  <a:moveTo>
                    <a:pt x="135255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498DB">
                  <a:alpha val="3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495800" y="2381250"/>
              <a:ext cx="762000" cy="666750"/>
            </a:xfrm>
            <a:custGeom>
              <a:avLst/>
              <a:gdLst/>
              <a:ahLst/>
              <a:cxnLst/>
              <a:rect l="l" t="t" r="r" b="b"/>
              <a:pathLst>
                <a:path w="762000" h="666750">
                  <a:moveTo>
                    <a:pt x="0" y="66675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3498DB">
                  <a:alpha val="3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590800" y="3619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noFill/>
            <a:ln w="19050">
              <a:solidFill>
                <a:srgbClr val="3498DB">
                  <a:alpha val="4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409700" y="361950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0"/>
                  </a:moveTo>
                  <a:lnTo>
                    <a:pt x="0" y="666750"/>
                  </a:lnTo>
                </a:path>
              </a:pathLst>
            </a:custGeom>
            <a:noFill/>
            <a:ln w="14288">
              <a:solidFill>
                <a:srgbClr val="3498DB">
                  <a:alpha val="3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905000" y="1905000"/>
              <a:ext cx="3352800" cy="476250"/>
            </a:xfrm>
            <a:custGeom>
              <a:avLst/>
              <a:gdLst/>
              <a:ahLst/>
              <a:cxnLst/>
              <a:rect l="l" t="t" r="r" b="b"/>
              <a:pathLst>
                <a:path w="3352800" h="476250">
                  <a:moveTo>
                    <a:pt x="0" y="0"/>
                  </a:moveTo>
                  <a:lnTo>
                    <a:pt x="3352800" y="476250"/>
                  </a:lnTo>
                </a:path>
              </a:pathLst>
            </a:custGeom>
            <a:noFill/>
            <a:ln w="14288">
              <a:solidFill>
                <a:srgbClr val="3498DB">
                  <a:alpha val="3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428750" y="4286250"/>
              <a:ext cx="1924050" cy="95250"/>
            </a:xfrm>
            <a:custGeom>
              <a:avLst/>
              <a:gdLst/>
              <a:ahLst/>
              <a:cxnLst/>
              <a:rect l="l" t="t" r="r" b="b"/>
              <a:pathLst>
                <a:path w="1924050" h="95250">
                  <a:moveTo>
                    <a:pt x="1924050" y="95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498DB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78086" y="4958715"/>
              <a:ext cx="23991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节点：商品 | 边：关联关系 | 边粗：共现强度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36158" y="514159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83条关联关系 · 25种商品 · 100笔交易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62750" y="1143000"/>
            <a:ext cx="4857750" cy="2286000"/>
            <a:chOff x="6762750" y="1143000"/>
            <a:chExt cx="4857750" cy="2286000"/>
          </a:xfrm>
        </p:grpSpPr>
        <p:sp>
          <p:nvSpPr>
            <p:cNvPr id="38" name="Rectangle 38"/>
            <p:cNvSpPr/>
            <p:nvPr/>
          </p:nvSpPr>
          <p:spPr>
            <a:xfrm>
              <a:off x="6762750" y="1143000"/>
              <a:ext cx="4857750" cy="2286000"/>
            </a:xfrm>
            <a:prstGeom prst="roundRect">
              <a:avLst>
                <a:gd name="adj" fmla="val 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62750" y="1143000"/>
              <a:ext cx="485775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7058" y="1338739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行业关联选股法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39915" y="16773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背景知识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41820" y="193167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行业之间存在涨跌联动效应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1820" y="21412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利用关联规则发现行业间的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41820" y="2331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共现关系指导选股策略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39915" y="2553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操作步骤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41820" y="2807970"/>
              <a:ext cx="13250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理解场景（股票分池）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1820" y="2998470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分析数据（矩阵行列含义）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41820" y="3188970"/>
              <a:ext cx="10069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运行Apriori算法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762750" y="3667125"/>
            <a:ext cx="4857750" cy="2143125"/>
            <a:chOff x="6762750" y="3667125"/>
            <a:chExt cx="4857750" cy="2143125"/>
          </a:xfrm>
        </p:grpSpPr>
        <p:sp>
          <p:nvSpPr>
            <p:cNvPr id="50" name="Rectangle 50"/>
            <p:cNvSpPr/>
            <p:nvPr/>
          </p:nvSpPr>
          <p:spPr>
            <a:xfrm>
              <a:off x="6762750" y="3667125"/>
              <a:ext cx="4857750" cy="2143125"/>
            </a:xfrm>
            <a:prstGeom prst="roundRect">
              <a:avLst>
                <a:gd name="adj" fmla="val 355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37058" y="38438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结果分析与解读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40868" y="4180999"/>
              <a:ext cx="22155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挖掘结果发现多个行业间的共现关系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40868" y="4419124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当某行业上涨时，关联行业的上涨概率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83742" y="4609624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大于先验概率 → 支持关联选股策略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40868" y="48477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关联规则是知识图谱"关系发现"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83742" y="5038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的重要工具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1820" y="5284470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注：注意核对教材中分析过程的错误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048566" y="6570345"/>
            <a:ext cx="94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9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889373" y="502920"/>
            <a:ext cx="2413254" cy="525780"/>
            <a:chOff x="4889373" y="502920"/>
            <a:chExt cx="2413254" cy="525780"/>
          </a:xfrm>
        </p:grpSpPr>
        <p:sp>
          <p:nvSpPr>
            <p:cNvPr id="5" name="TextBox 5"/>
            <p:cNvSpPr txBox="1"/>
            <p:nvPr/>
          </p:nvSpPr>
          <p:spPr>
            <a:xfrm>
              <a:off x="4889373" y="502920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第五次作业总结</a:t>
              </a:r>
              <a:endParaRPr lang="zh-CN" sz="24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00012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71500" y="1285875"/>
            <a:ext cx="11049000" cy="3524250"/>
            <a:chOff x="571500" y="1285875"/>
            <a:chExt cx="11049000" cy="352425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285875"/>
              <a:ext cx="5334000" cy="952500"/>
              <a:chOff x="571500" y="1285875"/>
              <a:chExt cx="5334000" cy="952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285875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285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7712" y="1450181"/>
                <a:ext cx="212358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任务1：展开说明关联规则应用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712595"/>
                <a:ext cx="25671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五大应用场景（购物篮·工程·医学·金融·保险）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190309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重点展开：自闭症药物关联网络分析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286500" y="1285875"/>
              <a:ext cx="5334000" cy="952500"/>
              <a:chOff x="6286500" y="1285875"/>
              <a:chExt cx="5334000" cy="952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286500" y="1285875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286500" y="1285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462712" y="1450181"/>
                <a:ext cx="18479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任务2：基本概念对号入座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65570" y="1712595"/>
                <a:ext cx="30892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9个概念完整定义 + 网球拍示例（支持度0.5/置信度0.6）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65570" y="190309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概念到案例的映射表（考试重点）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71500" y="2428875"/>
              <a:ext cx="5334000" cy="952500"/>
              <a:chOff x="571500" y="2428875"/>
              <a:chExt cx="533400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2428875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71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47712" y="2593181"/>
                <a:ext cx="22180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任务3：Apriori算法流程与计算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2855595"/>
                <a:ext cx="16850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两大步骤 + 连接/剪枝 + 伪代码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50570" y="3046095"/>
                <a:ext cx="260918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9事务×5项完整计算C₁→L₁→C₂→L₂→C₃→L₃→强规则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2428875"/>
              <a:ext cx="5334000" cy="952500"/>
              <a:chOff x="6286500" y="2428875"/>
              <a:chExt cx="5334000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2428875"/>
                <a:ext cx="533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286500" y="2428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462712" y="2593181"/>
                <a:ext cx="12178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任务4：矩阵含义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65570" y="285559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行=事务·列=项·元素=0/1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65570" y="3046095"/>
                <a:ext cx="20391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NLP词向量对照 + 余弦相似度计算练习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71500" y="3571875"/>
              <a:ext cx="5334000" cy="1238250"/>
              <a:chOff x="571500" y="3571875"/>
              <a:chExt cx="5334000" cy="1238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3571875"/>
                <a:ext cx="533400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71500" y="3571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47712" y="3736181"/>
                <a:ext cx="19503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任务5：Python实现Apriori</a:t>
                </a:r>
                <a:endParaRPr lang="zh-CN" sz="1125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0570" y="3998595"/>
                <a:ext cx="25971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完整代码展示：数据导入→矩阵转换→apriori挖掘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50570" y="4189095"/>
                <a:ext cx="23691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结果过滤→NetworkX知识图谱构建→可视化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0570" y="4427220"/>
                <a:ext cx="24111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结果：83条关联关系 / 25种商品 / 100笔交易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6500" y="3571875"/>
              <a:ext cx="5334000" cy="1238250"/>
              <a:chOff x="6286500" y="3571875"/>
              <a:chExt cx="5334000" cy="1238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286500" y="3571875"/>
                <a:ext cx="5334000" cy="1238250"/>
              </a:xfrm>
              <a:prstGeom prst="roundRect">
                <a:avLst>
                  <a:gd name="adj" fmla="val 615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286500" y="357187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BC9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462712" y="3736181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BC9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行业关联选股法</a:t>
                </a:r>
                <a:endParaRPr lang="zh-CN" sz="1125" b="1" dirty="0">
                  <a:solidFill>
                    <a:srgbClr val="1ABC9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5570" y="39985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背景知识：行业涨跌联动效应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65570" y="4189095"/>
                <a:ext cx="27412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操作步骤：理解场景→分析数据→运行程序→分析结果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465570" y="4427220"/>
                <a:ext cx="23151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关联规则是知识图谱"关系发现"的重要工具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3506266" y="5212556"/>
            <a:ext cx="5179469" cy="228600"/>
            <a:chOff x="3506266" y="5212556"/>
            <a:chExt cx="5179469" cy="228600"/>
          </a:xfrm>
        </p:grpSpPr>
        <p:sp>
          <p:nvSpPr>
            <p:cNvPr id="47" name="TextBox 47"/>
            <p:cNvSpPr txBox="1"/>
            <p:nvPr/>
          </p:nvSpPr>
          <p:spPr>
            <a:xfrm>
              <a:off x="3506266" y="5212556"/>
              <a:ext cx="51794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关联规则本质：从大规模数据中发现隐藏的共现关系 → 知识发现·决策支持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6326</Words>
  <Application>WPS 演示</Application>
  <PresentationFormat>On-screen Show (4:3)</PresentationFormat>
  <Paragraphs>621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2</cp:revision>
  <dcterms:created xsi:type="dcterms:W3CDTF">2013-01-27T09:14:00Z</dcterms:created>
  <dcterms:modified xsi:type="dcterms:W3CDTF">2026-06-14T08:23:20Z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20728CA169724D9B920F1FCE7456C7A0_12</vt:lpwstr>
  </property>
  <property fmtid="{D5CDD505-2E9C-101B-9397-08002B2CF9AE}" pid="3" name="KSOProductBuildVer">
    <vt:lpwstr>2052-12.1.0.24034</vt:lpwstr>
  </property>
</Properties>
</file>