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762000" y="-762000"/>
            <a:ext cx="14192250" cy="8858250"/>
            <a:chOff x="-762000" y="-762000"/>
            <a:chExt cx="14192250" cy="885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50000">
                  <a:srgbClr val="3498DB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762000" y="-762000"/>
              <a:ext cx="3810000" cy="3810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667750" y="3333750"/>
              <a:ext cx="4762500" cy="4762500"/>
            </a:xfrm>
            <a:prstGeom prst="ellipse">
              <a:avLst/>
            </a:prstGeom>
            <a:solidFill>
              <a:srgbClr val="3498DB">
                <a:alpha val="3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266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455015" y="2124075"/>
            <a:ext cx="5281970" cy="3119437"/>
            <a:chOff x="3455015" y="2124075"/>
            <a:chExt cx="5281970" cy="3119437"/>
          </a:xfrm>
        </p:grpSpPr>
        <p:sp>
          <p:nvSpPr>
            <p:cNvPr id="8" name="TextBox 8"/>
            <p:cNvSpPr txBox="1"/>
            <p:nvPr/>
          </p:nvSpPr>
          <p:spPr>
            <a:xfrm>
              <a:off x="4956810" y="2124075"/>
              <a:ext cx="22783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机器学习100天 · KNN分类</a:t>
              </a:r>
              <a:endParaRPr lang="zh-CN" sz="15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55015" y="2406015"/>
              <a:ext cx="528197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KNN分类算法 Python实现</a:t>
              </a:r>
              <a:endParaRPr lang="zh-CN" sz="33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143500" y="30480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44530" y="3394710"/>
              <a:ext cx="37029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Social Network Ads数据集 · 年龄+收入 → 是否购买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6697" y="42519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作业完成内容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89491" y="4553902"/>
              <a:ext cx="2813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作业1：加入性别因素(OneHot)看准确率变化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3906" y="4792028"/>
              <a:ext cx="41641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作业2：K值比较(K=1~15) + KNN vs Logistic对比 + 训练集比例实验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13994" y="5030152"/>
              <a:ext cx="2764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作业3：可视化改进（含性别的多维可视化）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51566" y="65703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27475" y="5445760"/>
            <a:ext cx="59556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学生：张</a:t>
            </a:r>
            <a:r>
              <a:rPr lang="zh-CN" alt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椅</a:t>
            </a:r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   |   学号：202321054055   </a:t>
            </a:r>
            <a:endParaRPr lang="zh-CN" dirty="0">
              <a:solidFill>
                <a:srgbClr val="3498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38513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数据探索 + KNN原理 + 特征缩放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71500" y="1095375"/>
            <a:ext cx="4286250" cy="2555081"/>
            <a:chOff x="571500" y="1095375"/>
            <a:chExt cx="4286250" cy="2555081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4286250" cy="2095500"/>
            </a:xfrm>
            <a:prstGeom prst="roundRect">
              <a:avLst>
                <a:gd name="adj" fmla="val 272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1522" y="1263491"/>
              <a:ext cx="10825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import pandas as pd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1522" y="1453991"/>
              <a:ext cx="27767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dataset = pd.read_csv('Social_Network_Ads.csv')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475" y="1681162"/>
              <a:ext cx="20393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shape=(400,5) | 0:257人未买 / 1:143人购买</a:t>
              </a:r>
              <a:endParaRPr lang="zh-CN" sz="75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522" y="1911191"/>
              <a:ext cx="1104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特征缩放（标准化）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2101691"/>
              <a:ext cx="27767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sklearn.preprocessing import StandardScaler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2292191"/>
              <a:ext cx="12091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 = StandardScaler()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482691"/>
              <a:ext cx="20232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X_train = sc.fit_transform(X_train)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2673191"/>
              <a:ext cx="17426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X_test = sc.transform(X_test)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2911316"/>
              <a:ext cx="9615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KNN分类器 (K=5)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522" y="3101816"/>
              <a:ext cx="28153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sklearn.neighbors import KNeighborsClassifier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522" y="3292316"/>
              <a:ext cx="40914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 = KNeighborsClassifier(n_neighbors=5, metric='minkowski', p=2)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522" y="3482816"/>
              <a:ext cx="17646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classifier.fit(X_train, y_train)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60026" y="1095375"/>
            <a:ext cx="4834448" cy="3429000"/>
            <a:chOff x="6060026" y="1095375"/>
            <a:chExt cx="4834448" cy="342900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60026" y="1095375"/>
              <a:ext cx="4834448" cy="3429000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739140" y="4733290"/>
            <a:ext cx="11049000" cy="1143000"/>
            <a:chOff x="571500" y="3381375"/>
            <a:chExt cx="11049000" cy="1143000"/>
          </a:xfrm>
        </p:grpSpPr>
        <p:sp>
          <p:nvSpPr>
            <p:cNvPr id="23" name="Rectangle 23"/>
            <p:cNvSpPr/>
            <p:nvPr/>
          </p:nvSpPr>
          <p:spPr>
            <a:xfrm>
              <a:off x="571500" y="3381375"/>
              <a:ext cx="11049000" cy="1143000"/>
            </a:xfrm>
            <a:prstGeom prst="roundRect">
              <a:avLst>
                <a:gd name="adj" fmla="val 5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7712" y="3545681"/>
              <a:ext cx="110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📊 数据探索结论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3819049"/>
              <a:ext cx="39382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400条社交网络用户数据，257人未购买/143人购买（数据不平衡）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4038124"/>
              <a:ext cx="4510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年龄与收入需要特征缩放（年龄0-100 vs 收入0-150000）→ StandardScaler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4257199"/>
              <a:ext cx="37757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从散点图可以看出：高年龄高收入人群更倾向购买（右上点云）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8-02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49099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作业2a：K值比较实验（K=1~15）+ 混淆矩阵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85377" y="1095375"/>
            <a:ext cx="5077746" cy="3238500"/>
            <a:chOff x="985377" y="1095375"/>
            <a:chExt cx="5077746" cy="32385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85377" y="1095375"/>
              <a:ext cx="5077746" cy="32385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7392350" y="1095375"/>
            <a:ext cx="3884301" cy="3238500"/>
            <a:chOff x="7392350" y="1095375"/>
            <a:chExt cx="3884301" cy="3238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2350" y="1095375"/>
              <a:ext cx="3884301" cy="32385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571500" y="4524375"/>
            <a:ext cx="5334000" cy="1333500"/>
            <a:chOff x="571500" y="4524375"/>
            <a:chExt cx="5334000" cy="1333500"/>
          </a:xfrm>
        </p:grpSpPr>
        <p:sp>
          <p:nvSpPr>
            <p:cNvPr id="11" name="Rectangle 11"/>
            <p:cNvSpPr/>
            <p:nvPr/>
          </p:nvSpPr>
          <p:spPr>
            <a:xfrm>
              <a:off x="571500" y="4524375"/>
              <a:ext cx="5334000" cy="1333500"/>
            </a:xfrm>
            <a:prstGeom prst="roundRect">
              <a:avLst>
                <a:gd name="adj" fmla="val 4286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1522" y="4702016"/>
              <a:ext cx="19902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K=1: Acc=88.75% CM=[[53,5],[4,18]]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4892516"/>
              <a:ext cx="20886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K=3: Acc=95.00% CM=[[55,3],[1,21]]</a:t>
              </a:r>
              <a:endParaRPr lang="zh-CN" sz="82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5083016"/>
              <a:ext cx="20886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K=5: Acc=95.00% CM=[[55,3],[1,21]]</a:t>
              </a:r>
              <a:endParaRPr lang="zh-CN" sz="825" b="1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5273516"/>
              <a:ext cx="18141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K=7: Acc=95.00% K=9: Acc=95.00%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5464016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K=15: Acc=92.50%（开始下降）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4524375"/>
            <a:ext cx="5334000" cy="1333500"/>
            <a:chOff x="6286500" y="4524375"/>
            <a:chExt cx="53340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6286500" y="4524375"/>
              <a:ext cx="5334000" cy="1333500"/>
            </a:xfrm>
            <a:prstGeom prst="roundRect">
              <a:avLst>
                <a:gd name="adj" fmla="val 4286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2712" y="4688681"/>
              <a:ext cx="792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📊 实验分析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4618" y="4971574"/>
              <a:ext cx="29111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K=1：准确率最低(88.75%)→过拟合，对噪声敏感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4618" y="5209699"/>
              <a:ext cx="2079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K=3~9：稳定在95%，最优k值区间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4618" y="5447824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K&amp;gt;9：准确率下降→欠拟合，边界过于平滑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8-03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7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9140" y="415290"/>
              <a:ext cx="617008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作业2b~2c：性别因素 + KNN vs Logistic + 训练集比例</a:t>
              </a:r>
              <a:endParaRPr lang="zh-CN" sz="1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143000"/>
            <a:ext cx="5334000" cy="1333500"/>
            <a:chOff x="571500" y="1143000"/>
            <a:chExt cx="5334000" cy="13335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1333500"/>
            </a:xfrm>
            <a:prstGeom prst="roundRect">
              <a:avLst>
                <a:gd name="adj" fmla="val 4286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6760" y="1318260"/>
              <a:ext cx="29876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作业2b：性别因素实验（OneHot编码）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1617345"/>
              <a:ext cx="2687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K=5 不加性别: Acc=95.00% CM=[[55,3],[1,21]]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0570" y="1836420"/>
              <a:ext cx="28204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K=5 加入性别: Acc=95.00% CM=[[55,3],[1,21]]</a:t>
              </a:r>
              <a:endParaRPr lang="zh-CN" sz="900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14074"/>
              <a:ext cx="3509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结论：性别特征加入后对KNN预测无影响 → 性别与购买不相关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143000"/>
            <a:ext cx="5334000" cy="1333500"/>
            <a:chOff x="6286500" y="1143000"/>
            <a:chExt cx="53340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6286500" y="1143000"/>
              <a:ext cx="5334000" cy="1333500"/>
            </a:xfrm>
            <a:prstGeom prst="roundRect">
              <a:avLst>
                <a:gd name="adj" fmla="val 4286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61760" y="1318260"/>
              <a:ext cx="2273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作业2c：KNN vs Logistic对比</a:t>
              </a:r>
              <a:endParaRPr lang="zh-CN" sz="120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5570" y="1645920"/>
              <a:ext cx="2501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KNN(k=5): Acc=95.00% CM=[[55,3],[1,21]]</a:t>
              </a:r>
              <a:endParaRPr lang="zh-CN" sz="900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5570" y="1864995"/>
              <a:ext cx="24411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Logistic: Acc=92.50% CM=[[57,1],[5,17]]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4618" y="2133124"/>
              <a:ext cx="24105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KNN更适合不平衡数据（0:257 vs 1:143）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36674" y="2667000"/>
            <a:ext cx="5737151" cy="3619500"/>
            <a:chOff x="1036674" y="2667000"/>
            <a:chExt cx="5737151" cy="361950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36674" y="2667000"/>
              <a:ext cx="5737151" cy="3619500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7429500" y="2667000"/>
            <a:ext cx="4191000" cy="1619250"/>
            <a:chOff x="7429500" y="2667000"/>
            <a:chExt cx="41910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7429500" y="2667000"/>
              <a:ext cx="4191000" cy="1619250"/>
            </a:xfrm>
            <a:prstGeom prst="roundRect">
              <a:avLst>
                <a:gd name="adj" fmla="val 352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04760" y="28422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训练集比例影响实验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08570" y="3160395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test=0.15: KNN=93.3% LR=90.0%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08570" y="3369945"/>
              <a:ext cx="18770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test=0.20: KNN=95.0% LR=92.5%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08570" y="3579495"/>
              <a:ext cx="18770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test=0.35: KNN=90.0% LR=85.7%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08570" y="3789045"/>
              <a:ext cx="18770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test=0.50: KNN=88.5% LR=84.5%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8570" y="4055745"/>
              <a:ext cx="20751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测试集越大→训练数据越少→准确率下降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29500" y="4429125"/>
            <a:ext cx="4191000" cy="1714500"/>
            <a:chOff x="7429500" y="4429125"/>
            <a:chExt cx="4191000" cy="1714500"/>
          </a:xfrm>
        </p:grpSpPr>
        <p:sp>
          <p:nvSpPr>
            <p:cNvPr id="29" name="Rectangle 29"/>
            <p:cNvSpPr/>
            <p:nvPr/>
          </p:nvSpPr>
          <p:spPr>
            <a:xfrm>
              <a:off x="7429500" y="4429125"/>
              <a:ext cx="4191000" cy="171450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04760" y="4604385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📝 作业总结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08570" y="4903470"/>
              <a:ext cx="1643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性别特征加入不影响KNN结果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08570" y="5122545"/>
              <a:ext cx="1439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KNN最优K=5，95%准确率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08570" y="5341620"/>
              <a:ext cx="18710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KNN优于Logistic（不平衡数据）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8570" y="5560695"/>
              <a:ext cx="16310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 训练集比例越高→准确率越高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8570" y="5779770"/>
              <a:ext cx="1589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⑤ KNN需特征缩放、K值取奇数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8-04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0" grpId="0"/>
      <p:bldP spid="28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43852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作业2d：过拟合分析 + 不同K值的决策边界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11049000" cy="333375"/>
            <a:chOff x="571500" y="1047750"/>
            <a:chExt cx="11049000" cy="333375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333375"/>
            </a:xfrm>
            <a:prstGeom prst="roundRect">
              <a:avLst>
                <a:gd name="adj" fmla="val 11429"/>
              </a:avLst>
            </a:prstGeom>
            <a:solidFill>
              <a:srgbClr val="E74C3C">
                <a:alpha val="8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618" y="1161574"/>
              <a:ext cx="5361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📌 什么情况下会出现过拟合？不同K值的决策边界有何不同？KNN的过拟合与欠拟合如何判断？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524000"/>
            <a:ext cx="5334000" cy="2759869"/>
            <a:chOff x="571500" y="1524000"/>
            <a:chExt cx="5334000" cy="2759869"/>
          </a:xfrm>
        </p:grpSpPr>
        <p:sp>
          <p:nvSpPr>
            <p:cNvPr id="10" name="Rectangle 10"/>
            <p:cNvSpPr/>
            <p:nvPr/>
          </p:nvSpPr>
          <p:spPr>
            <a:xfrm>
              <a:off x="571500" y="1524000"/>
              <a:ext cx="5334000" cy="2381250"/>
            </a:xfrm>
            <a:prstGeom prst="roundRect">
              <a:avLst>
                <a:gd name="adj" fmla="val 32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5808" y="1700689"/>
              <a:ext cx="17551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KNN的过拟合与欠拟合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029778"/>
              <a:ext cx="6847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K=1 过拟合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256949"/>
              <a:ext cx="2196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只以1个最近邻判断→对噪声极度敏感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447449"/>
              <a:ext cx="1766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决策边界极度不规则→过拟合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696528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K=5~9 最优区间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2923699"/>
              <a:ext cx="20400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决策边界平滑，准确率稳定在95%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31727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K≥15 欠拟合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399949"/>
              <a:ext cx="16369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邻居太多→类别信息被稀释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3590449"/>
              <a:ext cx="16369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决策边界过于平滑→欠拟合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3895249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过拟合特征：训练准确率很高，测试准确率低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40857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欠拟合特征：训练和测试准确率都低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1524000"/>
            <a:ext cx="5334000" cy="3045619"/>
            <a:chOff x="6286500" y="1524000"/>
            <a:chExt cx="5334000" cy="3045619"/>
          </a:xfrm>
        </p:grpSpPr>
        <p:sp>
          <p:nvSpPr>
            <p:cNvPr id="23" name="Rectangle 23"/>
            <p:cNvSpPr/>
            <p:nvPr/>
          </p:nvSpPr>
          <p:spPr>
            <a:xfrm>
              <a:off x="6286500" y="1524000"/>
              <a:ext cx="5334000" cy="2381250"/>
            </a:xfrm>
            <a:prstGeom prst="roundRect">
              <a:avLst>
                <a:gd name="adj" fmla="val 32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1760" y="1727835"/>
              <a:ext cx="26432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实验验证：K值变化对准确率的影响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5570" y="2045970"/>
              <a:ext cx="2501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K=1 : 训练Acc=100% 测试Acc=88.75% → 过拟合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5570" y="2284095"/>
              <a:ext cx="25071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K=5 : 训练Acc=96.5% 测试Acc=95.00% → 最佳</a:t>
              </a:r>
              <a:endParaRPr lang="zh-CN" sz="900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5570" y="2522220"/>
              <a:ext cx="2597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K=15: 训练Acc=91.2% 测试Acc=92.50% → 欠拟合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6477000" y="2857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63665" y="3029902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K=1时训练准确率100%→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3665" y="32394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模型记住了每个训练样本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3665" y="3449002"/>
              <a:ext cx="17838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但测试时准确率骤降→过拟合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3665" y="37157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缓解过拟合的方法：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4618" y="3971449"/>
              <a:ext cx="16369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增大K值（减少噪声影响）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4618" y="4180999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增加训练数据量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4618" y="4371499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改进特征选择（去噪声特征）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4095750"/>
            <a:ext cx="11049000" cy="1645444"/>
            <a:chOff x="571500" y="4095750"/>
            <a:chExt cx="11049000" cy="1645444"/>
          </a:xfrm>
        </p:grpSpPr>
        <p:sp>
          <p:nvSpPr>
            <p:cNvPr id="37" name="Rectangle 37"/>
            <p:cNvSpPr/>
            <p:nvPr/>
          </p:nvSpPr>
          <p:spPr>
            <a:xfrm>
              <a:off x="571500" y="4095750"/>
              <a:ext cx="11049000" cy="1619250"/>
            </a:xfrm>
            <a:prstGeom prst="roundRect">
              <a:avLst>
                <a:gd name="adj" fmla="val 4706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6760" y="4280535"/>
              <a:ext cx="2542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📊 K值与过拟合/欠拟合的关系总结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Line 39"/>
            <p:cNvSpPr/>
            <p:nvPr/>
          </p:nvSpPr>
          <p:spPr>
            <a:xfrm>
              <a:off x="762000" y="4600575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9618" y="4781074"/>
              <a:ext cx="449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K太小(1)：模型复杂度过高→</a:t>
              </a:r>
              <a:r>
                <a: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过拟合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（记住了每个样本，但对新样本预测差）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9618" y="5019199"/>
              <a:ext cx="43478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K适中(3~9)：模型复杂度恰到好处→</a:t>
              </a:r>
              <a:r>
                <a:rPr lang="zh-CN" sz="9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泛化能力最强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（交叉验证选择最优K）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9618" y="5257324"/>
              <a:ext cx="43738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● K太大(≥15)：模型复杂度不足→</a:t>
              </a:r>
              <a:r>
                <a:rPr lang="zh-CN" sz="9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欠拟合</a:t>
              </a:r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（邻居过多导致类别边界过度平滑）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9618" y="5543074"/>
              <a:ext cx="49588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核心原则：K值应取奇数（避免平局），通过交叉验证选择使验证集准确率最高的K值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8-05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36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48935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作业1详解：性别因素实验 + 作业3：可视化改进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095375"/>
            <a:ext cx="5334000" cy="2717006"/>
            <a:chOff x="571500" y="1095375"/>
            <a:chExt cx="5334000" cy="2717006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272064"/>
              <a:ext cx="19961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实验设计：加入性别因素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1522" y="1625441"/>
              <a:ext cx="15996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原始特征：Age, Salary (2维)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522" y="1834991"/>
              <a:ext cx="2122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X_base = dataset.iloc[:,[2,3]].values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522" y="2101691"/>
              <a:ext cx="216622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加入性别后：Gender, Age, Salary (3维)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2311241"/>
              <a:ext cx="20947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X_gender = dataset.iloc[:,1:4].values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2577941"/>
              <a:ext cx="2045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OneHot编码性别（Male/Female→2列）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787491"/>
              <a:ext cx="31893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X_gender = OneHotEncoder(...).fit_transform(X_gender)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3054191"/>
              <a:ext cx="796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KNN训练+评估</a:t>
              </a:r>
              <a:endParaRPr lang="zh-CN" sz="825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3263741"/>
              <a:ext cx="26502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 = KNeighborsClassifier(n_neighbors=5)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522" y="3454241"/>
              <a:ext cx="17646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classifier.fit(X_train, y_train)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522" y="3644741"/>
              <a:ext cx="19736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y_pred = classifier.predict(X_test)</a:t>
              </a:r>
              <a:endParaRPr lang="zh-CN" sz="82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095375"/>
            <a:ext cx="5334000" cy="2950369"/>
            <a:chOff x="6286500" y="1095375"/>
            <a:chExt cx="5334000" cy="2950369"/>
          </a:xfrm>
        </p:grpSpPr>
        <p:sp>
          <p:nvSpPr>
            <p:cNvPr id="20" name="Rectangle 20"/>
            <p:cNvSpPr/>
            <p:nvPr/>
          </p:nvSpPr>
          <p:spPr>
            <a:xfrm>
              <a:off x="6286500" y="1095375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0808" y="1291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实验结果</a:t>
              </a:r>
              <a:endParaRPr lang="zh-CN" sz="12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6477000" y="16192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4618" y="17997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不加性别: Acc=95.00%</a:t>
              </a:r>
              <a:endParaRPr lang="zh-CN" sz="97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037874"/>
              <a:ext cx="14377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加入性别: Acc=95.00%</a:t>
              </a:r>
              <a:endParaRPr lang="zh-CN" sz="975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3665" y="2344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混淆矩阵完全一致：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2590324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CM = [[55, 3], [1, 21]]</a:t>
              </a:r>
              <a:endParaRPr lang="zh-CN" sz="975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477000" y="29527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63665" y="31251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分析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371374"/>
              <a:ext cx="1656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性别特征加入后准确率不变→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4618" y="359044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性别对购买行为区分度有限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4618" y="3847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* 与数据生成逻辑一致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3952875"/>
            <a:ext cx="11049000" cy="1762125"/>
            <a:chOff x="571500" y="3952875"/>
            <a:chExt cx="11049000" cy="1762125"/>
          </a:xfrm>
        </p:grpSpPr>
        <p:sp>
          <p:nvSpPr>
            <p:cNvPr id="33" name="Rectangle 33"/>
            <p:cNvSpPr/>
            <p:nvPr/>
          </p:nvSpPr>
          <p:spPr>
            <a:xfrm>
              <a:off x="571500" y="3952875"/>
              <a:ext cx="11049000" cy="1762125"/>
            </a:xfrm>
            <a:prstGeom prst="roundRect">
              <a:avLst>
                <a:gd name="adj" fmla="val 432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6760" y="4137660"/>
              <a:ext cx="31472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作业3：可视化改进方案（加入性别维度）</a:t>
              </a:r>
              <a:endParaRPr lang="zh-CN" sz="120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762000" y="4457700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9618" y="4638199"/>
              <a:ext cx="5686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方案一：用不同颜色区分性别（Male=蓝/Female=红）+ 购买状态用形状（圆形=未买/星形=已买）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618" y="4895374"/>
              <a:ext cx="6278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方案二：用气泡图（Bubble Chart），气泡大小表示年龄，横轴为收入，纵轴为性别编码，颜色区分购买状态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618" y="5181124"/>
              <a:ext cx="57454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实验证明：性别特征在统计上无显著区分效果 → 特征选择应基于数据探索，避免盲目加入无关特征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8-06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41542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KNN算法原理深入 + 距离度量与特征缩放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095375"/>
            <a:ext cx="5334000" cy="3048000"/>
            <a:chOff x="571500" y="1095375"/>
            <a:chExt cx="5334000" cy="3048000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5334000" cy="3048000"/>
            </a:xfrm>
            <a:prstGeom prst="roundRect">
              <a:avLst>
                <a:gd name="adj" fmla="val 25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5808" y="1272064"/>
              <a:ext cx="12195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KNN算法四步骤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665" y="1601152"/>
              <a:ext cx="1173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1：计算距离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828324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计算待分类样本到每个训练样本的距离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2074545"/>
              <a:ext cx="24291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闵可夫斯基距离: d(x,y)=(Σ|xi−yi|ᵖ)^(¹/ᵖ)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265045"/>
              <a:ext cx="1445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p=2 → 欧氏距离 (KNN默认)</a:t>
              </a:r>
              <a:endParaRPr lang="zh-CN" sz="900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486978"/>
              <a:ext cx="1291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2：取k个邻居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714149"/>
              <a:ext cx="1656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选择距离最小的k个训练样本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944178"/>
              <a:ext cx="9161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3：统计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17134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k个邻居中各类别的数量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3401378"/>
              <a:ext cx="9161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 4：投票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6285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归入数量最多的类别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095375"/>
            <a:ext cx="5334000" cy="3048000"/>
            <a:chOff x="6286500" y="1095375"/>
            <a:chExt cx="5334000" cy="3048000"/>
          </a:xfrm>
        </p:grpSpPr>
        <p:sp>
          <p:nvSpPr>
            <p:cNvPr id="20" name="Rectangle 20"/>
            <p:cNvSpPr/>
            <p:nvPr/>
          </p:nvSpPr>
          <p:spPr>
            <a:xfrm>
              <a:off x="6286500" y="1095375"/>
              <a:ext cx="5334000" cy="3048000"/>
            </a:xfrm>
            <a:prstGeom prst="roundRect">
              <a:avLst>
                <a:gd name="adj" fmla="val 25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0808" y="127206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为什么需要特征缩放？</a:t>
              </a:r>
              <a:endParaRPr lang="zh-CN" sz="1275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4618" y="1609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本数据集中：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5570" y="1855470"/>
              <a:ext cx="1547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Age范围: 18~60（量级 10¹）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5570" y="2074545"/>
              <a:ext cx="2147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Salary范围: 15000~150000（量级 10⁵）</a:t>
              </a:r>
              <a:endParaRPr lang="zh-CN" sz="900" dirty="0">
                <a:solidFill>
                  <a:srgbClr val="2C3E5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2352199"/>
              <a:ext cx="1792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不缩放→距离计算由Salary主导</a:t>
              </a:r>
              <a:endPara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2590324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Age的差异几乎被忽略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477000" y="29527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65570" y="3141345"/>
              <a:ext cx="1685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StandardScaler: z = (x−μ)/σ</a:t>
              </a:r>
              <a:endParaRPr lang="zh-CN" sz="90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4618" y="3371374"/>
              <a:ext cx="20855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缩放后每个特征均值为0、标准差为1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4618" y="3638074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对比：决策树/随机森林不特征缩放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4618" y="3847624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基于阈值分裂，与量纲无关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333875"/>
            <a:ext cx="11049000" cy="1871663"/>
            <a:chOff x="571500" y="4333875"/>
            <a:chExt cx="11049000" cy="1871663"/>
          </a:xfrm>
        </p:grpSpPr>
        <p:sp>
          <p:nvSpPr>
            <p:cNvPr id="33" name="Rectangle 33"/>
            <p:cNvSpPr/>
            <p:nvPr/>
          </p:nvSpPr>
          <p:spPr>
            <a:xfrm>
              <a:off x="571500" y="4333875"/>
              <a:ext cx="11049000" cy="1428750"/>
            </a:xfrm>
            <a:prstGeom prst="roundRect">
              <a:avLst>
                <a:gd name="adj" fmla="val 5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6760" y="4518660"/>
              <a:ext cx="9797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完整KNN代码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2475" y="4852988"/>
              <a:ext cx="266438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sklearn.model_selection import train_test_split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475" y="5024438"/>
              <a:ext cx="25243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sklearn.preprocessing import StandardScaler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475" y="5195888"/>
              <a:ext cx="255936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sklearn.neighbors import KNeighborsClassifier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475" y="5367338"/>
              <a:ext cx="23193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from sklearn.metrics import confusion_matrix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2475" y="5538788"/>
              <a:ext cx="52397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scaler = StandardScaler(); X_train = scaler.fit_transform(X_train); X_test = scaler.transform(X_test)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2475" y="5710238"/>
              <a:ext cx="37195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 = KNeighborsClassifier(n_neighbors=5, metric='minkowski', p=2)</a:t>
              </a:r>
              <a:endParaRPr lang="zh-CN" sz="75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475" y="5881688"/>
              <a:ext cx="346448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classifier.fit(X_train, y_train); y_pred = classifier.predict(X_test)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475" y="6053138"/>
              <a:ext cx="40345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cm = confusion_matrix(y_test, y_pred); acc = (cm[0,0]+cm[1,1])/sum(sum(cm))</a:t>
              </a:r>
              <a:endParaRPr lang="zh-CN" sz="7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8-07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1045" y="431482"/>
              <a:ext cx="23175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📝 作业总结与知识收获</a:t>
              </a:r>
              <a:endParaRPr lang="zh-CN" sz="16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143000"/>
            <a:ext cx="5334000" cy="2476500"/>
            <a:chOff x="571500" y="1143000"/>
            <a:chExt cx="5334000" cy="24765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476500"/>
            </a:xfrm>
            <a:prstGeom prst="roundRect">
              <a:avLst>
                <a:gd name="adj" fmla="val 307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855" y="1330642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作业完成情况总览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6668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867852"/>
              <a:ext cx="1393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作业1：加入性别因素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04549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结果：准确率95%不变→性别不影响购买决策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382202"/>
              <a:ext cx="1151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作业2a：K值比较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618899"/>
              <a:ext cx="20985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K=1(88.75%)→K=3~9(95%)→K大下降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896552"/>
              <a:ext cx="16953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作业2b：KNN vs Logistic</a:t>
              </a:r>
              <a:endParaRPr lang="zh-CN" sz="105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313324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KNN(95%) &amp;gt; Logistic(92.5%)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1143000"/>
            <a:ext cx="5334000" cy="2476500"/>
            <a:chOff x="6286500" y="1143000"/>
            <a:chExt cx="5334000" cy="2476500"/>
          </a:xfrm>
        </p:grpSpPr>
        <p:sp>
          <p:nvSpPr>
            <p:cNvPr id="17" name="Rectangle 17"/>
            <p:cNvSpPr/>
            <p:nvPr/>
          </p:nvSpPr>
          <p:spPr>
            <a:xfrm>
              <a:off x="6286500" y="1143000"/>
              <a:ext cx="5334000" cy="2476500"/>
            </a:xfrm>
            <a:prstGeom prst="roundRect">
              <a:avLst>
                <a:gd name="adj" fmla="val 307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59855" y="1330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核心知识点</a:t>
              </a:r>
              <a:endParaRPr lang="zh-CN" sz="13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477000" y="166687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3665" y="186785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训练集比例实验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4618" y="2104549"/>
              <a:ext cx="2443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test=0.15→93.3% | 0.2→95% | 0.5→88.5%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23822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过拟合分析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2618899"/>
              <a:ext cx="18709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K=1训练100%测试88.75%→过拟合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28965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特征缩放</a:t>
              </a:r>
              <a:endParaRPr lang="zh-CN" sz="1050" b="1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3133249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KNN基于距离→必须特征缩放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857625"/>
            <a:ext cx="5334000" cy="2000250"/>
            <a:chOff x="571500" y="3857625"/>
            <a:chExt cx="5334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571500" y="3857625"/>
              <a:ext cx="533400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6760" y="40424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 vs 聚类 核心区别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665" y="4344352"/>
              <a:ext cx="2140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：有标签·监督学习·已知类别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4601528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</a:t>
              </a:r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：无标签·无监督学习·发现类别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8665" y="4887278"/>
              <a:ext cx="13778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KNN算法的核心假设：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9618" y="513349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"相似的样本在特征空间中距离相近"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618" y="5352574"/>
              <a:ext cx="2345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这也是所有基于距离的算法的共同基础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0" y="3857625"/>
            <a:ext cx="5334000" cy="2000250"/>
            <a:chOff x="6286500" y="3857625"/>
            <a:chExt cx="5334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286500" y="3857625"/>
              <a:ext cx="5334000" cy="2000250"/>
            </a:xfrm>
            <a:prstGeom prst="roundRect">
              <a:avLst>
                <a:gd name="adj" fmla="val 381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760" y="4042410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作业3：可视化改进方案</a:t>
              </a:r>
              <a:endParaRPr lang="zh-CN" sz="120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4618" y="4352449"/>
              <a:ext cx="21765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方案一：颜色区分性别+形状区分购买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4618" y="4590574"/>
              <a:ext cx="18709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方案二：气泡图(Bubble Chart)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4618" y="4876324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⚠ 实验证明性别因素无区分效果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4618" y="5133499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✅ 特征工程原则：基于数据探索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4618" y="537162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选择有效特征，而非盲目堆砌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952553" y="65703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8-08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4" grpId="0"/>
      <p:bldP spid="4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4097</Words>
  <Application>WPS 演示</Application>
  <PresentationFormat>On-screen Show (4:3)</PresentationFormat>
  <Paragraphs>354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张椅达</cp:lastModifiedBy>
  <cp:revision>3</cp:revision>
  <dcterms:created xsi:type="dcterms:W3CDTF">2013-01-27T09:14:00Z</dcterms:created>
  <dcterms:modified xsi:type="dcterms:W3CDTF">2026-06-14T09:28:45Z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AD71B4E0108B4DC780FE074D1CBD7E12_12</vt:lpwstr>
  </property>
  <property fmtid="{D5CDD505-2E9C-101B-9397-08002B2CF9AE}" pid="3" name="KSOProductBuildVer">
    <vt:lpwstr>2052-12.1.0.24034</vt:lpwstr>
  </property>
</Properties>
</file>