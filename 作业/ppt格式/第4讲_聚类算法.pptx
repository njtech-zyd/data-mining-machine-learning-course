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64" r:id="rId5"/>
    <p:sldId id="265" r:id="rId6"/>
    <p:sldId id="257" r:id="rId7"/>
    <p:sldId id="258" r:id="rId8"/>
    <p:sldId id="259" r:id="rId9"/>
    <p:sldId id="260" r:id="rId10"/>
    <p:sldId id="261" r:id="rId11"/>
    <p:sldId id="262" r:id="rId12"/>
    <p:sldId id="263"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第四讲课后作业，整理聚类算法的概念、K-means聚类和层次聚类方法。</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聚类三层次理解：物以类聚、同簇相似异簇相异、组内越近组间越远。簇的形状多样，不同算法适合不同形状。</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欧氏距离衡量直线距离，是最常用的距离度量。余弦相似度衡量方向差异，不受向量长度影响。K-means可通过参数指定距离类型。</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K-means四步骤：选K个初始中心→计算距离分配→更新聚类中心→迭代收敛。K值难以估计，结果不稳定，但简洁有效。</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层次聚类有两种形式。凝聚法自底向上合并最相近的两簇，分裂法自顶向下拆分最不相似的簇。凝聚法更常用。</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树状图是HC的特色。横轴数据点，纵轴距离。横线从上往下平移，相交几条垂直线就分几类。</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K-means和HC各有优劣。K-means适合大数据集但K值难定；HC层次清晰但计算复杂。读书笔记总结K-means核心内容。</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六项作业任务全部完成。聚类是无监督学习的核心方法，核心价值在于发现数据中隐藏的结构。</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62000" y="-762000"/>
            <a:ext cx="14192250" cy="8858250"/>
            <a:chOff x="-762000" y="-762000"/>
            <a:chExt cx="14192250" cy="885825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
            </a:xfrm>
            <a:prstGeom prst="rect">
              <a:avLst/>
            </a:prstGeom>
            <a:gradFill>
              <a:gsLst>
                <a:gs pos="0">
                  <a:srgbClr val="1A5276"/>
                </a:gs>
                <a:gs pos="50000">
                  <a:srgbClr val="3498DB"/>
                </a:gs>
                <a:gs pos="100000">
                  <a:srgbClr val="1A5276"/>
                </a:gs>
              </a:gsLst>
              <a:lin ang="0" scaled="1"/>
            </a:gradFill>
            <a:ln>
              <a:noFill/>
            </a:ln>
          </p:spPr>
        </p:sp>
        <p:sp>
          <p:nvSpPr>
            <p:cNvPr id="4" name="Ellipse 4"/>
            <p:cNvSpPr/>
            <p:nvPr/>
          </p:nvSpPr>
          <p:spPr>
            <a:xfrm>
              <a:off x="-762000" y="-762000"/>
              <a:ext cx="3810000" cy="3810000"/>
            </a:xfrm>
            <a:prstGeom prst="ellipse">
              <a:avLst/>
            </a:prstGeom>
            <a:solidFill>
              <a:srgbClr val="1A5276">
                <a:alpha val="3000"/>
              </a:srgbClr>
            </a:solidFill>
            <a:ln>
              <a:noFill/>
            </a:ln>
          </p:spPr>
        </p:sp>
        <p:sp>
          <p:nvSpPr>
            <p:cNvPr id="5" name="Ellipse 5"/>
            <p:cNvSpPr/>
            <p:nvPr/>
          </p:nvSpPr>
          <p:spPr>
            <a:xfrm>
              <a:off x="8667750" y="3333750"/>
              <a:ext cx="4762500" cy="4762500"/>
            </a:xfrm>
            <a:prstGeom prst="ellipse">
              <a:avLst/>
            </a:prstGeom>
            <a:solidFill>
              <a:srgbClr val="3498DB">
                <a:alpha val="3000"/>
              </a:srgbClr>
            </a:solidFill>
            <a:ln>
              <a:noFill/>
            </a:ln>
          </p:spPr>
        </p:sp>
        <p:sp>
          <p:nvSpPr>
            <p:cNvPr id="6" name="Line 6"/>
            <p:cNvSpPr/>
            <p:nvPr/>
          </p:nvSpPr>
          <p:spPr>
            <a:xfrm>
              <a:off x="571500" y="2476500"/>
              <a:ext cx="11049000" cy="9525"/>
            </a:xfrm>
            <a:custGeom>
              <a:avLst/>
              <a:gdLst/>
              <a:ahLst/>
              <a:cxnLst/>
              <a:rect l="l" t="t" r="r" b="b"/>
              <a:pathLst>
                <a:path w="11049000" h="9525">
                  <a:moveTo>
                    <a:pt x="0" y="0"/>
                  </a:moveTo>
                  <a:lnTo>
                    <a:pt x="11049000" y="0"/>
                  </a:lnTo>
                </a:path>
              </a:pathLst>
            </a:custGeom>
            <a:noFill/>
            <a:ln w="9525">
              <a:solidFill>
                <a:srgbClr val="D5D8DC"/>
              </a:solidFill>
            </a:ln>
          </p:spPr>
        </p:sp>
      </p:grpSp>
      <p:grpSp>
        <p:nvGrpSpPr>
          <p:cNvPr id="12" name="Group 12"/>
          <p:cNvGrpSpPr/>
          <p:nvPr/>
        </p:nvGrpSpPr>
        <p:grpSpPr>
          <a:xfrm>
            <a:off x="4210450" y="2087880"/>
            <a:ext cx="3771100" cy="1829276"/>
            <a:chOff x="4210450" y="2087880"/>
            <a:chExt cx="3771100" cy="1829276"/>
          </a:xfrm>
        </p:grpSpPr>
        <p:sp>
          <p:nvSpPr>
            <p:cNvPr id="8" name="TextBox 8"/>
            <p:cNvSpPr txBox="1"/>
            <p:nvPr/>
          </p:nvSpPr>
          <p:spPr>
            <a:xfrm>
              <a:off x="4210450" y="2087880"/>
              <a:ext cx="3771100" cy="731520"/>
            </a:xfrm>
            <a:prstGeom prst="rect">
              <a:avLst/>
            </a:prstGeom>
            <a:noFill/>
            <a:ln>
              <a:noFill/>
            </a:ln>
          </p:spPr>
          <p:txBody>
            <a:bodyPr wrap="none" lIns="0" tIns="0" rIns="0" bIns="0" anchor="t" anchorCtr="0">
              <a:spAutoFit/>
            </a:bodyPr>
            <a:lstStyle/>
            <a:p>
              <a:pPr algn="ctr"/>
              <a:r>
                <a:rPr lang="zh-CN" sz="3600" b="1" dirty="0">
                  <a:solidFill>
                    <a:srgbClr val="1A5276"/>
                  </a:solidFill>
                  <a:latin typeface="Arial" panose="020B0604020202020204"/>
                  <a:ea typeface="微软雅黑" panose="020B0503020204020204" charset="-122"/>
                  <a:cs typeface="Arial" panose="020B0604020202020204"/>
                </a:rPr>
                <a:t>第四讲 聚类算法</a:t>
              </a:r>
              <a:endParaRPr lang="zh-CN" sz="3600" b="1" dirty="0">
                <a:solidFill>
                  <a:srgbClr val="1A5276"/>
                </a:solidFill>
                <a:latin typeface="Arial" panose="020B0604020202020204"/>
                <a:ea typeface="微软雅黑" panose="020B0503020204020204" charset="-122"/>
                <a:cs typeface="Arial" panose="020B0604020202020204"/>
              </a:endParaRPr>
            </a:p>
          </p:txBody>
        </p:sp>
        <p:sp>
          <p:nvSpPr>
            <p:cNvPr id="9" name="TextBox 9"/>
            <p:cNvSpPr txBox="1"/>
            <p:nvPr/>
          </p:nvSpPr>
          <p:spPr>
            <a:xfrm>
              <a:off x="4881586" y="2742248"/>
              <a:ext cx="2428827" cy="396240"/>
            </a:xfrm>
            <a:prstGeom prst="rect">
              <a:avLst/>
            </a:prstGeom>
            <a:noFill/>
            <a:ln>
              <a:noFill/>
            </a:ln>
          </p:spPr>
          <p:txBody>
            <a:bodyPr wrap="none" lIns="0" tIns="0" rIns="0" bIns="0" anchor="t" anchorCtr="0">
              <a:spAutoFit/>
            </a:bodyPr>
            <a:lstStyle/>
            <a:p>
              <a:pPr algn="ctr"/>
              <a:r>
                <a:rPr lang="zh-CN" sz="1950" dirty="0">
                  <a:solidFill>
                    <a:srgbClr val="3498DB"/>
                  </a:solidFill>
                  <a:latin typeface="Arial" panose="020B0604020202020204"/>
                  <a:ea typeface="微软雅黑" panose="020B0503020204020204" charset="-122"/>
                  <a:cs typeface="Arial" panose="020B0604020202020204"/>
                </a:rPr>
                <a:t>课后作业 · 笔记整理</a:t>
              </a:r>
              <a:endParaRPr lang="zh-CN" sz="1950" dirty="0">
                <a:solidFill>
                  <a:srgbClr val="3498DB"/>
                </a:solidFill>
                <a:latin typeface="Arial" panose="020B0604020202020204"/>
                <a:ea typeface="微软雅黑" panose="020B0503020204020204" charset="-122"/>
                <a:cs typeface="Arial" panose="020B0604020202020204"/>
              </a:endParaRPr>
            </a:p>
          </p:txBody>
        </p:sp>
        <p:sp>
          <p:nvSpPr>
            <p:cNvPr id="10" name="Rectangle 10"/>
            <p:cNvSpPr/>
            <p:nvPr/>
          </p:nvSpPr>
          <p:spPr>
            <a:xfrm>
              <a:off x="5143500" y="3238500"/>
              <a:ext cx="1905000" cy="28575"/>
            </a:xfrm>
            <a:prstGeom prst="roundRect">
              <a:avLst>
                <a:gd name="adj" fmla="val 50000"/>
              </a:avLst>
            </a:prstGeom>
            <a:solidFill>
              <a:srgbClr val="E74C3C"/>
            </a:solidFill>
            <a:ln>
              <a:noFill/>
            </a:ln>
          </p:spPr>
        </p:sp>
        <p:sp>
          <p:nvSpPr>
            <p:cNvPr id="11" name="TextBox 11"/>
            <p:cNvSpPr txBox="1"/>
            <p:nvPr/>
          </p:nvSpPr>
          <p:spPr>
            <a:xfrm>
              <a:off x="4855309" y="3688556"/>
              <a:ext cx="2481382"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panose="020B0604020202020204"/>
                  <a:ea typeface="微软雅黑" panose="020B0503020204020204" charset="-122"/>
                  <a:cs typeface="Arial" panose="020B0604020202020204"/>
                </a:rPr>
                <a:t>K-means聚类 · 层次聚类 · 距离度量</a:t>
              </a:r>
              <a:endParaRPr lang="zh-CN" sz="1125" dirty="0">
                <a:solidFill>
                  <a:srgbClr val="7F8C8D"/>
                </a:solidFill>
                <a:latin typeface="Arial" panose="020B0604020202020204"/>
                <a:ea typeface="微软雅黑" panose="020B0503020204020204" charset="-122"/>
                <a:cs typeface="Arial" panose="020B0604020202020204"/>
              </a:endParaRPr>
            </a:p>
          </p:txBody>
        </p:sp>
      </p:grpSp>
      <p:sp>
        <p:nvSpPr>
          <p:cNvPr id="13" name="TextBox 13"/>
          <p:cNvSpPr txBox="1"/>
          <p:nvPr/>
        </p:nvSpPr>
        <p:spPr>
          <a:xfrm>
            <a:off x="5235464" y="6379845"/>
            <a:ext cx="1721072"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数据挖掘与机器学习 · 课堂作业</a:t>
            </a:r>
            <a:endParaRPr lang="zh-CN" sz="900" dirty="0">
              <a:solidFill>
                <a:srgbClr val="7F8C8D"/>
              </a:solidFill>
              <a:latin typeface="Arial" panose="020B0604020202020204"/>
              <a:ea typeface="微软雅黑" panose="020B0503020204020204" charset="-122"/>
              <a:cs typeface="Arial" panose="020B0604020202020204"/>
            </a:endParaRPr>
          </a:p>
        </p:txBody>
      </p:sp>
      <p:sp>
        <p:nvSpPr>
          <p:cNvPr id="14" name="文本框 13"/>
          <p:cNvSpPr txBox="1"/>
          <p:nvPr/>
        </p:nvSpPr>
        <p:spPr>
          <a:xfrm>
            <a:off x="3911600" y="4196715"/>
            <a:ext cx="5681980" cy="368300"/>
          </a:xfrm>
          <a:prstGeom prst="rect">
            <a:avLst/>
          </a:prstGeom>
          <a:noFill/>
        </p:spPr>
        <p:txBody>
          <a:bodyPr wrap="square" rtlCol="0">
            <a:spAutoFit/>
          </a:bodyPr>
          <a:p>
            <a:r>
              <a:rPr lang="en-US">
                <a:solidFill>
                  <a:srgbClr val="4D4D4D"/>
                </a:solidFill>
                <a:latin typeface="Noto Sans SC" panose="020B0200000000000000" charset="-122"/>
                <a:ea typeface="Noto Sans SC" panose="020B0200000000000000" charset="-122"/>
                <a:cs typeface="Noto Sans SC" panose="020B0200000000000000" charset="-122"/>
                <a:sym typeface="Noto Sans SC" panose="020B0200000000000000" charset="-122"/>
              </a:rPr>
              <a:t>学生：张</a:t>
            </a:r>
            <a:r>
              <a:rPr lang="zh-CN" altLang="en-US">
                <a:solidFill>
                  <a:srgbClr val="4D4D4D"/>
                </a:solidFill>
                <a:latin typeface="Noto Sans SC" panose="020B0200000000000000" charset="-122"/>
                <a:ea typeface="Noto Sans SC" panose="020B0200000000000000" charset="-122"/>
                <a:cs typeface="Noto Sans SC" panose="020B0200000000000000" charset="-122"/>
                <a:sym typeface="Noto Sans SC" panose="020B0200000000000000" charset="-122"/>
              </a:rPr>
              <a:t>椅</a:t>
            </a:r>
            <a:r>
              <a:rPr lang="en-US">
                <a:solidFill>
                  <a:srgbClr val="4D4D4D"/>
                </a:solidFill>
                <a:latin typeface="Noto Sans SC" panose="020B0200000000000000" charset="-122"/>
                <a:ea typeface="Noto Sans SC" panose="020B0200000000000000" charset="-122"/>
                <a:cs typeface="Noto Sans SC" panose="020B0200000000000000" charset="-122"/>
                <a:sym typeface="Noto Sans SC" panose="020B0200000000000000" charset="-122"/>
              </a:rPr>
              <a:t>达   |   学号：202321054055 </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grpSp>
        <p:nvGrpSpPr>
          <p:cNvPr id="6" name="Group 6"/>
          <p:cNvGrpSpPr/>
          <p:nvPr/>
        </p:nvGrpSpPr>
        <p:grpSpPr>
          <a:xfrm>
            <a:off x="571500" y="381000"/>
            <a:ext cx="11049000" cy="581025"/>
            <a:chOff x="571500" y="381000"/>
            <a:chExt cx="11049000" cy="581025"/>
          </a:xfrm>
        </p:grpSpPr>
        <p:sp>
          <p:nvSpPr>
            <p:cNvPr id="7" name="Rectangle 3"/>
            <p:cNvSpPr/>
            <p:nvPr/>
          </p:nvSpPr>
          <p:spPr>
            <a:xfrm>
              <a:off x="571500" y="381000"/>
              <a:ext cx="38100" cy="304800"/>
            </a:xfrm>
            <a:prstGeom prst="roundRect">
              <a:avLst>
                <a:gd name="adj" fmla="val 50000"/>
              </a:avLst>
            </a:prstGeom>
            <a:gradFill>
              <a:gsLst>
                <a:gs pos="0">
                  <a:srgbClr val="1A5276"/>
                </a:gs>
                <a:gs pos="100000">
                  <a:srgbClr val="3498DB"/>
                </a:gs>
              </a:gsLst>
              <a:lin ang="0" scaled="1"/>
            </a:gradFill>
            <a:ln>
              <a:noFill/>
            </a:ln>
          </p:spPr>
        </p:sp>
        <p:sp>
          <p:nvSpPr>
            <p:cNvPr id="8" name="TextBox 4"/>
            <p:cNvSpPr txBox="1"/>
            <p:nvPr/>
          </p:nvSpPr>
          <p:spPr>
            <a:xfrm>
              <a:off x="737235" y="399098"/>
              <a:ext cx="1485900" cy="299720"/>
            </a:xfrm>
            <a:prstGeom prst="rect">
              <a:avLst/>
            </a:prstGeom>
            <a:noFill/>
            <a:ln>
              <a:noFill/>
            </a:ln>
          </p:spPr>
          <p:txBody>
            <a:bodyPr wrap="none" lIns="0" tIns="0" rIns="0" bIns="0" anchor="t" anchorCtr="0">
              <a:spAutoFit/>
            </a:bodyPr>
            <a:lstStyle/>
            <a:p>
              <a:pPr algn="l"/>
              <a:r>
                <a:rPr lang="zh-CN" sz="1950" b="1" dirty="0">
                  <a:solidFill>
                    <a:srgbClr val="2C3E50"/>
                  </a:solidFill>
                  <a:latin typeface="Arial" panose="020B0604020202020204"/>
                  <a:ea typeface="微软雅黑" panose="020B0503020204020204" charset="-122"/>
                  <a:cs typeface="Arial" panose="020B0604020202020204"/>
                </a:rPr>
                <a:t>课堂笔记</a:t>
              </a:r>
              <a:r>
                <a:rPr lang="zh-CN" sz="1950" b="1" dirty="0">
                  <a:solidFill>
                    <a:srgbClr val="2C3E50"/>
                  </a:solidFill>
                  <a:latin typeface="Arial" panose="020B0604020202020204"/>
                  <a:ea typeface="微软雅黑" panose="020B0503020204020204" charset="-122"/>
                  <a:cs typeface="Arial" panose="020B0604020202020204"/>
                </a:rPr>
                <a:t>部分</a:t>
              </a:r>
              <a:endParaRPr lang="zh-CN" sz="1950" b="1" dirty="0">
                <a:solidFill>
                  <a:srgbClr val="2C3E50"/>
                </a:solidFill>
                <a:latin typeface="Arial" panose="020B0604020202020204"/>
                <a:ea typeface="微软雅黑" panose="020B0503020204020204" charset="-122"/>
                <a:cs typeface="Arial" panose="020B0604020202020204"/>
              </a:endParaRPr>
            </a:p>
          </p:txBody>
        </p:sp>
        <p:sp>
          <p:nvSpPr>
            <p:cNvPr id="9" name="Line 5"/>
            <p:cNvSpPr/>
            <p:nvPr/>
          </p:nvSpPr>
          <p:spPr>
            <a:xfrm>
              <a:off x="571500" y="952500"/>
              <a:ext cx="11049000" cy="9525"/>
            </a:xfrm>
            <a:custGeom>
              <a:avLst/>
              <a:gdLst/>
              <a:ahLst/>
              <a:cxnLst/>
              <a:rect l="l" t="t" r="r" b="b"/>
              <a:pathLst>
                <a:path w="11049000" h="9525">
                  <a:moveTo>
                    <a:pt x="0" y="0"/>
                  </a:moveTo>
                  <a:lnTo>
                    <a:pt x="11049000" y="0"/>
                  </a:lnTo>
                </a:path>
              </a:pathLst>
            </a:custGeom>
            <a:noFill/>
            <a:ln w="9525">
              <a:solidFill>
                <a:srgbClr val="D5D8DC"/>
              </a:solidFill>
            </a:ln>
          </p:spPr>
        </p:sp>
      </p:grpSp>
      <p:pic>
        <p:nvPicPr>
          <p:cNvPr id="10" name="图片 9" descr="a60a75bb586d38170eb598182b04a169"/>
          <p:cNvPicPr>
            <a:picLocks noChangeAspect="1"/>
          </p:cNvPicPr>
          <p:nvPr/>
        </p:nvPicPr>
        <p:blipFill>
          <a:blip r:embed="rId1"/>
          <a:srcRect r="33731"/>
          <a:stretch>
            <a:fillRect/>
          </a:stretch>
        </p:blipFill>
        <p:spPr>
          <a:xfrm rot="5400000">
            <a:off x="2915285" y="238125"/>
            <a:ext cx="606171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8" name="图片 7" descr="64e67bdf2687c3de97786b8591059e40"/>
          <p:cNvPicPr>
            <a:picLocks noChangeAspect="1"/>
          </p:cNvPicPr>
          <p:nvPr/>
        </p:nvPicPr>
        <p:blipFill>
          <a:blip r:embed="rId1"/>
          <a:stretch>
            <a:fillRect/>
          </a:stretch>
        </p:blipFill>
        <p:spPr>
          <a:xfrm rot="16200000">
            <a:off x="2001520" y="127000"/>
            <a:ext cx="514096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381000"/>
            <a:ext cx="11049000" cy="581025"/>
            <a:chOff x="571500" y="381000"/>
            <a:chExt cx="11049000" cy="581025"/>
          </a:xfrm>
        </p:grpSpPr>
        <p:sp>
          <p:nvSpPr>
            <p:cNvPr id="3" name="Rectangle 3"/>
            <p:cNvSpPr/>
            <p:nvPr/>
          </p:nvSpPr>
          <p:spPr>
            <a:xfrm>
              <a:off x="571500" y="381000"/>
              <a:ext cx="38100" cy="304800"/>
            </a:xfrm>
            <a:prstGeom prst="roundRect">
              <a:avLst>
                <a:gd name="adj" fmla="val 50000"/>
              </a:avLst>
            </a:prstGeom>
            <a:gradFill>
              <a:gsLst>
                <a:gs pos="0">
                  <a:srgbClr val="1A5276"/>
                </a:gs>
                <a:gs pos="100000">
                  <a:srgbClr val="3498DB"/>
                </a:gs>
              </a:gsLst>
              <a:lin ang="0" scaled="1"/>
            </a:gradFill>
            <a:ln>
              <a:noFill/>
            </a:ln>
          </p:spPr>
        </p:sp>
        <p:sp>
          <p:nvSpPr>
            <p:cNvPr id="4" name="TextBox 4"/>
            <p:cNvSpPr txBox="1"/>
            <p:nvPr/>
          </p:nvSpPr>
          <p:spPr>
            <a:xfrm>
              <a:off x="737235" y="399098"/>
              <a:ext cx="2902737" cy="396240"/>
            </a:xfrm>
            <a:prstGeom prst="rect">
              <a:avLst/>
            </a:prstGeom>
            <a:noFill/>
            <a:ln>
              <a:noFill/>
            </a:ln>
          </p:spPr>
          <p:txBody>
            <a:bodyPr wrap="none" lIns="0" tIns="0" rIns="0" bIns="0" anchor="t" anchorCtr="0">
              <a:spAutoFit/>
            </a:bodyPr>
            <a:lstStyle/>
            <a:p>
              <a:pPr algn="l"/>
              <a:r>
                <a:rPr lang="zh-CN" sz="1950" b="1" dirty="0">
                  <a:solidFill>
                    <a:srgbClr val="2C3E50"/>
                  </a:solidFill>
                  <a:latin typeface="Arial" panose="020B0604020202020204"/>
                  <a:ea typeface="微软雅黑" panose="020B0503020204020204" charset="-122"/>
                  <a:cs typeface="Arial" panose="020B0604020202020204"/>
                </a:rPr>
                <a:t>簇的概念（Jp187-188）</a:t>
              </a:r>
              <a:endParaRPr lang="zh-CN" sz="1950" b="1" dirty="0">
                <a:solidFill>
                  <a:srgbClr val="2C3E50"/>
                </a:solidFill>
                <a:latin typeface="Arial" panose="020B0604020202020204"/>
                <a:ea typeface="微软雅黑" panose="020B0503020204020204" charset="-122"/>
                <a:cs typeface="Arial" panose="020B0604020202020204"/>
              </a:endParaRPr>
            </a:p>
          </p:txBody>
        </p:sp>
        <p:sp>
          <p:nvSpPr>
            <p:cNvPr id="5" name="Line 5"/>
            <p:cNvSpPr/>
            <p:nvPr/>
          </p:nvSpPr>
          <p:spPr>
            <a:xfrm>
              <a:off x="571500" y="952500"/>
              <a:ext cx="11049000" cy="9525"/>
            </a:xfrm>
            <a:custGeom>
              <a:avLst/>
              <a:gdLst/>
              <a:ahLst/>
              <a:cxnLst/>
              <a:rect l="l" t="t" r="r" b="b"/>
              <a:pathLst>
                <a:path w="11049000" h="9525">
                  <a:moveTo>
                    <a:pt x="0" y="0"/>
                  </a:moveTo>
                  <a:lnTo>
                    <a:pt x="11049000" y="0"/>
                  </a:lnTo>
                </a:path>
              </a:pathLst>
            </a:custGeom>
            <a:noFill/>
            <a:ln w="9525">
              <a:solidFill>
                <a:srgbClr val="D5D8DC"/>
              </a:solidFill>
            </a:ln>
          </p:spPr>
        </p:sp>
      </p:grpSp>
      <p:grpSp>
        <p:nvGrpSpPr>
          <p:cNvPr id="9" name="Group 9"/>
          <p:cNvGrpSpPr/>
          <p:nvPr/>
        </p:nvGrpSpPr>
        <p:grpSpPr>
          <a:xfrm>
            <a:off x="571500" y="1143000"/>
            <a:ext cx="11049000" cy="523875"/>
            <a:chOff x="571500" y="1143000"/>
            <a:chExt cx="11049000" cy="523875"/>
          </a:xfrm>
        </p:grpSpPr>
        <p:sp>
          <p:nvSpPr>
            <p:cNvPr id="7" name="Rectangle 7"/>
            <p:cNvSpPr/>
            <p:nvPr/>
          </p:nvSpPr>
          <p:spPr>
            <a:xfrm>
              <a:off x="571500" y="1143000"/>
              <a:ext cx="11049000" cy="523875"/>
            </a:xfrm>
            <a:prstGeom prst="roundRect">
              <a:avLst>
                <a:gd name="adj" fmla="val 14545"/>
              </a:avLst>
            </a:prstGeom>
            <a:solidFill>
              <a:srgbClr val="F5F7FA"/>
            </a:solidFill>
            <a:ln>
              <a:noFill/>
            </a:ln>
          </p:spPr>
        </p:sp>
        <p:sp>
          <p:nvSpPr>
            <p:cNvPr id="8" name="TextBox 8"/>
            <p:cNvSpPr txBox="1"/>
            <p:nvPr/>
          </p:nvSpPr>
          <p:spPr>
            <a:xfrm>
              <a:off x="748665" y="1296352"/>
              <a:ext cx="4787265"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panose="020B0604020202020204"/>
                  <a:ea typeface="微软雅黑" panose="020B0503020204020204" charset="-122"/>
                  <a:cs typeface="Arial" panose="020B0604020202020204"/>
                </a:rPr>
                <a:t>聚类：将物理或抽象对象的集合分成由类似的对象组成的多个类或簇的过程。</a:t>
              </a:r>
              <a:endParaRPr lang="zh-CN" sz="1050" dirty="0">
                <a:solidFill>
                  <a:srgbClr val="2C3E50"/>
                </a:solidFill>
                <a:latin typeface="Arial" panose="020B0604020202020204"/>
                <a:ea typeface="微软雅黑" panose="020B0503020204020204" charset="-122"/>
                <a:cs typeface="Arial" panose="020B0604020202020204"/>
              </a:endParaRPr>
            </a:p>
          </p:txBody>
        </p:sp>
      </p:grpSp>
      <p:grpSp>
        <p:nvGrpSpPr>
          <p:cNvPr id="31" name="Group 31"/>
          <p:cNvGrpSpPr/>
          <p:nvPr/>
        </p:nvGrpSpPr>
        <p:grpSpPr>
          <a:xfrm>
            <a:off x="571500" y="1854518"/>
            <a:ext cx="11039475" cy="1717357"/>
            <a:chOff x="571500" y="1854518"/>
            <a:chExt cx="11039475" cy="1717357"/>
          </a:xfrm>
        </p:grpSpPr>
        <p:sp>
          <p:nvSpPr>
            <p:cNvPr id="10" name="TextBox 10"/>
            <p:cNvSpPr txBox="1"/>
            <p:nvPr/>
          </p:nvSpPr>
          <p:spPr>
            <a:xfrm>
              <a:off x="744855" y="1854518"/>
              <a:ext cx="1924526"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panose="020B0604020202020204"/>
                  <a:ea typeface="微软雅黑" panose="020B0503020204020204" charset="-122"/>
                  <a:cs typeface="Arial" panose="020B0604020202020204"/>
                </a:rPr>
                <a:t>对聚类理解的三个层次</a:t>
              </a:r>
              <a:endParaRPr lang="zh-CN" sz="1350" b="1" dirty="0">
                <a:solidFill>
                  <a:srgbClr val="1A5276"/>
                </a:solidFill>
                <a:latin typeface="Arial" panose="020B0604020202020204"/>
                <a:ea typeface="微软雅黑" panose="020B0503020204020204" charset="-122"/>
                <a:cs typeface="Arial" panose="020B0604020202020204"/>
              </a:endParaRPr>
            </a:p>
          </p:txBody>
        </p:sp>
        <p:grpSp>
          <p:nvGrpSpPr>
            <p:cNvPr id="16" name="Group 16"/>
            <p:cNvGrpSpPr/>
            <p:nvPr/>
          </p:nvGrpSpPr>
          <p:grpSpPr>
            <a:xfrm>
              <a:off x="571500" y="2238375"/>
              <a:ext cx="3476625" cy="1333500"/>
              <a:chOff x="571500" y="2238375"/>
              <a:chExt cx="3476625" cy="1333500"/>
            </a:xfrm>
          </p:grpSpPr>
          <p:sp>
            <p:nvSpPr>
              <p:cNvPr id="11" name="Rectangle 11"/>
              <p:cNvSpPr/>
              <p:nvPr/>
            </p:nvSpPr>
            <p:spPr>
              <a:xfrm>
                <a:off x="571500" y="2238375"/>
                <a:ext cx="3476625" cy="1333500"/>
              </a:xfrm>
              <a:prstGeom prst="roundRect">
                <a:avLst>
                  <a:gd name="adj" fmla="val 5714"/>
                </a:avLst>
              </a:prstGeom>
              <a:solidFill>
                <a:srgbClr val="F5F7FA"/>
              </a:solidFill>
              <a:ln>
                <a:noFill/>
              </a:ln>
            </p:spPr>
          </p:sp>
          <p:sp>
            <p:nvSpPr>
              <p:cNvPr id="12" name="Rectangle 12"/>
              <p:cNvSpPr/>
              <p:nvPr/>
            </p:nvSpPr>
            <p:spPr>
              <a:xfrm>
                <a:off x="571500" y="2238375"/>
                <a:ext cx="3476625" cy="38100"/>
              </a:xfrm>
              <a:prstGeom prst="roundRect">
                <a:avLst>
                  <a:gd name="adj" fmla="val 50000"/>
                </a:avLst>
              </a:prstGeom>
              <a:solidFill>
                <a:srgbClr val="1A5276"/>
              </a:solidFill>
              <a:ln>
                <a:noFill/>
              </a:ln>
            </p:spPr>
          </p:sp>
          <p:sp>
            <p:nvSpPr>
              <p:cNvPr id="13" name="TextBox 13"/>
              <p:cNvSpPr txBox="1"/>
              <p:nvPr/>
            </p:nvSpPr>
            <p:spPr>
              <a:xfrm>
                <a:off x="744855" y="2406968"/>
                <a:ext cx="601361"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panose="020B0604020202020204"/>
                    <a:ea typeface="微软雅黑" panose="020B0503020204020204" charset="-122"/>
                    <a:cs typeface="Arial" panose="020B0604020202020204"/>
                  </a:rPr>
                  <a:t>第一层</a:t>
                </a:r>
                <a:endParaRPr lang="zh-CN" sz="1350" b="1" dirty="0">
                  <a:solidFill>
                    <a:srgbClr val="1A5276"/>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749618" y="2704624"/>
                <a:ext cx="1194911"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物以类聚，人以群分</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750570" y="2950845"/>
                <a:ext cx="110299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panose="020B0604020202020204"/>
                    <a:ea typeface="微软雅黑" panose="020B0503020204020204" charset="-122"/>
                    <a:cs typeface="Arial" panose="020B0604020202020204"/>
                  </a:rPr>
                  <a:t>感官层面：直观感受</a:t>
                </a:r>
                <a:endParaRPr lang="zh-CN" sz="900" dirty="0">
                  <a:solidFill>
                    <a:srgbClr val="7F8C8D"/>
                  </a:solidFill>
                  <a:latin typeface="Arial" panose="020B0604020202020204"/>
                  <a:ea typeface="微软雅黑" panose="020B0503020204020204" charset="-122"/>
                  <a:cs typeface="Arial" panose="020B0604020202020204"/>
                </a:endParaRPr>
              </a:p>
            </p:txBody>
          </p:sp>
        </p:grpSp>
        <p:grpSp>
          <p:nvGrpSpPr>
            <p:cNvPr id="23" name="Group 23"/>
            <p:cNvGrpSpPr/>
            <p:nvPr/>
          </p:nvGrpSpPr>
          <p:grpSpPr>
            <a:xfrm>
              <a:off x="4352925" y="2238375"/>
              <a:ext cx="3476625" cy="1333500"/>
              <a:chOff x="4352925" y="2238375"/>
              <a:chExt cx="3476625" cy="1333500"/>
            </a:xfrm>
          </p:grpSpPr>
          <p:sp>
            <p:nvSpPr>
              <p:cNvPr id="17" name="Rectangle 17"/>
              <p:cNvSpPr/>
              <p:nvPr/>
            </p:nvSpPr>
            <p:spPr>
              <a:xfrm>
                <a:off x="4352925" y="2238375"/>
                <a:ext cx="3476625" cy="1333500"/>
              </a:xfrm>
              <a:prstGeom prst="roundRect">
                <a:avLst>
                  <a:gd name="adj" fmla="val 5714"/>
                </a:avLst>
              </a:prstGeom>
              <a:solidFill>
                <a:srgbClr val="F5F7FA"/>
              </a:solidFill>
              <a:ln>
                <a:noFill/>
              </a:ln>
            </p:spPr>
          </p:sp>
          <p:sp>
            <p:nvSpPr>
              <p:cNvPr id="18" name="Rectangle 18"/>
              <p:cNvSpPr/>
              <p:nvPr/>
            </p:nvSpPr>
            <p:spPr>
              <a:xfrm>
                <a:off x="4352925" y="2238375"/>
                <a:ext cx="3476625" cy="38100"/>
              </a:xfrm>
              <a:prstGeom prst="roundRect">
                <a:avLst>
                  <a:gd name="adj" fmla="val 50000"/>
                </a:avLst>
              </a:prstGeom>
              <a:solidFill>
                <a:srgbClr val="2980B9"/>
              </a:solidFill>
              <a:ln>
                <a:noFill/>
              </a:ln>
            </p:spPr>
          </p:sp>
          <p:sp>
            <p:nvSpPr>
              <p:cNvPr id="19" name="TextBox 19"/>
              <p:cNvSpPr txBox="1"/>
              <p:nvPr/>
            </p:nvSpPr>
            <p:spPr>
              <a:xfrm>
                <a:off x="4526280" y="2406968"/>
                <a:ext cx="601361" cy="274320"/>
              </a:xfrm>
              <a:prstGeom prst="rect">
                <a:avLst/>
              </a:prstGeom>
              <a:noFill/>
              <a:ln>
                <a:noFill/>
              </a:ln>
            </p:spPr>
            <p:txBody>
              <a:bodyPr wrap="none" lIns="0" tIns="0" rIns="0" bIns="0" anchor="t" anchorCtr="0">
                <a:spAutoFit/>
              </a:bodyPr>
              <a:lstStyle/>
              <a:p>
                <a:pPr algn="l"/>
                <a:r>
                  <a:rPr lang="zh-CN" sz="1350" b="1" dirty="0">
                    <a:solidFill>
                      <a:srgbClr val="2980B9"/>
                    </a:solidFill>
                    <a:latin typeface="Arial" panose="020B0604020202020204"/>
                    <a:ea typeface="微软雅黑" panose="020B0503020204020204" charset="-122"/>
                    <a:cs typeface="Arial" panose="020B0604020202020204"/>
                  </a:rPr>
                  <a:t>第二层</a:t>
                </a:r>
                <a:endParaRPr lang="zh-CN" sz="1350" b="1" dirty="0">
                  <a:solidFill>
                    <a:srgbClr val="2980B9"/>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4531042" y="2704624"/>
                <a:ext cx="804862"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同簇相似度高</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4531042" y="2923699"/>
                <a:ext cx="804862"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异簇相似度低</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4531995" y="3188970"/>
                <a:ext cx="110299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panose="020B0604020202020204"/>
                    <a:ea typeface="微软雅黑" panose="020B0503020204020204" charset="-122"/>
                    <a:cs typeface="Arial" panose="020B0604020202020204"/>
                  </a:rPr>
                  <a:t>逻辑层面：概念清晰</a:t>
                </a:r>
                <a:endParaRPr lang="zh-CN" sz="900" dirty="0">
                  <a:solidFill>
                    <a:srgbClr val="7F8C8D"/>
                  </a:solidFill>
                  <a:latin typeface="Arial" panose="020B0604020202020204"/>
                  <a:ea typeface="微软雅黑" panose="020B0503020204020204" charset="-122"/>
                  <a:cs typeface="Arial" panose="020B0604020202020204"/>
                </a:endParaRPr>
              </a:p>
            </p:txBody>
          </p:sp>
        </p:grpSp>
        <p:grpSp>
          <p:nvGrpSpPr>
            <p:cNvPr id="30" name="Group 30"/>
            <p:cNvGrpSpPr/>
            <p:nvPr/>
          </p:nvGrpSpPr>
          <p:grpSpPr>
            <a:xfrm>
              <a:off x="8134350" y="2238375"/>
              <a:ext cx="3476625" cy="1333500"/>
              <a:chOff x="8134350" y="2238375"/>
              <a:chExt cx="3476625" cy="1333500"/>
            </a:xfrm>
          </p:grpSpPr>
          <p:sp>
            <p:nvSpPr>
              <p:cNvPr id="24" name="Rectangle 24"/>
              <p:cNvSpPr/>
              <p:nvPr/>
            </p:nvSpPr>
            <p:spPr>
              <a:xfrm>
                <a:off x="8134350" y="2238375"/>
                <a:ext cx="3476625" cy="1333500"/>
              </a:xfrm>
              <a:prstGeom prst="roundRect">
                <a:avLst>
                  <a:gd name="adj" fmla="val 5714"/>
                </a:avLst>
              </a:prstGeom>
              <a:solidFill>
                <a:srgbClr val="F5F7FA"/>
              </a:solidFill>
              <a:ln>
                <a:noFill/>
              </a:ln>
            </p:spPr>
          </p:sp>
          <p:sp>
            <p:nvSpPr>
              <p:cNvPr id="25" name="Rectangle 25"/>
              <p:cNvSpPr/>
              <p:nvPr/>
            </p:nvSpPr>
            <p:spPr>
              <a:xfrm>
                <a:off x="8134350" y="2238375"/>
                <a:ext cx="3476625" cy="38100"/>
              </a:xfrm>
              <a:prstGeom prst="roundRect">
                <a:avLst>
                  <a:gd name="adj" fmla="val 50000"/>
                </a:avLst>
              </a:prstGeom>
              <a:solidFill>
                <a:srgbClr val="3498DB"/>
              </a:solidFill>
              <a:ln>
                <a:noFill/>
              </a:ln>
            </p:spPr>
          </p:sp>
          <p:sp>
            <p:nvSpPr>
              <p:cNvPr id="26" name="TextBox 26"/>
              <p:cNvSpPr txBox="1"/>
              <p:nvPr/>
            </p:nvSpPr>
            <p:spPr>
              <a:xfrm>
                <a:off x="8307705" y="2406968"/>
                <a:ext cx="601361" cy="274320"/>
              </a:xfrm>
              <a:prstGeom prst="rect">
                <a:avLst/>
              </a:prstGeom>
              <a:noFill/>
              <a:ln>
                <a:noFill/>
              </a:ln>
            </p:spPr>
            <p:txBody>
              <a:bodyPr wrap="none" lIns="0" tIns="0" rIns="0" bIns="0" anchor="t" anchorCtr="0">
                <a:spAutoFit/>
              </a:bodyPr>
              <a:lstStyle/>
              <a:p>
                <a:pPr algn="l"/>
                <a:r>
                  <a:rPr lang="zh-CN" sz="1350" b="1" dirty="0">
                    <a:solidFill>
                      <a:srgbClr val="3498DB"/>
                    </a:solidFill>
                    <a:latin typeface="Arial" panose="020B0604020202020204"/>
                    <a:ea typeface="微软雅黑" panose="020B0503020204020204" charset="-122"/>
                    <a:cs typeface="Arial" panose="020B0604020202020204"/>
                  </a:rPr>
                  <a:t>第三层</a:t>
                </a:r>
                <a:endParaRPr lang="zh-CN" sz="1350" b="1" dirty="0">
                  <a:solidFill>
                    <a:srgbClr val="3498DB"/>
                  </a:solidFill>
                  <a:latin typeface="Arial" panose="020B0604020202020204"/>
                  <a:ea typeface="微软雅黑" panose="020B0503020204020204" charset="-122"/>
                  <a:cs typeface="Arial" panose="020B0604020202020204"/>
                </a:endParaRPr>
              </a:p>
            </p:txBody>
          </p:sp>
          <p:sp>
            <p:nvSpPr>
              <p:cNvPr id="27" name="TextBox 27"/>
              <p:cNvSpPr txBox="1"/>
              <p:nvPr/>
            </p:nvSpPr>
            <p:spPr>
              <a:xfrm>
                <a:off x="8312468" y="2704624"/>
                <a:ext cx="934879"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组内点越近越好</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28" name="TextBox 28"/>
              <p:cNvSpPr txBox="1"/>
              <p:nvPr/>
            </p:nvSpPr>
            <p:spPr>
              <a:xfrm>
                <a:off x="8312468" y="2923699"/>
                <a:ext cx="934879"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组间点越远越好</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8313420" y="3188970"/>
                <a:ext cx="134302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panose="020B0604020202020204"/>
                    <a:ea typeface="微软雅黑" panose="020B0503020204020204" charset="-122"/>
                    <a:cs typeface="Arial" panose="020B0604020202020204"/>
                  </a:rPr>
                  <a:t>量化层面：可计算可优化</a:t>
                </a:r>
                <a:endParaRPr lang="zh-CN" sz="900" dirty="0">
                  <a:solidFill>
                    <a:srgbClr val="7F8C8D"/>
                  </a:solidFill>
                  <a:latin typeface="Arial" panose="020B0604020202020204"/>
                  <a:ea typeface="微软雅黑" panose="020B0503020204020204" charset="-122"/>
                  <a:cs typeface="Arial" panose="020B0604020202020204"/>
                </a:endParaRPr>
              </a:p>
            </p:txBody>
          </p:sp>
        </p:grpSp>
      </p:grpSp>
      <p:grpSp>
        <p:nvGrpSpPr>
          <p:cNvPr id="36" name="Group 36"/>
          <p:cNvGrpSpPr/>
          <p:nvPr/>
        </p:nvGrpSpPr>
        <p:grpSpPr>
          <a:xfrm>
            <a:off x="571500" y="3810000"/>
            <a:ext cx="11049000" cy="952500"/>
            <a:chOff x="571500" y="3810000"/>
            <a:chExt cx="11049000" cy="952500"/>
          </a:xfrm>
        </p:grpSpPr>
        <p:sp>
          <p:nvSpPr>
            <p:cNvPr id="32" name="Rectangle 32"/>
            <p:cNvSpPr/>
            <p:nvPr/>
          </p:nvSpPr>
          <p:spPr>
            <a:xfrm>
              <a:off x="571500" y="3810000"/>
              <a:ext cx="11049000" cy="952500"/>
            </a:xfrm>
            <a:prstGeom prst="roundRect">
              <a:avLst>
                <a:gd name="adj" fmla="val 8000"/>
              </a:avLst>
            </a:prstGeom>
            <a:solidFill>
              <a:srgbClr val="F5F7FA"/>
            </a:solidFill>
            <a:ln>
              <a:noFill/>
            </a:ln>
          </p:spPr>
        </p:sp>
        <p:sp>
          <p:nvSpPr>
            <p:cNvPr id="33" name="TextBox 33"/>
            <p:cNvSpPr txBox="1"/>
            <p:nvPr/>
          </p:nvSpPr>
          <p:spPr>
            <a:xfrm>
              <a:off x="748665" y="3982402"/>
              <a:ext cx="614744" cy="213360"/>
            </a:xfrm>
            <a:prstGeom prst="rect">
              <a:avLst/>
            </a:prstGeom>
            <a:noFill/>
            <a:ln>
              <a:noFill/>
            </a:ln>
          </p:spPr>
          <p:txBody>
            <a:bodyPr wrap="none" lIns="0" tIns="0" rIns="0" bIns="0" anchor="t" anchorCtr="0">
              <a:spAutoFit/>
            </a:bodyPr>
            <a:lstStyle/>
            <a:p>
              <a:pPr algn="l"/>
              <a:r>
                <a:rPr lang="zh-CN" sz="1050" b="1" dirty="0">
                  <a:solidFill>
                    <a:srgbClr val="1A5276"/>
                  </a:solidFill>
                  <a:latin typeface="Arial" panose="020B0604020202020204"/>
                  <a:ea typeface="微软雅黑" panose="020B0503020204020204" charset="-122"/>
                  <a:cs typeface="Arial" panose="020B0604020202020204"/>
                </a:rPr>
                <a:t>簇的形状</a:t>
              </a:r>
              <a:endParaRPr lang="zh-CN" sz="1050" b="1" dirty="0">
                <a:solidFill>
                  <a:srgbClr val="1A5276"/>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749618" y="4228624"/>
              <a:ext cx="4835366"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簇的形象表现在空间分布上不是确定的，呈各种不同的形状（球形、条形、环形等）</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749618" y="4447699"/>
              <a:ext cx="5927503"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不同形状的簇需要用不同的聚类算法来处理。降维工具（PCA、t-SNE）可用于可视化高维数据中的簇。</a:t>
              </a:r>
              <a:endParaRPr lang="zh-CN" sz="975" dirty="0">
                <a:solidFill>
                  <a:srgbClr val="2C3E50"/>
                </a:solidFill>
                <a:latin typeface="Arial" panose="020B0604020202020204"/>
                <a:ea typeface="微软雅黑" panose="020B0503020204020204" charset="-122"/>
                <a:cs typeface="Arial" panose="020B0604020202020204"/>
              </a:endParaRPr>
            </a:p>
          </p:txBody>
        </p:sp>
      </p:grpSp>
      <p:sp>
        <p:nvSpPr>
          <p:cNvPr id="37" name="TextBox 37"/>
          <p:cNvSpPr txBox="1"/>
          <p:nvPr/>
        </p:nvSpPr>
        <p:spPr>
          <a:xfrm>
            <a:off x="6018562" y="6570345"/>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02</a:t>
            </a:r>
            <a:endParaRPr lang="zh-CN" sz="900"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400"/>
                                        <p:tgtEl>
                                          <p:spTgt spid="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image">
                                      <p:cBhvr>
                                        <p:cTn id="15"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1"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381000"/>
            <a:ext cx="11049000" cy="581025"/>
            <a:chOff x="571500" y="381000"/>
            <a:chExt cx="11049000" cy="581025"/>
          </a:xfrm>
        </p:grpSpPr>
        <p:sp>
          <p:nvSpPr>
            <p:cNvPr id="3" name="Rectangle 3"/>
            <p:cNvSpPr/>
            <p:nvPr/>
          </p:nvSpPr>
          <p:spPr>
            <a:xfrm>
              <a:off x="571500" y="381000"/>
              <a:ext cx="38100" cy="304800"/>
            </a:xfrm>
            <a:prstGeom prst="roundRect">
              <a:avLst>
                <a:gd name="adj" fmla="val 50000"/>
              </a:avLst>
            </a:prstGeom>
            <a:gradFill>
              <a:gsLst>
                <a:gs pos="0">
                  <a:srgbClr val="1A5276"/>
                </a:gs>
                <a:gs pos="100000">
                  <a:srgbClr val="3498DB"/>
                </a:gs>
              </a:gsLst>
              <a:lin ang="0" scaled="1"/>
            </a:gradFill>
            <a:ln>
              <a:noFill/>
            </a:ln>
          </p:spPr>
        </p:sp>
        <p:sp>
          <p:nvSpPr>
            <p:cNvPr id="4" name="TextBox 4"/>
            <p:cNvSpPr txBox="1"/>
            <p:nvPr/>
          </p:nvSpPr>
          <p:spPr>
            <a:xfrm>
              <a:off x="737235" y="399098"/>
              <a:ext cx="3448805" cy="396240"/>
            </a:xfrm>
            <a:prstGeom prst="rect">
              <a:avLst/>
            </a:prstGeom>
            <a:noFill/>
            <a:ln>
              <a:noFill/>
            </a:ln>
          </p:spPr>
          <p:txBody>
            <a:bodyPr wrap="none" lIns="0" tIns="0" rIns="0" bIns="0" anchor="t" anchorCtr="0">
              <a:spAutoFit/>
            </a:bodyPr>
            <a:lstStyle/>
            <a:p>
              <a:pPr algn="l"/>
              <a:r>
                <a:rPr lang="zh-CN" sz="1950" b="1" dirty="0">
                  <a:solidFill>
                    <a:srgbClr val="2C3E50"/>
                  </a:solidFill>
                  <a:latin typeface="Arial" panose="020B0604020202020204"/>
                  <a:ea typeface="微软雅黑" panose="020B0503020204020204" charset="-122"/>
                  <a:cs typeface="Arial" panose="020B0604020202020204"/>
                </a:rPr>
                <a:t>类的度量方法（Jp189-190）</a:t>
              </a:r>
              <a:endParaRPr lang="zh-CN" sz="1950" b="1" dirty="0">
                <a:solidFill>
                  <a:srgbClr val="2C3E50"/>
                </a:solidFill>
                <a:latin typeface="Arial" panose="020B0604020202020204"/>
                <a:ea typeface="微软雅黑" panose="020B0503020204020204" charset="-122"/>
                <a:cs typeface="Arial" panose="020B0604020202020204"/>
              </a:endParaRPr>
            </a:p>
          </p:txBody>
        </p:sp>
        <p:sp>
          <p:nvSpPr>
            <p:cNvPr id="5" name="Line 5"/>
            <p:cNvSpPr/>
            <p:nvPr/>
          </p:nvSpPr>
          <p:spPr>
            <a:xfrm>
              <a:off x="571500" y="952500"/>
              <a:ext cx="11049000" cy="9525"/>
            </a:xfrm>
            <a:custGeom>
              <a:avLst/>
              <a:gdLst/>
              <a:ahLst/>
              <a:cxnLst/>
              <a:rect l="l" t="t" r="r" b="b"/>
              <a:pathLst>
                <a:path w="11049000" h="9525">
                  <a:moveTo>
                    <a:pt x="0" y="0"/>
                  </a:moveTo>
                  <a:lnTo>
                    <a:pt x="11049000" y="0"/>
                  </a:lnTo>
                </a:path>
              </a:pathLst>
            </a:custGeom>
            <a:noFill/>
            <a:ln w="9525">
              <a:solidFill>
                <a:srgbClr val="D5D8DC"/>
              </a:solidFill>
            </a:ln>
          </p:spPr>
        </p:sp>
      </p:grpSp>
      <p:grpSp>
        <p:nvGrpSpPr>
          <p:cNvPr id="18" name="Group 18"/>
          <p:cNvGrpSpPr/>
          <p:nvPr/>
        </p:nvGrpSpPr>
        <p:grpSpPr>
          <a:xfrm>
            <a:off x="571500" y="1143000"/>
            <a:ext cx="5334000" cy="2381250"/>
            <a:chOff x="571500" y="1143000"/>
            <a:chExt cx="5334000" cy="2381250"/>
          </a:xfrm>
        </p:grpSpPr>
        <p:sp>
          <p:nvSpPr>
            <p:cNvPr id="7" name="Rectangle 7"/>
            <p:cNvSpPr/>
            <p:nvPr/>
          </p:nvSpPr>
          <p:spPr>
            <a:xfrm>
              <a:off x="571500" y="1143000"/>
              <a:ext cx="5334000" cy="2381250"/>
            </a:xfrm>
            <a:prstGeom prst="roundRect">
              <a:avLst>
                <a:gd name="adj" fmla="val 3200"/>
              </a:avLst>
            </a:prstGeom>
            <a:solidFill>
              <a:srgbClr val="F5F7FA"/>
            </a:solidFill>
            <a:ln>
              <a:noFill/>
            </a:ln>
          </p:spPr>
        </p:sp>
        <p:sp>
          <p:nvSpPr>
            <p:cNvPr id="8" name="Rectangle 8"/>
            <p:cNvSpPr/>
            <p:nvPr/>
          </p:nvSpPr>
          <p:spPr>
            <a:xfrm>
              <a:off x="571500" y="1143000"/>
              <a:ext cx="5334000" cy="38100"/>
            </a:xfrm>
            <a:prstGeom prst="roundRect">
              <a:avLst>
                <a:gd name="adj" fmla="val 50000"/>
              </a:avLst>
            </a:prstGeom>
            <a:solidFill>
              <a:srgbClr val="1A5276"/>
            </a:solidFill>
            <a:ln>
              <a:noFill/>
            </a:ln>
          </p:spPr>
        </p:sp>
        <p:sp>
          <p:nvSpPr>
            <p:cNvPr id="9" name="TextBox 9"/>
            <p:cNvSpPr txBox="1"/>
            <p:nvPr/>
          </p:nvSpPr>
          <p:spPr>
            <a:xfrm>
              <a:off x="742950" y="1314450"/>
              <a:ext cx="878205" cy="304800"/>
            </a:xfrm>
            <a:prstGeom prst="rect">
              <a:avLst/>
            </a:prstGeom>
            <a:noFill/>
            <a:ln>
              <a:noFill/>
            </a:ln>
          </p:spPr>
          <p:txBody>
            <a:bodyPr wrap="none" lIns="0" tIns="0" rIns="0" bIns="0" anchor="t" anchorCtr="0">
              <a:spAutoFit/>
            </a:bodyPr>
            <a:lstStyle/>
            <a:p>
              <a:pPr algn="l"/>
              <a:r>
                <a:rPr lang="zh-CN" sz="1500" b="1" dirty="0">
                  <a:solidFill>
                    <a:srgbClr val="1A5276"/>
                  </a:solidFill>
                  <a:latin typeface="Arial" panose="020B0604020202020204"/>
                  <a:ea typeface="微软雅黑" panose="020B0503020204020204" charset="-122"/>
                  <a:cs typeface="Arial" panose="020B0604020202020204"/>
                </a:rPr>
                <a:t>欧氏距离</a:t>
              </a:r>
              <a:endParaRPr lang="zh-CN" sz="1500" b="1" dirty="0">
                <a:solidFill>
                  <a:srgbClr val="1A5276"/>
                </a:solidFill>
                <a:latin typeface="Arial" panose="020B0604020202020204"/>
                <a:ea typeface="微软雅黑" panose="020B0503020204020204" charset="-122"/>
                <a:cs typeface="Arial" panose="020B0604020202020204"/>
              </a:endParaRPr>
            </a:p>
          </p:txBody>
        </p:sp>
        <p:sp>
          <p:nvSpPr>
            <p:cNvPr id="10" name="TextBox 10"/>
            <p:cNvSpPr txBox="1"/>
            <p:nvPr/>
          </p:nvSpPr>
          <p:spPr>
            <a:xfrm>
              <a:off x="748665" y="1648778"/>
              <a:ext cx="1566863"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panose="020B0604020202020204"/>
                  <a:ea typeface="微软雅黑" panose="020B0503020204020204" charset="-122"/>
                  <a:cs typeface="Arial" panose="020B0604020202020204"/>
                </a:rPr>
                <a:t>衡量两点之间的直线距离</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11" name="Rectangle 11"/>
            <p:cNvSpPr/>
            <p:nvPr/>
          </p:nvSpPr>
          <p:spPr>
            <a:xfrm>
              <a:off x="762000" y="2000250"/>
              <a:ext cx="4762500" cy="523875"/>
            </a:xfrm>
            <a:prstGeom prst="roundRect">
              <a:avLst>
                <a:gd name="adj" fmla="val 10909"/>
              </a:avLst>
            </a:prstGeom>
            <a:solidFill>
              <a:srgbClr val="FFFFFF"/>
            </a:solidFill>
            <a:ln>
              <a:noFill/>
            </a:ln>
          </p:spPr>
        </p:sp>
        <p:sp>
          <p:nvSpPr>
            <p:cNvPr id="12" name="TextBox 12"/>
            <p:cNvSpPr txBox="1"/>
            <p:nvPr/>
          </p:nvSpPr>
          <p:spPr>
            <a:xfrm>
              <a:off x="2111883" y="2089785"/>
              <a:ext cx="2062734" cy="243840"/>
            </a:xfrm>
            <a:prstGeom prst="rect">
              <a:avLst/>
            </a:prstGeom>
            <a:noFill/>
            <a:ln>
              <a:noFill/>
            </a:ln>
          </p:spPr>
          <p:txBody>
            <a:bodyPr wrap="none" lIns="0" tIns="0" rIns="0" bIns="0" anchor="t" anchorCtr="0">
              <a:spAutoFit/>
            </a:bodyPr>
            <a:lstStyle/>
            <a:p>
              <a:pPr algn="ctr"/>
              <a:r>
                <a:rPr lang="zh-CN" sz="1200" dirty="0">
                  <a:solidFill>
                    <a:srgbClr val="E74C3C"/>
                  </a:solidFill>
                  <a:latin typeface="Consolas" panose="020B0609020204030204"/>
                  <a:ea typeface="微软雅黑" panose="020B0503020204020204" charset="-122"/>
                  <a:cs typeface="Consolas" panose="020B0609020204030204"/>
                </a:rPr>
                <a:t>d = √[(x₁-x₂)²+(y₁-y₂)²]</a:t>
              </a:r>
              <a:endParaRPr lang="zh-CN" sz="1200" dirty="0">
                <a:solidFill>
                  <a:srgbClr val="E74C3C"/>
                </a:solidFill>
                <a:latin typeface="Consolas" panose="020B0609020204030204"/>
                <a:ea typeface="微软雅黑" panose="020B0503020204020204" charset="-122"/>
                <a:cs typeface="Consolas" panose="020B0609020204030204"/>
              </a:endParaRPr>
            </a:p>
          </p:txBody>
        </p:sp>
        <p:sp>
          <p:nvSpPr>
            <p:cNvPr id="13" name="TextBox 13"/>
            <p:cNvSpPr txBox="1"/>
            <p:nvPr/>
          </p:nvSpPr>
          <p:spPr>
            <a:xfrm>
              <a:off x="1823657" y="2312670"/>
              <a:ext cx="263918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二维平面上点a(x₁,y₁)与b(x₂,y₂)间的欧氏距离</a:t>
              </a:r>
              <a:endParaRPr lang="zh-CN" sz="900" dirty="0">
                <a:solidFill>
                  <a:srgbClr val="7F8C8D"/>
                </a:solidFill>
                <a:latin typeface="Arial" panose="020B0604020202020204"/>
                <a:ea typeface="微软雅黑" panose="020B0503020204020204" charset="-122"/>
                <a:cs typeface="Arial" panose="020B0604020202020204"/>
              </a:endParaRPr>
            </a:p>
          </p:txBody>
        </p:sp>
        <p:sp>
          <p:nvSpPr>
            <p:cNvPr id="14" name="Line 14"/>
            <p:cNvSpPr/>
            <p:nvPr/>
          </p:nvSpPr>
          <p:spPr>
            <a:xfrm>
              <a:off x="762000" y="2714625"/>
              <a:ext cx="4857750" cy="9525"/>
            </a:xfrm>
            <a:custGeom>
              <a:avLst/>
              <a:gdLst/>
              <a:ahLst/>
              <a:cxnLst/>
              <a:rect l="l" t="t" r="r" b="b"/>
              <a:pathLst>
                <a:path w="4857750" h="9525">
                  <a:moveTo>
                    <a:pt x="0" y="0"/>
                  </a:moveTo>
                  <a:lnTo>
                    <a:pt x="4857750" y="0"/>
                  </a:lnTo>
                </a:path>
              </a:pathLst>
            </a:custGeom>
            <a:noFill/>
            <a:ln w="9525">
              <a:solidFill>
                <a:srgbClr val="D5D8DC"/>
              </a:solidFill>
            </a:ln>
          </p:spPr>
        </p:sp>
        <p:sp>
          <p:nvSpPr>
            <p:cNvPr id="15" name="TextBox 15"/>
            <p:cNvSpPr txBox="1"/>
            <p:nvPr/>
          </p:nvSpPr>
          <p:spPr>
            <a:xfrm>
              <a:off x="748665" y="2839402"/>
              <a:ext cx="320707" cy="213360"/>
            </a:xfrm>
            <a:prstGeom prst="rect">
              <a:avLst/>
            </a:prstGeom>
            <a:noFill/>
            <a:ln>
              <a:noFill/>
            </a:ln>
          </p:spPr>
          <p:txBody>
            <a:bodyPr wrap="none" lIns="0" tIns="0" rIns="0" bIns="0" anchor="t" anchorCtr="0">
              <a:spAutoFit/>
            </a:bodyPr>
            <a:lstStyle/>
            <a:p>
              <a:pPr algn="l"/>
              <a:r>
                <a:rPr lang="zh-CN" sz="1050" b="1" dirty="0">
                  <a:solidFill>
                    <a:srgbClr val="1A5276"/>
                  </a:solidFill>
                  <a:latin typeface="Arial" panose="020B0604020202020204"/>
                  <a:ea typeface="微软雅黑" panose="020B0503020204020204" charset="-122"/>
                  <a:cs typeface="Arial" panose="020B0604020202020204"/>
                </a:rPr>
                <a:t>特点</a:t>
              </a:r>
              <a:endParaRPr lang="zh-CN" sz="1050" b="1" dirty="0">
                <a:solidFill>
                  <a:srgbClr val="1A5276"/>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749618" y="3085624"/>
              <a:ext cx="2105025"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直观、计算简单、最常用的距离度量</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749618" y="3276124"/>
              <a:ext cx="1864495"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对特征量纲敏感 → 需先做标准化</a:t>
              </a:r>
              <a:endParaRPr lang="zh-CN" sz="975" dirty="0">
                <a:solidFill>
                  <a:srgbClr val="2C3E50"/>
                </a:solidFill>
                <a:latin typeface="Arial" panose="020B0604020202020204"/>
                <a:ea typeface="微软雅黑" panose="020B0503020204020204" charset="-122"/>
                <a:cs typeface="Arial" panose="020B0604020202020204"/>
              </a:endParaRPr>
            </a:p>
          </p:txBody>
        </p:sp>
      </p:grpSp>
      <p:grpSp>
        <p:nvGrpSpPr>
          <p:cNvPr id="30" name="Group 30"/>
          <p:cNvGrpSpPr/>
          <p:nvPr/>
        </p:nvGrpSpPr>
        <p:grpSpPr>
          <a:xfrm>
            <a:off x="6286500" y="1143000"/>
            <a:ext cx="5334000" cy="2381250"/>
            <a:chOff x="6286500" y="1143000"/>
            <a:chExt cx="5334000" cy="2381250"/>
          </a:xfrm>
        </p:grpSpPr>
        <p:sp>
          <p:nvSpPr>
            <p:cNvPr id="19" name="Rectangle 19"/>
            <p:cNvSpPr/>
            <p:nvPr/>
          </p:nvSpPr>
          <p:spPr>
            <a:xfrm>
              <a:off x="6286500" y="1143000"/>
              <a:ext cx="5334000" cy="2381250"/>
            </a:xfrm>
            <a:prstGeom prst="roundRect">
              <a:avLst>
                <a:gd name="adj" fmla="val 3200"/>
              </a:avLst>
            </a:prstGeom>
            <a:solidFill>
              <a:srgbClr val="F5F7FA"/>
            </a:solidFill>
            <a:ln>
              <a:noFill/>
            </a:ln>
          </p:spPr>
        </p:sp>
        <p:sp>
          <p:nvSpPr>
            <p:cNvPr id="20" name="Rectangle 20"/>
            <p:cNvSpPr/>
            <p:nvPr/>
          </p:nvSpPr>
          <p:spPr>
            <a:xfrm>
              <a:off x="6286500" y="1143000"/>
              <a:ext cx="5334000" cy="38100"/>
            </a:xfrm>
            <a:prstGeom prst="roundRect">
              <a:avLst>
                <a:gd name="adj" fmla="val 50000"/>
              </a:avLst>
            </a:prstGeom>
            <a:solidFill>
              <a:srgbClr val="2980B9"/>
            </a:solidFill>
            <a:ln>
              <a:noFill/>
            </a:ln>
          </p:spPr>
        </p:sp>
        <p:sp>
          <p:nvSpPr>
            <p:cNvPr id="21" name="TextBox 21"/>
            <p:cNvSpPr txBox="1"/>
            <p:nvPr/>
          </p:nvSpPr>
          <p:spPr>
            <a:xfrm>
              <a:off x="6457950" y="1314450"/>
              <a:ext cx="1088231" cy="304800"/>
            </a:xfrm>
            <a:prstGeom prst="rect">
              <a:avLst/>
            </a:prstGeom>
            <a:noFill/>
            <a:ln>
              <a:noFill/>
            </a:ln>
          </p:spPr>
          <p:txBody>
            <a:bodyPr wrap="none" lIns="0" tIns="0" rIns="0" bIns="0" anchor="t" anchorCtr="0">
              <a:spAutoFit/>
            </a:bodyPr>
            <a:lstStyle/>
            <a:p>
              <a:pPr algn="l"/>
              <a:r>
                <a:rPr lang="zh-CN" sz="1500" b="1" dirty="0">
                  <a:solidFill>
                    <a:srgbClr val="2980B9"/>
                  </a:solidFill>
                  <a:latin typeface="Arial" panose="020B0604020202020204"/>
                  <a:ea typeface="微软雅黑" panose="020B0503020204020204" charset="-122"/>
                  <a:cs typeface="Arial" panose="020B0604020202020204"/>
                </a:rPr>
                <a:t>余弦相似度</a:t>
              </a:r>
              <a:endParaRPr lang="zh-CN" sz="1500" b="1" dirty="0">
                <a:solidFill>
                  <a:srgbClr val="2980B9"/>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6463665" y="1648778"/>
              <a:ext cx="1706880"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panose="020B0604020202020204"/>
                  <a:ea typeface="微软雅黑" panose="020B0503020204020204" charset="-122"/>
                  <a:cs typeface="Arial" panose="020B0604020202020204"/>
                </a:rPr>
                <a:t>衡量两个向量方向上的差异</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23" name="Rectangle 23"/>
            <p:cNvSpPr/>
            <p:nvPr/>
          </p:nvSpPr>
          <p:spPr>
            <a:xfrm>
              <a:off x="6477000" y="2000250"/>
              <a:ext cx="4762500" cy="523875"/>
            </a:xfrm>
            <a:prstGeom prst="roundRect">
              <a:avLst>
                <a:gd name="adj" fmla="val 10909"/>
              </a:avLst>
            </a:prstGeom>
            <a:solidFill>
              <a:srgbClr val="FFFFFF"/>
            </a:solidFill>
            <a:ln>
              <a:noFill/>
            </a:ln>
          </p:spPr>
        </p:sp>
        <p:sp>
          <p:nvSpPr>
            <p:cNvPr id="24" name="TextBox 24"/>
            <p:cNvSpPr txBox="1"/>
            <p:nvPr/>
          </p:nvSpPr>
          <p:spPr>
            <a:xfrm>
              <a:off x="8048863" y="2097881"/>
              <a:ext cx="1618774" cy="228600"/>
            </a:xfrm>
            <a:prstGeom prst="rect">
              <a:avLst/>
            </a:prstGeom>
            <a:noFill/>
            <a:ln>
              <a:noFill/>
            </a:ln>
          </p:spPr>
          <p:txBody>
            <a:bodyPr wrap="none" lIns="0" tIns="0" rIns="0" bIns="0" anchor="t" anchorCtr="0">
              <a:spAutoFit/>
            </a:bodyPr>
            <a:lstStyle/>
            <a:p>
              <a:pPr algn="ctr"/>
              <a:r>
                <a:rPr lang="zh-CN" sz="1125" dirty="0">
                  <a:solidFill>
                    <a:srgbClr val="E74C3C"/>
                  </a:solidFill>
                  <a:latin typeface="Consolas" panose="020B0609020204030204"/>
                  <a:ea typeface="微软雅黑" panose="020B0503020204020204" charset="-122"/>
                  <a:cs typeface="Consolas" panose="020B0609020204030204"/>
                </a:rPr>
                <a:t>cos(θ) = (AB)/(|A||B|)</a:t>
              </a:r>
              <a:endParaRPr lang="zh-CN" sz="1125" dirty="0">
                <a:solidFill>
                  <a:srgbClr val="E74C3C"/>
                </a:solidFill>
                <a:latin typeface="Consolas" panose="020B0609020204030204"/>
                <a:ea typeface="微软雅黑" panose="020B0503020204020204" charset="-122"/>
                <a:cs typeface="Consolas" panose="020B0609020204030204"/>
              </a:endParaRPr>
            </a:p>
          </p:txBody>
        </p:sp>
        <p:sp>
          <p:nvSpPr>
            <p:cNvPr id="25" name="TextBox 25"/>
            <p:cNvSpPr txBox="1"/>
            <p:nvPr/>
          </p:nvSpPr>
          <p:spPr>
            <a:xfrm>
              <a:off x="7718679" y="2312670"/>
              <a:ext cx="2279142"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向量A(x₁,y₁)与向量B(x₂,y₂)的夹角余弦</a:t>
              </a:r>
              <a:endParaRPr lang="zh-CN" sz="900" dirty="0">
                <a:solidFill>
                  <a:srgbClr val="7F8C8D"/>
                </a:solidFill>
                <a:latin typeface="Arial" panose="020B0604020202020204"/>
                <a:ea typeface="微软雅黑" panose="020B0503020204020204" charset="-122"/>
                <a:cs typeface="Arial" panose="020B0604020202020204"/>
              </a:endParaRPr>
            </a:p>
          </p:txBody>
        </p:sp>
        <p:sp>
          <p:nvSpPr>
            <p:cNvPr id="26" name="Line 26"/>
            <p:cNvSpPr/>
            <p:nvPr/>
          </p:nvSpPr>
          <p:spPr>
            <a:xfrm>
              <a:off x="6477000" y="2714625"/>
              <a:ext cx="4857750" cy="9525"/>
            </a:xfrm>
            <a:custGeom>
              <a:avLst/>
              <a:gdLst/>
              <a:ahLst/>
              <a:cxnLst/>
              <a:rect l="l" t="t" r="r" b="b"/>
              <a:pathLst>
                <a:path w="4857750" h="9525">
                  <a:moveTo>
                    <a:pt x="0" y="0"/>
                  </a:moveTo>
                  <a:lnTo>
                    <a:pt x="4857750" y="0"/>
                  </a:lnTo>
                </a:path>
              </a:pathLst>
            </a:custGeom>
            <a:noFill/>
            <a:ln w="9525">
              <a:solidFill>
                <a:srgbClr val="D5D8DC"/>
              </a:solidFill>
            </a:ln>
          </p:spPr>
        </p:sp>
        <p:sp>
          <p:nvSpPr>
            <p:cNvPr id="27" name="TextBox 27"/>
            <p:cNvSpPr txBox="1"/>
            <p:nvPr/>
          </p:nvSpPr>
          <p:spPr>
            <a:xfrm>
              <a:off x="6463665" y="2839402"/>
              <a:ext cx="320707" cy="213360"/>
            </a:xfrm>
            <a:prstGeom prst="rect">
              <a:avLst/>
            </a:prstGeom>
            <a:noFill/>
            <a:ln>
              <a:noFill/>
            </a:ln>
          </p:spPr>
          <p:txBody>
            <a:bodyPr wrap="none" lIns="0" tIns="0" rIns="0" bIns="0" anchor="t" anchorCtr="0">
              <a:spAutoFit/>
            </a:bodyPr>
            <a:lstStyle/>
            <a:p>
              <a:pPr algn="l"/>
              <a:r>
                <a:rPr lang="zh-CN" sz="1050" b="1" dirty="0">
                  <a:solidFill>
                    <a:srgbClr val="2980B9"/>
                  </a:solidFill>
                  <a:latin typeface="Arial" panose="020B0604020202020204"/>
                  <a:ea typeface="微软雅黑" panose="020B0503020204020204" charset="-122"/>
                  <a:cs typeface="Arial" panose="020B0604020202020204"/>
                </a:rPr>
                <a:t>特点</a:t>
              </a:r>
              <a:endParaRPr lang="zh-CN" sz="1050" b="1" dirty="0">
                <a:solidFill>
                  <a:srgbClr val="2980B9"/>
                </a:solidFill>
                <a:latin typeface="Arial" panose="020B0604020202020204"/>
                <a:ea typeface="微软雅黑" panose="020B0503020204020204" charset="-122"/>
                <a:cs typeface="Arial" panose="020B0604020202020204"/>
              </a:endParaRPr>
            </a:p>
          </p:txBody>
        </p:sp>
        <p:sp>
          <p:nvSpPr>
            <p:cNvPr id="28" name="TextBox 28"/>
            <p:cNvSpPr txBox="1"/>
            <p:nvPr/>
          </p:nvSpPr>
          <p:spPr>
            <a:xfrm>
              <a:off x="6464618" y="3085624"/>
              <a:ext cx="1461445"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cosθ越接近1→方向越相似</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6464618" y="3276124"/>
              <a:ext cx="2235041"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不受向量长度的影响，常用于文本分析</a:t>
              </a:r>
              <a:endParaRPr lang="zh-CN" sz="975" dirty="0">
                <a:solidFill>
                  <a:srgbClr val="2C3E50"/>
                </a:solidFill>
                <a:latin typeface="Arial" panose="020B0604020202020204"/>
                <a:ea typeface="微软雅黑" panose="020B0503020204020204" charset="-122"/>
                <a:cs typeface="Arial" panose="020B0604020202020204"/>
              </a:endParaRPr>
            </a:p>
          </p:txBody>
        </p:sp>
      </p:grpSp>
      <p:grpSp>
        <p:nvGrpSpPr>
          <p:cNvPr id="35" name="Group 35"/>
          <p:cNvGrpSpPr/>
          <p:nvPr/>
        </p:nvGrpSpPr>
        <p:grpSpPr>
          <a:xfrm>
            <a:off x="571500" y="3810000"/>
            <a:ext cx="11049000" cy="807244"/>
            <a:chOff x="571500" y="3810000"/>
            <a:chExt cx="11049000" cy="807244"/>
          </a:xfrm>
        </p:grpSpPr>
        <p:sp>
          <p:nvSpPr>
            <p:cNvPr id="31" name="Rectangle 31"/>
            <p:cNvSpPr/>
            <p:nvPr/>
          </p:nvSpPr>
          <p:spPr>
            <a:xfrm>
              <a:off x="571500" y="3810000"/>
              <a:ext cx="11049000" cy="762000"/>
            </a:xfrm>
            <a:prstGeom prst="roundRect">
              <a:avLst>
                <a:gd name="adj" fmla="val 10000"/>
              </a:avLst>
            </a:prstGeom>
            <a:solidFill>
              <a:srgbClr val="F5F7FA"/>
            </a:solidFill>
            <a:ln>
              <a:noFill/>
            </a:ln>
          </p:spPr>
        </p:sp>
        <p:sp>
          <p:nvSpPr>
            <p:cNvPr id="32" name="TextBox 32"/>
            <p:cNvSpPr txBox="1"/>
            <p:nvPr/>
          </p:nvSpPr>
          <p:spPr>
            <a:xfrm>
              <a:off x="748665" y="3982402"/>
              <a:ext cx="1055799" cy="213360"/>
            </a:xfrm>
            <a:prstGeom prst="rect">
              <a:avLst/>
            </a:prstGeom>
            <a:noFill/>
            <a:ln>
              <a:noFill/>
            </a:ln>
          </p:spPr>
          <p:txBody>
            <a:bodyPr wrap="none" lIns="0" tIns="0" rIns="0" bIns="0" anchor="t" anchorCtr="0">
              <a:spAutoFit/>
            </a:bodyPr>
            <a:lstStyle/>
            <a:p>
              <a:pPr algn="l"/>
              <a:r>
                <a:rPr lang="zh-CN" sz="1050" b="1" dirty="0">
                  <a:solidFill>
                    <a:srgbClr val="1A5276"/>
                  </a:solidFill>
                  <a:latin typeface="Arial" panose="020B0604020202020204"/>
                  <a:ea typeface="微软雅黑" panose="020B0503020204020204" charset="-122"/>
                  <a:cs typeface="Arial" panose="020B0604020202020204"/>
                </a:rPr>
                <a:t>距离度量的选择</a:t>
              </a:r>
              <a:endParaRPr lang="zh-CN" sz="1050" b="1" dirty="0">
                <a:solidFill>
                  <a:srgbClr val="1A5276"/>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749618" y="4228624"/>
              <a:ext cx="8124777"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K-means默认使用欧氏距离，但可以通过参数 'distance' 指定其他距离（如余弦距离）：kidx = kmeans(data, k, 'distance', 'cosine')</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749618" y="4419124"/>
              <a:ext cx="3730228"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cosθ的含义：值越大（越接近1）→ 向量方向越一致 → 相似度越高</a:t>
              </a:r>
              <a:endParaRPr lang="zh-CN" sz="975" dirty="0">
                <a:solidFill>
                  <a:srgbClr val="2C3E50"/>
                </a:solidFill>
                <a:latin typeface="Arial" panose="020B0604020202020204"/>
                <a:ea typeface="微软雅黑" panose="020B0503020204020204" charset="-122"/>
                <a:cs typeface="Arial" panose="020B0604020202020204"/>
              </a:endParaRPr>
            </a:p>
          </p:txBody>
        </p:sp>
      </p:grpSp>
      <p:sp>
        <p:nvSpPr>
          <p:cNvPr id="36" name="TextBox 36"/>
          <p:cNvSpPr txBox="1"/>
          <p:nvPr/>
        </p:nvSpPr>
        <p:spPr>
          <a:xfrm>
            <a:off x="6018562" y="6570345"/>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03</a:t>
            </a:r>
            <a:endParaRPr lang="zh-CN" sz="900"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400"/>
                                        <p:tgtEl>
                                          <p:spTgt spid="3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0" grpId="0"/>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381000"/>
            <a:ext cx="11049000" cy="581025"/>
            <a:chOff x="571500" y="381000"/>
            <a:chExt cx="11049000" cy="581025"/>
          </a:xfrm>
        </p:grpSpPr>
        <p:sp>
          <p:nvSpPr>
            <p:cNvPr id="3" name="Rectangle 3"/>
            <p:cNvSpPr/>
            <p:nvPr/>
          </p:nvSpPr>
          <p:spPr>
            <a:xfrm>
              <a:off x="571500" y="381000"/>
              <a:ext cx="38100" cy="304800"/>
            </a:xfrm>
            <a:prstGeom prst="roundRect">
              <a:avLst>
                <a:gd name="adj" fmla="val 50000"/>
              </a:avLst>
            </a:prstGeom>
            <a:gradFill>
              <a:gsLst>
                <a:gs pos="0">
                  <a:srgbClr val="1A5276"/>
                </a:gs>
                <a:gs pos="100000">
                  <a:srgbClr val="3498DB"/>
                </a:gs>
              </a:gsLst>
              <a:lin ang="0" scaled="1"/>
            </a:gradFill>
            <a:ln>
              <a:noFill/>
            </a:ln>
          </p:spPr>
        </p:sp>
        <p:sp>
          <p:nvSpPr>
            <p:cNvPr id="4" name="TextBox 4"/>
            <p:cNvSpPr txBox="1"/>
            <p:nvPr/>
          </p:nvSpPr>
          <p:spPr>
            <a:xfrm>
              <a:off x="737235" y="399098"/>
              <a:ext cx="4568245" cy="396240"/>
            </a:xfrm>
            <a:prstGeom prst="rect">
              <a:avLst/>
            </a:prstGeom>
            <a:noFill/>
            <a:ln>
              <a:noFill/>
            </a:ln>
          </p:spPr>
          <p:txBody>
            <a:bodyPr wrap="none" lIns="0" tIns="0" rIns="0" bIns="0" anchor="t" anchorCtr="0">
              <a:spAutoFit/>
            </a:bodyPr>
            <a:lstStyle/>
            <a:p>
              <a:pPr algn="l"/>
              <a:r>
                <a:rPr lang="zh-CN" sz="1950" b="1" dirty="0">
                  <a:solidFill>
                    <a:srgbClr val="2C3E50"/>
                  </a:solidFill>
                  <a:latin typeface="Arial" panose="020B0604020202020204"/>
                  <a:ea typeface="微软雅黑" panose="020B0503020204020204" charset="-122"/>
                  <a:cs typeface="Arial" panose="020B0604020202020204"/>
                </a:rPr>
                <a:t>K-means聚类：原理与步骤（Jp192）</a:t>
              </a:r>
              <a:endParaRPr lang="zh-CN" sz="1950" b="1" dirty="0">
                <a:solidFill>
                  <a:srgbClr val="2C3E50"/>
                </a:solidFill>
                <a:latin typeface="Arial" panose="020B0604020202020204"/>
                <a:ea typeface="微软雅黑" panose="020B0503020204020204" charset="-122"/>
                <a:cs typeface="Arial" panose="020B0604020202020204"/>
              </a:endParaRPr>
            </a:p>
          </p:txBody>
        </p:sp>
        <p:sp>
          <p:nvSpPr>
            <p:cNvPr id="5" name="Line 5"/>
            <p:cNvSpPr/>
            <p:nvPr/>
          </p:nvSpPr>
          <p:spPr>
            <a:xfrm>
              <a:off x="571500" y="952500"/>
              <a:ext cx="11049000" cy="9525"/>
            </a:xfrm>
            <a:custGeom>
              <a:avLst/>
              <a:gdLst/>
              <a:ahLst/>
              <a:cxnLst/>
              <a:rect l="l" t="t" r="r" b="b"/>
              <a:pathLst>
                <a:path w="11049000" h="9525">
                  <a:moveTo>
                    <a:pt x="0" y="0"/>
                  </a:moveTo>
                  <a:lnTo>
                    <a:pt x="11049000" y="0"/>
                  </a:lnTo>
                </a:path>
              </a:pathLst>
            </a:custGeom>
            <a:noFill/>
            <a:ln w="9525">
              <a:solidFill>
                <a:srgbClr val="D5D8DC"/>
              </a:solidFill>
            </a:ln>
          </p:spPr>
        </p:sp>
      </p:grpSp>
      <p:grpSp>
        <p:nvGrpSpPr>
          <p:cNvPr id="36" name="Group 36"/>
          <p:cNvGrpSpPr/>
          <p:nvPr/>
        </p:nvGrpSpPr>
        <p:grpSpPr>
          <a:xfrm>
            <a:off x="571500" y="1092518"/>
            <a:ext cx="11049000" cy="1622107"/>
            <a:chOff x="571500" y="1092518"/>
            <a:chExt cx="11049000" cy="1622107"/>
          </a:xfrm>
        </p:grpSpPr>
        <p:sp>
          <p:nvSpPr>
            <p:cNvPr id="7" name="TextBox 7"/>
            <p:cNvSpPr txBox="1"/>
            <p:nvPr/>
          </p:nvSpPr>
          <p:spPr>
            <a:xfrm>
              <a:off x="744855" y="1092518"/>
              <a:ext cx="1924526"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panose="020B0604020202020204"/>
                  <a:ea typeface="微软雅黑" panose="020B0503020204020204" charset="-122"/>
                  <a:cs typeface="Arial" panose="020B0604020202020204"/>
                </a:rPr>
                <a:t>工作原理（考试标准）</a:t>
              </a:r>
              <a:endParaRPr lang="zh-CN" sz="1350" b="1" dirty="0">
                <a:solidFill>
                  <a:srgbClr val="1A5276"/>
                </a:solidFill>
                <a:latin typeface="Arial" panose="020B0604020202020204"/>
                <a:ea typeface="微软雅黑" panose="020B0503020204020204" charset="-122"/>
                <a:cs typeface="Arial" panose="020B0604020202020204"/>
              </a:endParaRPr>
            </a:p>
          </p:txBody>
        </p:sp>
        <p:grpSp>
          <p:nvGrpSpPr>
            <p:cNvPr id="14" name="Group 14"/>
            <p:cNvGrpSpPr/>
            <p:nvPr/>
          </p:nvGrpSpPr>
          <p:grpSpPr>
            <a:xfrm>
              <a:off x="571500" y="1476375"/>
              <a:ext cx="2571750" cy="1238250"/>
              <a:chOff x="571500" y="1476375"/>
              <a:chExt cx="2571750" cy="1238250"/>
            </a:xfrm>
          </p:grpSpPr>
          <p:sp>
            <p:nvSpPr>
              <p:cNvPr id="8" name="Rectangle 8"/>
              <p:cNvSpPr/>
              <p:nvPr/>
            </p:nvSpPr>
            <p:spPr>
              <a:xfrm>
                <a:off x="571500" y="1476375"/>
                <a:ext cx="2571750" cy="1238250"/>
              </a:xfrm>
              <a:prstGeom prst="roundRect">
                <a:avLst>
                  <a:gd name="adj" fmla="val 6154"/>
                </a:avLst>
              </a:prstGeom>
              <a:solidFill>
                <a:srgbClr val="F5F7FA"/>
              </a:solidFill>
              <a:ln>
                <a:noFill/>
              </a:ln>
            </p:spPr>
          </p:sp>
          <p:sp>
            <p:nvSpPr>
              <p:cNvPr id="9" name="Rectangle 9"/>
              <p:cNvSpPr/>
              <p:nvPr/>
            </p:nvSpPr>
            <p:spPr>
              <a:xfrm>
                <a:off x="571500" y="1476375"/>
                <a:ext cx="2571750" cy="38100"/>
              </a:xfrm>
              <a:prstGeom prst="roundRect">
                <a:avLst>
                  <a:gd name="adj" fmla="val 50000"/>
                </a:avLst>
              </a:prstGeom>
              <a:solidFill>
                <a:srgbClr val="1A5276"/>
              </a:solidFill>
              <a:ln>
                <a:noFill/>
              </a:ln>
            </p:spPr>
          </p:sp>
          <p:sp>
            <p:nvSpPr>
              <p:cNvPr id="10" name="Ellipse 10"/>
              <p:cNvSpPr/>
              <p:nvPr/>
            </p:nvSpPr>
            <p:spPr>
              <a:xfrm>
                <a:off x="1685925" y="1590675"/>
                <a:ext cx="342900" cy="342900"/>
              </a:xfrm>
              <a:prstGeom prst="ellipse">
                <a:avLst/>
              </a:prstGeom>
              <a:solidFill>
                <a:srgbClr val="1A5276"/>
              </a:solidFill>
              <a:ln>
                <a:noFill/>
              </a:ln>
            </p:spPr>
          </p:sp>
          <p:sp>
            <p:nvSpPr>
              <p:cNvPr id="11" name="TextBox 11"/>
              <p:cNvSpPr txBox="1"/>
              <p:nvPr/>
            </p:nvSpPr>
            <p:spPr>
              <a:xfrm>
                <a:off x="1821987" y="1705928"/>
                <a:ext cx="707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1</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2" name="TextBox 12"/>
              <p:cNvSpPr txBox="1"/>
              <p:nvPr/>
            </p:nvSpPr>
            <p:spPr>
              <a:xfrm>
                <a:off x="748665" y="1982152"/>
                <a:ext cx="803767"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panose="020B0604020202020204"/>
                    <a:ea typeface="微软雅黑" panose="020B0503020204020204" charset="-122"/>
                    <a:cs typeface="Arial" panose="020B0604020202020204"/>
                  </a:rPr>
                  <a:t>随机选K个点</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750570" y="2236470"/>
                <a:ext cx="122301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panose="020B0604020202020204"/>
                    <a:ea typeface="微软雅黑" panose="020B0503020204020204" charset="-122"/>
                    <a:cs typeface="Arial" panose="020B0604020202020204"/>
                  </a:rPr>
                  <a:t>每个点代表初始簇中心</a:t>
                </a:r>
                <a:endParaRPr lang="zh-CN" sz="900" dirty="0">
                  <a:solidFill>
                    <a:srgbClr val="7F8C8D"/>
                  </a:solidFill>
                  <a:latin typeface="Arial" panose="020B0604020202020204"/>
                  <a:ea typeface="微软雅黑" panose="020B0503020204020204" charset="-122"/>
                  <a:cs typeface="Arial" panose="020B0604020202020204"/>
                </a:endParaRPr>
              </a:p>
            </p:txBody>
          </p:sp>
        </p:grpSp>
        <p:grpSp>
          <p:nvGrpSpPr>
            <p:cNvPr id="21" name="Group 21"/>
            <p:cNvGrpSpPr/>
            <p:nvPr/>
          </p:nvGrpSpPr>
          <p:grpSpPr>
            <a:xfrm>
              <a:off x="3381375" y="1476375"/>
              <a:ext cx="2571750" cy="1238250"/>
              <a:chOff x="3381375" y="1476375"/>
              <a:chExt cx="2571750" cy="1238250"/>
            </a:xfrm>
          </p:grpSpPr>
          <p:sp>
            <p:nvSpPr>
              <p:cNvPr id="15" name="Rectangle 15"/>
              <p:cNvSpPr/>
              <p:nvPr/>
            </p:nvSpPr>
            <p:spPr>
              <a:xfrm>
                <a:off x="3381375" y="1476375"/>
                <a:ext cx="2571750" cy="1238250"/>
              </a:xfrm>
              <a:prstGeom prst="roundRect">
                <a:avLst>
                  <a:gd name="adj" fmla="val 6154"/>
                </a:avLst>
              </a:prstGeom>
              <a:solidFill>
                <a:srgbClr val="F5F7FA"/>
              </a:solidFill>
              <a:ln>
                <a:noFill/>
              </a:ln>
            </p:spPr>
          </p:sp>
          <p:sp>
            <p:nvSpPr>
              <p:cNvPr id="16" name="Rectangle 16"/>
              <p:cNvSpPr/>
              <p:nvPr/>
            </p:nvSpPr>
            <p:spPr>
              <a:xfrm>
                <a:off x="3381375" y="1476375"/>
                <a:ext cx="2571750" cy="38100"/>
              </a:xfrm>
              <a:prstGeom prst="roundRect">
                <a:avLst>
                  <a:gd name="adj" fmla="val 50000"/>
                </a:avLst>
              </a:prstGeom>
              <a:solidFill>
                <a:srgbClr val="2980B9"/>
              </a:solidFill>
              <a:ln>
                <a:noFill/>
              </a:ln>
            </p:spPr>
          </p:sp>
          <p:sp>
            <p:nvSpPr>
              <p:cNvPr id="17" name="Ellipse 17"/>
              <p:cNvSpPr/>
              <p:nvPr/>
            </p:nvSpPr>
            <p:spPr>
              <a:xfrm>
                <a:off x="4495800" y="1590675"/>
                <a:ext cx="342900" cy="342900"/>
              </a:xfrm>
              <a:prstGeom prst="ellipse">
                <a:avLst/>
              </a:prstGeom>
              <a:solidFill>
                <a:srgbClr val="2980B9"/>
              </a:solidFill>
              <a:ln>
                <a:noFill/>
              </a:ln>
            </p:spPr>
          </p:sp>
          <p:sp>
            <p:nvSpPr>
              <p:cNvPr id="18" name="TextBox 18"/>
              <p:cNvSpPr txBox="1"/>
              <p:nvPr/>
            </p:nvSpPr>
            <p:spPr>
              <a:xfrm>
                <a:off x="4613485" y="17059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2</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3558540" y="1982152"/>
                <a:ext cx="1006792"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panose="020B0604020202020204"/>
                    <a:ea typeface="微软雅黑" panose="020B0503020204020204" charset="-122"/>
                    <a:cs typeface="Arial" panose="020B0604020202020204"/>
                  </a:rPr>
                  <a:t>计算距离并分配</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3560445" y="2236470"/>
                <a:ext cx="122301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panose="020B0604020202020204"/>
                    <a:ea typeface="微软雅黑" panose="020B0503020204020204" charset="-122"/>
                    <a:cs typeface="Arial" panose="020B0604020202020204"/>
                  </a:rPr>
                  <a:t>把每个点赋给最近的簇</a:t>
                </a:r>
                <a:endParaRPr lang="zh-CN" sz="900" dirty="0">
                  <a:solidFill>
                    <a:srgbClr val="7F8C8D"/>
                  </a:solidFill>
                  <a:latin typeface="Arial" panose="020B0604020202020204"/>
                  <a:ea typeface="微软雅黑" panose="020B0503020204020204" charset="-122"/>
                  <a:cs typeface="Arial" panose="020B0604020202020204"/>
                </a:endParaRPr>
              </a:p>
            </p:txBody>
          </p:sp>
        </p:grpSp>
        <p:grpSp>
          <p:nvGrpSpPr>
            <p:cNvPr id="28" name="Group 28"/>
            <p:cNvGrpSpPr/>
            <p:nvPr/>
          </p:nvGrpSpPr>
          <p:grpSpPr>
            <a:xfrm>
              <a:off x="6191250" y="1476375"/>
              <a:ext cx="2571750" cy="1238250"/>
              <a:chOff x="6191250" y="1476375"/>
              <a:chExt cx="2571750" cy="1238250"/>
            </a:xfrm>
          </p:grpSpPr>
          <p:sp>
            <p:nvSpPr>
              <p:cNvPr id="22" name="Rectangle 22"/>
              <p:cNvSpPr/>
              <p:nvPr/>
            </p:nvSpPr>
            <p:spPr>
              <a:xfrm>
                <a:off x="6191250" y="1476375"/>
                <a:ext cx="2571750" cy="1238250"/>
              </a:xfrm>
              <a:prstGeom prst="roundRect">
                <a:avLst>
                  <a:gd name="adj" fmla="val 6154"/>
                </a:avLst>
              </a:prstGeom>
              <a:solidFill>
                <a:srgbClr val="F5F7FA"/>
              </a:solidFill>
              <a:ln>
                <a:noFill/>
              </a:ln>
            </p:spPr>
          </p:sp>
          <p:sp>
            <p:nvSpPr>
              <p:cNvPr id="23" name="Rectangle 23"/>
              <p:cNvSpPr/>
              <p:nvPr/>
            </p:nvSpPr>
            <p:spPr>
              <a:xfrm>
                <a:off x="6191250" y="1476375"/>
                <a:ext cx="2571750" cy="38100"/>
              </a:xfrm>
              <a:prstGeom prst="roundRect">
                <a:avLst>
                  <a:gd name="adj" fmla="val 50000"/>
                </a:avLst>
              </a:prstGeom>
              <a:solidFill>
                <a:srgbClr val="3498DB"/>
              </a:solidFill>
              <a:ln>
                <a:noFill/>
              </a:ln>
            </p:spPr>
          </p:sp>
          <p:sp>
            <p:nvSpPr>
              <p:cNvPr id="24" name="Ellipse 24"/>
              <p:cNvSpPr/>
              <p:nvPr/>
            </p:nvSpPr>
            <p:spPr>
              <a:xfrm>
                <a:off x="7305675" y="1590675"/>
                <a:ext cx="342900" cy="342900"/>
              </a:xfrm>
              <a:prstGeom prst="ellipse">
                <a:avLst/>
              </a:prstGeom>
              <a:solidFill>
                <a:srgbClr val="3498DB"/>
              </a:solidFill>
              <a:ln>
                <a:noFill/>
              </a:ln>
            </p:spPr>
          </p:sp>
          <p:sp>
            <p:nvSpPr>
              <p:cNvPr id="25" name="TextBox 25"/>
              <p:cNvSpPr txBox="1"/>
              <p:nvPr/>
            </p:nvSpPr>
            <p:spPr>
              <a:xfrm>
                <a:off x="7423360" y="17059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3</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6368415" y="1982152"/>
                <a:ext cx="866775"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panose="020B0604020202020204"/>
                    <a:ea typeface="微软雅黑" panose="020B0503020204020204" charset="-122"/>
                    <a:cs typeface="Arial" panose="020B0604020202020204"/>
                  </a:rPr>
                  <a:t>更新聚类中心</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27" name="TextBox 27"/>
              <p:cNvSpPr txBox="1"/>
              <p:nvPr/>
            </p:nvSpPr>
            <p:spPr>
              <a:xfrm>
                <a:off x="6370320" y="2236470"/>
                <a:ext cx="1343025"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panose="020B0604020202020204"/>
                    <a:ea typeface="微软雅黑" panose="020B0503020204020204" charset="-122"/>
                    <a:cs typeface="Arial" panose="020B0604020202020204"/>
                  </a:rPr>
                  <a:t>重新计算每一簇的平均值</a:t>
                </a:r>
                <a:endParaRPr lang="zh-CN" sz="900" dirty="0">
                  <a:solidFill>
                    <a:srgbClr val="7F8C8D"/>
                  </a:solidFill>
                  <a:latin typeface="Arial" panose="020B0604020202020204"/>
                  <a:ea typeface="微软雅黑" panose="020B0503020204020204" charset="-122"/>
                  <a:cs typeface="Arial" panose="020B0604020202020204"/>
                </a:endParaRPr>
              </a:p>
            </p:txBody>
          </p:sp>
        </p:grpSp>
        <p:grpSp>
          <p:nvGrpSpPr>
            <p:cNvPr id="35" name="Group 35"/>
            <p:cNvGrpSpPr/>
            <p:nvPr/>
          </p:nvGrpSpPr>
          <p:grpSpPr>
            <a:xfrm>
              <a:off x="9001125" y="1476375"/>
              <a:ext cx="2619375" cy="1238250"/>
              <a:chOff x="9001125" y="1476375"/>
              <a:chExt cx="2619375" cy="1238250"/>
            </a:xfrm>
          </p:grpSpPr>
          <p:sp>
            <p:nvSpPr>
              <p:cNvPr id="29" name="Rectangle 29"/>
              <p:cNvSpPr/>
              <p:nvPr/>
            </p:nvSpPr>
            <p:spPr>
              <a:xfrm>
                <a:off x="9001125" y="1476375"/>
                <a:ext cx="2619375" cy="1238250"/>
              </a:xfrm>
              <a:prstGeom prst="roundRect">
                <a:avLst>
                  <a:gd name="adj" fmla="val 6154"/>
                </a:avLst>
              </a:prstGeom>
              <a:solidFill>
                <a:srgbClr val="F5F7FA"/>
              </a:solidFill>
              <a:ln>
                <a:noFill/>
              </a:ln>
            </p:spPr>
          </p:sp>
          <p:sp>
            <p:nvSpPr>
              <p:cNvPr id="30" name="Rectangle 30"/>
              <p:cNvSpPr/>
              <p:nvPr/>
            </p:nvSpPr>
            <p:spPr>
              <a:xfrm>
                <a:off x="9001125" y="1476375"/>
                <a:ext cx="2619375" cy="38100"/>
              </a:xfrm>
              <a:prstGeom prst="roundRect">
                <a:avLst>
                  <a:gd name="adj" fmla="val 50000"/>
                </a:avLst>
              </a:prstGeom>
              <a:solidFill>
                <a:srgbClr val="E74C3C"/>
              </a:solidFill>
              <a:ln>
                <a:noFill/>
              </a:ln>
            </p:spPr>
          </p:sp>
          <p:sp>
            <p:nvSpPr>
              <p:cNvPr id="31" name="Ellipse 31"/>
              <p:cNvSpPr/>
              <p:nvPr/>
            </p:nvSpPr>
            <p:spPr>
              <a:xfrm>
                <a:off x="10134600" y="1590675"/>
                <a:ext cx="342900" cy="342900"/>
              </a:xfrm>
              <a:prstGeom prst="ellipse">
                <a:avLst/>
              </a:prstGeom>
              <a:solidFill>
                <a:srgbClr val="E74C3C"/>
              </a:solidFill>
              <a:ln>
                <a:noFill/>
              </a:ln>
            </p:spPr>
          </p:sp>
          <p:sp>
            <p:nvSpPr>
              <p:cNvPr id="32" name="TextBox 32"/>
              <p:cNvSpPr txBox="1"/>
              <p:nvPr/>
            </p:nvSpPr>
            <p:spPr>
              <a:xfrm>
                <a:off x="10252285" y="17059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4</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9178290" y="1982152"/>
                <a:ext cx="866775"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panose="020B0604020202020204"/>
                    <a:ea typeface="微软雅黑" panose="020B0503020204020204" charset="-122"/>
                    <a:cs typeface="Arial" panose="020B0604020202020204"/>
                  </a:rPr>
                  <a:t>迭代直到收敛</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9180195" y="2236470"/>
                <a:ext cx="98298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panose="020B0604020202020204"/>
                    <a:ea typeface="微软雅黑" panose="020B0503020204020204" charset="-122"/>
                    <a:cs typeface="Arial" panose="020B0604020202020204"/>
                  </a:rPr>
                  <a:t>点的归属不再变化</a:t>
                </a:r>
                <a:endParaRPr lang="zh-CN" sz="900" dirty="0">
                  <a:solidFill>
                    <a:srgbClr val="7F8C8D"/>
                  </a:solidFill>
                  <a:latin typeface="Arial" panose="020B0604020202020204"/>
                  <a:ea typeface="微软雅黑" panose="020B0503020204020204" charset="-122"/>
                  <a:cs typeface="Arial" panose="020B0604020202020204"/>
                </a:endParaRPr>
              </a:p>
            </p:txBody>
          </p:sp>
        </p:grpSp>
      </p:grpSp>
      <p:grpSp>
        <p:nvGrpSpPr>
          <p:cNvPr id="41" name="Group 41"/>
          <p:cNvGrpSpPr/>
          <p:nvPr/>
        </p:nvGrpSpPr>
        <p:grpSpPr>
          <a:xfrm>
            <a:off x="571500" y="2952750"/>
            <a:ext cx="11049000" cy="733425"/>
            <a:chOff x="571500" y="2952750"/>
            <a:chExt cx="11049000" cy="733425"/>
          </a:xfrm>
        </p:grpSpPr>
        <p:sp>
          <p:nvSpPr>
            <p:cNvPr id="37" name="Rectangle 37"/>
            <p:cNvSpPr/>
            <p:nvPr/>
          </p:nvSpPr>
          <p:spPr>
            <a:xfrm>
              <a:off x="571500" y="2952750"/>
              <a:ext cx="11049000" cy="666750"/>
            </a:xfrm>
            <a:prstGeom prst="roundRect">
              <a:avLst>
                <a:gd name="adj" fmla="val 11429"/>
              </a:avLst>
            </a:prstGeom>
            <a:solidFill>
              <a:srgbClr val="F5F7FA"/>
            </a:solidFill>
            <a:ln>
              <a:noFill/>
            </a:ln>
          </p:spPr>
        </p:sp>
        <p:sp>
          <p:nvSpPr>
            <p:cNvPr id="38" name="TextBox 38"/>
            <p:cNvSpPr txBox="1"/>
            <p:nvPr/>
          </p:nvSpPr>
          <p:spPr>
            <a:xfrm>
              <a:off x="748665" y="3106102"/>
              <a:ext cx="1129308" cy="213360"/>
            </a:xfrm>
            <a:prstGeom prst="rect">
              <a:avLst/>
            </a:prstGeom>
            <a:noFill/>
            <a:ln>
              <a:noFill/>
            </a:ln>
          </p:spPr>
          <p:txBody>
            <a:bodyPr wrap="none" lIns="0" tIns="0" rIns="0" bIns="0" anchor="t" anchorCtr="0">
              <a:spAutoFit/>
            </a:bodyPr>
            <a:lstStyle/>
            <a:p>
              <a:pPr algn="l"/>
              <a:r>
                <a:rPr lang="zh-CN" sz="1050" b="1" dirty="0">
                  <a:solidFill>
                    <a:srgbClr val="1A5276"/>
                  </a:solidFill>
                  <a:latin typeface="Arial" panose="020B0604020202020204"/>
                  <a:ea typeface="微软雅黑" panose="020B0503020204020204" charset="-122"/>
                  <a:cs typeface="Arial" panose="020B0604020202020204"/>
                </a:rPr>
                <a:t>MATLAB调用方式</a:t>
              </a:r>
              <a:endParaRPr lang="zh-CN" sz="1050" b="1" dirty="0">
                <a:solidFill>
                  <a:srgbClr val="1A5276"/>
                </a:solidFill>
                <a:latin typeface="Arial" panose="020B0604020202020204"/>
                <a:ea typeface="微软雅黑" panose="020B0503020204020204" charset="-122"/>
                <a:cs typeface="Arial" panose="020B0604020202020204"/>
              </a:endParaRPr>
            </a:p>
          </p:txBody>
        </p:sp>
        <p:sp>
          <p:nvSpPr>
            <p:cNvPr id="39" name="TextBox 39"/>
            <p:cNvSpPr txBox="1"/>
            <p:nvPr/>
          </p:nvSpPr>
          <p:spPr>
            <a:xfrm>
              <a:off x="749618" y="3342799"/>
              <a:ext cx="4880872" cy="198120"/>
            </a:xfrm>
            <a:prstGeom prst="rect">
              <a:avLst/>
            </a:prstGeom>
            <a:noFill/>
            <a:ln>
              <a:noFill/>
            </a:ln>
          </p:spPr>
          <p:txBody>
            <a:bodyPr wrap="none" lIns="0" tIns="0" rIns="0" bIns="0" anchor="t" anchorCtr="0">
              <a:spAutoFit/>
            </a:bodyPr>
            <a:lstStyle/>
            <a:p>
              <a:pPr algn="l"/>
              <a:r>
                <a:rPr lang="zh-CN" sz="975" dirty="0">
                  <a:solidFill>
                    <a:srgbClr val="2C3E50"/>
                  </a:solidFill>
                  <a:latin typeface="Consolas" panose="020B0609020204030204"/>
                  <a:ea typeface="微软雅黑" panose="020B0503020204020204" charset="-122"/>
                  <a:cs typeface="Consolas" panose="020B0609020204030204"/>
                </a:rPr>
                <a:t>Idx = kmeans(X, K) | [Idx, C, sumD, D] = kmeans(X, K, 'distance', 'cosine')</a:t>
              </a:r>
              <a:endParaRPr lang="zh-CN" sz="975" dirty="0">
                <a:solidFill>
                  <a:srgbClr val="2C3E50"/>
                </a:solidFill>
                <a:latin typeface="Consolas" panose="020B0609020204030204"/>
                <a:ea typeface="微软雅黑" panose="020B0503020204020204" charset="-122"/>
                <a:cs typeface="Consolas" panose="020B0609020204030204"/>
              </a:endParaRPr>
            </a:p>
          </p:txBody>
        </p:sp>
        <p:sp>
          <p:nvSpPr>
            <p:cNvPr id="40" name="TextBox 40"/>
            <p:cNvSpPr txBox="1"/>
            <p:nvPr/>
          </p:nvSpPr>
          <p:spPr>
            <a:xfrm>
              <a:off x="750570" y="3503295"/>
              <a:ext cx="3371278"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panose="020B0604020202020204"/>
                  <a:ea typeface="微软雅黑" panose="020B0503020204020204" charset="-122"/>
                  <a:cs typeface="Arial" panose="020B0604020202020204"/>
                </a:rPr>
                <a:t>输出：Idx类目号、C质心坐标、sumD类内距、D点到质心的距离</a:t>
              </a:r>
              <a:endParaRPr lang="zh-CN" sz="900" dirty="0">
                <a:solidFill>
                  <a:srgbClr val="7F8C8D"/>
                </a:solidFill>
                <a:latin typeface="Arial" panose="020B0604020202020204"/>
                <a:ea typeface="微软雅黑" panose="020B0503020204020204" charset="-122"/>
                <a:cs typeface="Arial" panose="020B0604020202020204"/>
              </a:endParaRPr>
            </a:p>
          </p:txBody>
        </p:sp>
      </p:grpSp>
      <p:grpSp>
        <p:nvGrpSpPr>
          <p:cNvPr id="63" name="Group 63"/>
          <p:cNvGrpSpPr/>
          <p:nvPr/>
        </p:nvGrpSpPr>
        <p:grpSpPr>
          <a:xfrm>
            <a:off x="571500" y="3759518"/>
            <a:ext cx="11049000" cy="1336357"/>
            <a:chOff x="571500" y="3759518"/>
            <a:chExt cx="11049000" cy="1336357"/>
          </a:xfrm>
        </p:grpSpPr>
        <p:sp>
          <p:nvSpPr>
            <p:cNvPr id="42" name="TextBox 42"/>
            <p:cNvSpPr txBox="1"/>
            <p:nvPr/>
          </p:nvSpPr>
          <p:spPr>
            <a:xfrm>
              <a:off x="744855" y="3759518"/>
              <a:ext cx="2312025"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panose="020B0604020202020204"/>
                  <a:ea typeface="微软雅黑" panose="020B0503020204020204" charset="-122"/>
                  <a:cs typeface="Arial" panose="020B0604020202020204"/>
                </a:rPr>
                <a:t>K-means算法特点（重要）</a:t>
              </a:r>
              <a:endParaRPr lang="zh-CN" sz="1350" b="1" dirty="0">
                <a:solidFill>
                  <a:srgbClr val="1A5276"/>
                </a:solidFill>
                <a:latin typeface="Arial" panose="020B0604020202020204"/>
                <a:ea typeface="微软雅黑" panose="020B0503020204020204" charset="-122"/>
                <a:cs typeface="Arial" panose="020B0604020202020204"/>
              </a:endParaRPr>
            </a:p>
          </p:txBody>
        </p:sp>
        <p:grpSp>
          <p:nvGrpSpPr>
            <p:cNvPr id="51" name="Group 51"/>
            <p:cNvGrpSpPr/>
            <p:nvPr/>
          </p:nvGrpSpPr>
          <p:grpSpPr>
            <a:xfrm>
              <a:off x="571500" y="4143375"/>
              <a:ext cx="5334000" cy="952500"/>
              <a:chOff x="571500" y="4143375"/>
              <a:chExt cx="5334000" cy="952500"/>
            </a:xfrm>
          </p:grpSpPr>
          <p:sp>
            <p:nvSpPr>
              <p:cNvPr id="43" name="Rectangle 43"/>
              <p:cNvSpPr/>
              <p:nvPr/>
            </p:nvSpPr>
            <p:spPr>
              <a:xfrm>
                <a:off x="571500" y="4143375"/>
                <a:ext cx="5334000" cy="952500"/>
              </a:xfrm>
              <a:prstGeom prst="roundRect">
                <a:avLst>
                  <a:gd name="adj" fmla="val 8000"/>
                </a:avLst>
              </a:prstGeom>
              <a:solidFill>
                <a:srgbClr val="F5F7FA"/>
              </a:solidFill>
              <a:ln>
                <a:noFill/>
              </a:ln>
            </p:spPr>
          </p:sp>
          <p:sp>
            <p:nvSpPr>
              <p:cNvPr id="44" name="Rectangle 44"/>
              <p:cNvSpPr/>
              <p:nvPr/>
            </p:nvSpPr>
            <p:spPr>
              <a:xfrm>
                <a:off x="571500" y="4143375"/>
                <a:ext cx="5334000" cy="38100"/>
              </a:xfrm>
              <a:prstGeom prst="roundRect">
                <a:avLst>
                  <a:gd name="adj" fmla="val 50000"/>
                </a:avLst>
              </a:prstGeom>
              <a:solidFill>
                <a:srgbClr val="1A5276"/>
              </a:solidFill>
              <a:ln>
                <a:noFill/>
              </a:ln>
            </p:spPr>
          </p:sp>
          <p:sp>
            <p:nvSpPr>
              <p:cNvPr id="45" name="Freeform 45"/>
              <p:cNvSpPr/>
              <p:nvPr/>
            </p:nvSpPr>
            <p:spPr>
              <a:xfrm>
                <a:off x="793750" y="4406900"/>
                <a:ext cx="95250" cy="63500"/>
              </a:xfrm>
              <a:custGeom>
                <a:avLst/>
                <a:gdLst/>
                <a:ahLst/>
                <a:cxnLst/>
                <a:rect l="l" t="t" r="r" b="b"/>
                <a:pathLst>
                  <a:path w="95250" h="63500">
                    <a:moveTo>
                      <a:pt x="0" y="31750"/>
                    </a:moveTo>
                    <a:lnTo>
                      <a:pt x="31750" y="63500"/>
                    </a:lnTo>
                    <a:lnTo>
                      <a:pt x="95250" y="0"/>
                    </a:lnTo>
                  </a:path>
                </a:pathLst>
              </a:custGeom>
              <a:noFill/>
              <a:ln w="19050">
                <a:solidFill>
                  <a:srgbClr val="1A5276"/>
                </a:solidFill>
              </a:ln>
            </p:spPr>
          </p:sp>
          <p:sp>
            <p:nvSpPr>
              <p:cNvPr id="46" name="TextBox 46"/>
              <p:cNvSpPr txBox="1"/>
              <p:nvPr/>
            </p:nvSpPr>
            <p:spPr>
              <a:xfrm>
                <a:off x="987742" y="4400074"/>
                <a:ext cx="1656469"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K值事先给定，难以精确估计</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47" name="Freeform 47"/>
              <p:cNvSpPr/>
              <p:nvPr/>
            </p:nvSpPr>
            <p:spPr>
              <a:xfrm>
                <a:off x="793750" y="4692650"/>
                <a:ext cx="95250" cy="63500"/>
              </a:xfrm>
              <a:custGeom>
                <a:avLst/>
                <a:gdLst/>
                <a:ahLst/>
                <a:cxnLst/>
                <a:rect l="l" t="t" r="r" b="b"/>
                <a:pathLst>
                  <a:path w="95250" h="63500">
                    <a:moveTo>
                      <a:pt x="0" y="31750"/>
                    </a:moveTo>
                    <a:lnTo>
                      <a:pt x="31750" y="63500"/>
                    </a:lnTo>
                    <a:lnTo>
                      <a:pt x="95250" y="0"/>
                    </a:lnTo>
                  </a:path>
                </a:pathLst>
              </a:custGeom>
              <a:noFill/>
              <a:ln w="19050">
                <a:solidFill>
                  <a:srgbClr val="1A5276"/>
                </a:solidFill>
              </a:ln>
            </p:spPr>
          </p:sp>
          <p:sp>
            <p:nvSpPr>
              <p:cNvPr id="48" name="TextBox 48"/>
              <p:cNvSpPr txBox="1"/>
              <p:nvPr/>
            </p:nvSpPr>
            <p:spPr>
              <a:xfrm>
                <a:off x="987742" y="4685824"/>
                <a:ext cx="2365058"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结果不稳定：不同初始中心产生不同结果</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49" name="Freeform 49"/>
              <p:cNvSpPr/>
              <p:nvPr/>
            </p:nvSpPr>
            <p:spPr>
              <a:xfrm>
                <a:off x="793750" y="4978400"/>
                <a:ext cx="95250" cy="63500"/>
              </a:xfrm>
              <a:custGeom>
                <a:avLst/>
                <a:gdLst/>
                <a:ahLst/>
                <a:cxnLst/>
                <a:rect l="l" t="t" r="r" b="b"/>
                <a:pathLst>
                  <a:path w="95250" h="63500">
                    <a:moveTo>
                      <a:pt x="0" y="31750"/>
                    </a:moveTo>
                    <a:lnTo>
                      <a:pt x="31750" y="63500"/>
                    </a:lnTo>
                    <a:lnTo>
                      <a:pt x="95250" y="0"/>
                    </a:lnTo>
                  </a:path>
                </a:pathLst>
              </a:custGeom>
              <a:noFill/>
              <a:ln w="19050">
                <a:solidFill>
                  <a:srgbClr val="1A5276"/>
                </a:solidFill>
              </a:ln>
            </p:spPr>
          </p:sp>
          <p:sp>
            <p:nvSpPr>
              <p:cNvPr id="50" name="TextBox 50"/>
              <p:cNvSpPr txBox="1"/>
              <p:nvPr/>
            </p:nvSpPr>
            <p:spPr>
              <a:xfrm>
                <a:off x="987742" y="4876324"/>
                <a:ext cx="2625090"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数据量大时计算时间长，但简洁有效仍是首选</a:t>
                </a:r>
                <a:endParaRPr lang="zh-CN" sz="975" dirty="0">
                  <a:solidFill>
                    <a:srgbClr val="2C3E50"/>
                  </a:solidFill>
                  <a:latin typeface="Arial" panose="020B0604020202020204"/>
                  <a:ea typeface="微软雅黑" panose="020B0503020204020204" charset="-122"/>
                  <a:cs typeface="Arial" panose="020B0604020202020204"/>
                </a:endParaRPr>
              </a:p>
            </p:txBody>
          </p:sp>
        </p:grpSp>
        <p:grpSp>
          <p:nvGrpSpPr>
            <p:cNvPr id="62" name="Group 62"/>
            <p:cNvGrpSpPr/>
            <p:nvPr/>
          </p:nvGrpSpPr>
          <p:grpSpPr>
            <a:xfrm>
              <a:off x="6286500" y="4143375"/>
              <a:ext cx="5334000" cy="952500"/>
              <a:chOff x="6286500" y="4143375"/>
              <a:chExt cx="5334000" cy="952500"/>
            </a:xfrm>
          </p:grpSpPr>
          <p:sp>
            <p:nvSpPr>
              <p:cNvPr id="52" name="Rectangle 52"/>
              <p:cNvSpPr/>
              <p:nvPr/>
            </p:nvSpPr>
            <p:spPr>
              <a:xfrm>
                <a:off x="6286500" y="4143375"/>
                <a:ext cx="5334000" cy="952500"/>
              </a:xfrm>
              <a:prstGeom prst="roundRect">
                <a:avLst>
                  <a:gd name="adj" fmla="val 8000"/>
                </a:avLst>
              </a:prstGeom>
              <a:solidFill>
                <a:srgbClr val="F5F7FA"/>
              </a:solidFill>
              <a:ln>
                <a:noFill/>
              </a:ln>
            </p:spPr>
          </p:sp>
          <p:sp>
            <p:nvSpPr>
              <p:cNvPr id="53" name="Rectangle 53"/>
              <p:cNvSpPr/>
              <p:nvPr/>
            </p:nvSpPr>
            <p:spPr>
              <a:xfrm>
                <a:off x="6286500" y="4143375"/>
                <a:ext cx="5334000" cy="38100"/>
              </a:xfrm>
              <a:prstGeom prst="roundRect">
                <a:avLst>
                  <a:gd name="adj" fmla="val 50000"/>
                </a:avLst>
              </a:prstGeom>
              <a:solidFill>
                <a:srgbClr val="E74C3C"/>
              </a:solidFill>
              <a:ln>
                <a:noFill/>
              </a:ln>
            </p:spPr>
          </p:sp>
          <p:grpSp>
            <p:nvGrpSpPr>
              <p:cNvPr id="56" name="Group 56"/>
              <p:cNvGrpSpPr/>
              <p:nvPr/>
            </p:nvGrpSpPr>
            <p:grpSpPr>
              <a:xfrm>
                <a:off x="6515100" y="4400550"/>
                <a:ext cx="76200" cy="76200"/>
                <a:chOff x="6515100" y="4400550"/>
                <a:chExt cx="76200" cy="76200"/>
              </a:xfrm>
            </p:grpSpPr>
            <p:sp>
              <p:nvSpPr>
                <p:cNvPr id="54" name="Freeform 54"/>
                <p:cNvSpPr/>
                <p:nvPr/>
              </p:nvSpPr>
              <p:spPr>
                <a:xfrm>
                  <a:off x="6515100" y="4400550"/>
                  <a:ext cx="76200" cy="76200"/>
                </a:xfrm>
                <a:custGeom>
                  <a:avLst/>
                  <a:gdLst/>
                  <a:ahLst/>
                  <a:cxnLst/>
                  <a:rect l="l" t="t" r="r" b="b"/>
                  <a:pathLst>
                    <a:path w="76200" h="76200">
                      <a:moveTo>
                        <a:pt x="76200" y="0"/>
                      </a:moveTo>
                      <a:lnTo>
                        <a:pt x="0" y="76200"/>
                      </a:lnTo>
                    </a:path>
                  </a:pathLst>
                </a:custGeom>
                <a:noFill/>
                <a:ln w="19050">
                  <a:solidFill>
                    <a:srgbClr val="E74C3C"/>
                  </a:solidFill>
                </a:ln>
              </p:spPr>
            </p:sp>
            <p:sp>
              <p:nvSpPr>
                <p:cNvPr id="55" name="Freeform 55"/>
                <p:cNvSpPr/>
                <p:nvPr/>
              </p:nvSpPr>
              <p:spPr>
                <a:xfrm>
                  <a:off x="6515100" y="4400550"/>
                  <a:ext cx="76200" cy="76200"/>
                </a:xfrm>
                <a:custGeom>
                  <a:avLst/>
                  <a:gdLst/>
                  <a:ahLst/>
                  <a:cxnLst/>
                  <a:rect l="l" t="t" r="r" b="b"/>
                  <a:pathLst>
                    <a:path w="76200" h="76200">
                      <a:moveTo>
                        <a:pt x="0" y="0"/>
                      </a:moveTo>
                      <a:lnTo>
                        <a:pt x="76200" y="76200"/>
                      </a:lnTo>
                    </a:path>
                  </a:pathLst>
                </a:custGeom>
                <a:noFill/>
                <a:ln w="19050">
                  <a:solidFill>
                    <a:srgbClr val="E74C3C"/>
                  </a:solidFill>
                </a:ln>
              </p:spPr>
            </p:sp>
          </p:grpSp>
          <p:sp>
            <p:nvSpPr>
              <p:cNvPr id="57" name="TextBox 57"/>
              <p:cNvSpPr txBox="1"/>
              <p:nvPr/>
            </p:nvSpPr>
            <p:spPr>
              <a:xfrm>
                <a:off x="6702742" y="4400074"/>
                <a:ext cx="1396436"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对离散点和初始K值敏感</a:t>
                </a:r>
                <a:endParaRPr lang="zh-CN" sz="975" dirty="0">
                  <a:solidFill>
                    <a:srgbClr val="2C3E50"/>
                  </a:solidFill>
                  <a:latin typeface="Arial" panose="020B0604020202020204"/>
                  <a:ea typeface="微软雅黑" panose="020B0503020204020204" charset="-122"/>
                  <a:cs typeface="Arial" panose="020B0604020202020204"/>
                </a:endParaRPr>
              </a:p>
            </p:txBody>
          </p:sp>
          <p:grpSp>
            <p:nvGrpSpPr>
              <p:cNvPr id="60" name="Group 60"/>
              <p:cNvGrpSpPr/>
              <p:nvPr/>
            </p:nvGrpSpPr>
            <p:grpSpPr>
              <a:xfrm>
                <a:off x="6515100" y="4686300"/>
                <a:ext cx="76200" cy="76200"/>
                <a:chOff x="6515100" y="4686300"/>
                <a:chExt cx="76200" cy="76200"/>
              </a:xfrm>
            </p:grpSpPr>
            <p:sp>
              <p:nvSpPr>
                <p:cNvPr id="58" name="Freeform 58"/>
                <p:cNvSpPr/>
                <p:nvPr/>
              </p:nvSpPr>
              <p:spPr>
                <a:xfrm>
                  <a:off x="6515100" y="4686300"/>
                  <a:ext cx="76200" cy="76200"/>
                </a:xfrm>
                <a:custGeom>
                  <a:avLst/>
                  <a:gdLst/>
                  <a:ahLst/>
                  <a:cxnLst/>
                  <a:rect l="l" t="t" r="r" b="b"/>
                  <a:pathLst>
                    <a:path w="76200" h="76200">
                      <a:moveTo>
                        <a:pt x="76200" y="0"/>
                      </a:moveTo>
                      <a:lnTo>
                        <a:pt x="0" y="76200"/>
                      </a:lnTo>
                    </a:path>
                  </a:pathLst>
                </a:custGeom>
                <a:noFill/>
                <a:ln w="19050">
                  <a:solidFill>
                    <a:srgbClr val="E74C3C"/>
                  </a:solidFill>
                </a:ln>
              </p:spPr>
            </p:sp>
            <p:sp>
              <p:nvSpPr>
                <p:cNvPr id="59" name="Freeform 59"/>
                <p:cNvSpPr/>
                <p:nvPr/>
              </p:nvSpPr>
              <p:spPr>
                <a:xfrm>
                  <a:off x="6515100" y="4686300"/>
                  <a:ext cx="76200" cy="76200"/>
                </a:xfrm>
                <a:custGeom>
                  <a:avLst/>
                  <a:gdLst/>
                  <a:ahLst/>
                  <a:cxnLst/>
                  <a:rect l="l" t="t" r="r" b="b"/>
                  <a:pathLst>
                    <a:path w="76200" h="76200">
                      <a:moveTo>
                        <a:pt x="0" y="0"/>
                      </a:moveTo>
                      <a:lnTo>
                        <a:pt x="76200" y="76200"/>
                      </a:lnTo>
                    </a:path>
                  </a:pathLst>
                </a:custGeom>
                <a:noFill/>
                <a:ln w="19050">
                  <a:solidFill>
                    <a:srgbClr val="E74C3C"/>
                  </a:solidFill>
                </a:ln>
              </p:spPr>
            </p:sp>
          </p:grpSp>
          <p:sp>
            <p:nvSpPr>
              <p:cNvPr id="61" name="TextBox 61"/>
              <p:cNvSpPr txBox="1"/>
              <p:nvPr/>
            </p:nvSpPr>
            <p:spPr>
              <a:xfrm>
                <a:off x="6702742" y="4685824"/>
                <a:ext cx="2495074"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无法做到将一个点分到不同类别（无交叉）</a:t>
                </a:r>
                <a:endParaRPr lang="zh-CN" sz="975" dirty="0">
                  <a:solidFill>
                    <a:srgbClr val="2C3E50"/>
                  </a:solidFill>
                  <a:latin typeface="Arial" panose="020B0604020202020204"/>
                  <a:ea typeface="微软雅黑" panose="020B0503020204020204" charset="-122"/>
                  <a:cs typeface="Arial" panose="020B0604020202020204"/>
                </a:endParaRPr>
              </a:p>
            </p:txBody>
          </p:sp>
        </p:grpSp>
      </p:grpSp>
      <p:sp>
        <p:nvSpPr>
          <p:cNvPr id="64" name="TextBox 64"/>
          <p:cNvSpPr txBox="1"/>
          <p:nvPr/>
        </p:nvSpPr>
        <p:spPr>
          <a:xfrm>
            <a:off x="6018562" y="6570345"/>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04</a:t>
            </a:r>
            <a:endParaRPr lang="zh-CN" sz="900"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image">
                                      <p:cBhvr>
                                        <p:cTn id="7" dur="400"/>
                                        <p:tgtEl>
                                          <p:spTgt spid="3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400"/>
                                        <p:tgtEl>
                                          <p:spTgt spid="41"/>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wipe(left)">
                                      <p:cBhvr>
                                        <p:cTn id="15"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6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381000"/>
            <a:ext cx="11049000" cy="581025"/>
            <a:chOff x="571500" y="381000"/>
            <a:chExt cx="11049000" cy="581025"/>
          </a:xfrm>
        </p:grpSpPr>
        <p:sp>
          <p:nvSpPr>
            <p:cNvPr id="3" name="Rectangle 3"/>
            <p:cNvSpPr/>
            <p:nvPr/>
          </p:nvSpPr>
          <p:spPr>
            <a:xfrm>
              <a:off x="571500" y="381000"/>
              <a:ext cx="38100" cy="304800"/>
            </a:xfrm>
            <a:prstGeom prst="roundRect">
              <a:avLst>
                <a:gd name="adj" fmla="val 50000"/>
              </a:avLst>
            </a:prstGeom>
            <a:gradFill>
              <a:gsLst>
                <a:gs pos="0">
                  <a:srgbClr val="1A5276"/>
                </a:gs>
                <a:gs pos="100000">
                  <a:srgbClr val="3498DB"/>
                </a:gs>
              </a:gsLst>
              <a:lin ang="0" scaled="1"/>
            </a:gradFill>
            <a:ln>
              <a:noFill/>
            </a:ln>
          </p:spPr>
        </p:sp>
        <p:sp>
          <p:nvSpPr>
            <p:cNvPr id="4" name="TextBox 4"/>
            <p:cNvSpPr txBox="1"/>
            <p:nvPr/>
          </p:nvSpPr>
          <p:spPr>
            <a:xfrm>
              <a:off x="737235" y="399098"/>
              <a:ext cx="2370320" cy="396240"/>
            </a:xfrm>
            <a:prstGeom prst="rect">
              <a:avLst/>
            </a:prstGeom>
            <a:noFill/>
            <a:ln>
              <a:noFill/>
            </a:ln>
          </p:spPr>
          <p:txBody>
            <a:bodyPr wrap="none" lIns="0" tIns="0" rIns="0" bIns="0" anchor="t" anchorCtr="0">
              <a:spAutoFit/>
            </a:bodyPr>
            <a:lstStyle/>
            <a:p>
              <a:pPr algn="l"/>
              <a:r>
                <a:rPr lang="zh-CN" sz="1950" b="1" dirty="0">
                  <a:solidFill>
                    <a:srgbClr val="2C3E50"/>
                  </a:solidFill>
                  <a:latin typeface="Arial" panose="020B0604020202020204"/>
                  <a:ea typeface="微软雅黑" panose="020B0503020204020204" charset="-122"/>
                  <a:cs typeface="Arial" panose="020B0604020202020204"/>
                </a:rPr>
                <a:t>层次聚类（Jp198）</a:t>
              </a:r>
              <a:endParaRPr lang="zh-CN" sz="1950" b="1" dirty="0">
                <a:solidFill>
                  <a:srgbClr val="2C3E50"/>
                </a:solidFill>
                <a:latin typeface="Arial" panose="020B0604020202020204"/>
                <a:ea typeface="微软雅黑" panose="020B0503020204020204" charset="-122"/>
                <a:cs typeface="Arial" panose="020B0604020202020204"/>
              </a:endParaRPr>
            </a:p>
          </p:txBody>
        </p:sp>
        <p:sp>
          <p:nvSpPr>
            <p:cNvPr id="5" name="Line 5"/>
            <p:cNvSpPr/>
            <p:nvPr/>
          </p:nvSpPr>
          <p:spPr>
            <a:xfrm>
              <a:off x="571500" y="952500"/>
              <a:ext cx="11049000" cy="9525"/>
            </a:xfrm>
            <a:custGeom>
              <a:avLst/>
              <a:gdLst/>
              <a:ahLst/>
              <a:cxnLst/>
              <a:rect l="l" t="t" r="r" b="b"/>
              <a:pathLst>
                <a:path w="11049000" h="9525">
                  <a:moveTo>
                    <a:pt x="0" y="0"/>
                  </a:moveTo>
                  <a:lnTo>
                    <a:pt x="11049000" y="0"/>
                  </a:lnTo>
                </a:path>
              </a:pathLst>
            </a:custGeom>
            <a:noFill/>
            <a:ln w="9525">
              <a:solidFill>
                <a:srgbClr val="D5D8DC"/>
              </a:solidFill>
            </a:ln>
          </p:spPr>
        </p:sp>
      </p:grpSp>
      <p:grpSp>
        <p:nvGrpSpPr>
          <p:cNvPr id="10" name="Group 10"/>
          <p:cNvGrpSpPr/>
          <p:nvPr/>
        </p:nvGrpSpPr>
        <p:grpSpPr>
          <a:xfrm>
            <a:off x="571500" y="1143000"/>
            <a:ext cx="11049000" cy="571500"/>
            <a:chOff x="571500" y="1143000"/>
            <a:chExt cx="11049000" cy="571500"/>
          </a:xfrm>
        </p:grpSpPr>
        <p:sp>
          <p:nvSpPr>
            <p:cNvPr id="7" name="Rectangle 7"/>
            <p:cNvSpPr/>
            <p:nvPr/>
          </p:nvSpPr>
          <p:spPr>
            <a:xfrm>
              <a:off x="571500" y="1143000"/>
              <a:ext cx="11049000" cy="571500"/>
            </a:xfrm>
            <a:prstGeom prst="roundRect">
              <a:avLst>
                <a:gd name="adj" fmla="val 13333"/>
              </a:avLst>
            </a:prstGeom>
            <a:solidFill>
              <a:srgbClr val="F5F7FA"/>
            </a:solidFill>
            <a:ln>
              <a:noFill/>
            </a:ln>
          </p:spPr>
        </p:sp>
        <p:sp>
          <p:nvSpPr>
            <p:cNvPr id="8" name="TextBox 8"/>
            <p:cNvSpPr txBox="1"/>
            <p:nvPr/>
          </p:nvSpPr>
          <p:spPr>
            <a:xfrm>
              <a:off x="748665" y="1296352"/>
              <a:ext cx="4927282" cy="213360"/>
            </a:xfrm>
            <a:prstGeom prst="rect">
              <a:avLst/>
            </a:prstGeom>
            <a:noFill/>
            <a:ln>
              <a:noFill/>
            </a:ln>
          </p:spPr>
          <p:txBody>
            <a:bodyPr wrap="none" lIns="0" tIns="0" rIns="0" bIns="0" anchor="t" anchorCtr="0">
              <a:spAutoFit/>
            </a:bodyPr>
            <a:lstStyle/>
            <a:p>
              <a:pPr algn="l"/>
              <a:r>
                <a:rPr lang="zh-CN" sz="1050" dirty="0">
                  <a:solidFill>
                    <a:srgbClr val="2C3E50"/>
                  </a:solidFill>
                  <a:latin typeface="Arial" panose="020B0604020202020204"/>
                  <a:ea typeface="微软雅黑" panose="020B0503020204020204" charset="-122"/>
                  <a:cs typeface="Arial" panose="020B0604020202020204"/>
                </a:rPr>
                <a:t>层次聚类通过将数据组织为若干组并形成一个相应的树（树状图）来进行聚类。</a:t>
              </a:r>
              <a:endParaRPr lang="zh-CN" sz="1050" dirty="0">
                <a:solidFill>
                  <a:srgbClr val="2C3E50"/>
                </a:solidFill>
                <a:latin typeface="Arial" panose="020B0604020202020204"/>
                <a:ea typeface="微软雅黑" panose="020B0503020204020204" charset="-122"/>
                <a:cs typeface="Arial" panose="020B0604020202020204"/>
              </a:endParaRPr>
            </a:p>
          </p:txBody>
        </p:sp>
        <p:sp>
          <p:nvSpPr>
            <p:cNvPr id="9" name="TextBox 9"/>
            <p:cNvSpPr txBox="1"/>
            <p:nvPr/>
          </p:nvSpPr>
          <p:spPr>
            <a:xfrm>
              <a:off x="749618" y="1494949"/>
              <a:ext cx="3704225"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根据层次方向不同：凝聚法（自底向上）和 分裂法（自顶向下）</a:t>
              </a:r>
              <a:endParaRPr lang="zh-CN" sz="975" dirty="0">
                <a:solidFill>
                  <a:srgbClr val="7F8C8D"/>
                </a:solidFill>
                <a:latin typeface="Arial" panose="020B0604020202020204"/>
                <a:ea typeface="微软雅黑" panose="020B0503020204020204" charset="-122"/>
                <a:cs typeface="Arial" panose="020B0604020202020204"/>
              </a:endParaRPr>
            </a:p>
          </p:txBody>
        </p:sp>
      </p:grpSp>
      <p:grpSp>
        <p:nvGrpSpPr>
          <p:cNvPr id="28" name="Group 28"/>
          <p:cNvGrpSpPr/>
          <p:nvPr/>
        </p:nvGrpSpPr>
        <p:grpSpPr>
          <a:xfrm>
            <a:off x="571500" y="1902142"/>
            <a:ext cx="11049000" cy="2288858"/>
            <a:chOff x="571500" y="1902142"/>
            <a:chExt cx="11049000" cy="2288858"/>
          </a:xfrm>
        </p:grpSpPr>
        <p:sp>
          <p:nvSpPr>
            <p:cNvPr id="11" name="TextBox 11"/>
            <p:cNvSpPr txBox="1"/>
            <p:nvPr/>
          </p:nvSpPr>
          <p:spPr>
            <a:xfrm>
              <a:off x="744855" y="1902142"/>
              <a:ext cx="1168432"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panose="020B0604020202020204"/>
                  <a:ea typeface="微软雅黑" panose="020B0503020204020204" charset="-122"/>
                  <a:cs typeface="Arial" panose="020B0604020202020204"/>
                </a:rPr>
                <a:t>两种聚类思想</a:t>
              </a:r>
              <a:endParaRPr lang="zh-CN" sz="1350" b="1" dirty="0">
                <a:solidFill>
                  <a:srgbClr val="1A5276"/>
                </a:solidFill>
                <a:latin typeface="Arial" panose="020B0604020202020204"/>
                <a:ea typeface="微软雅黑" panose="020B0503020204020204" charset="-122"/>
                <a:cs typeface="Arial" panose="020B0604020202020204"/>
              </a:endParaRPr>
            </a:p>
          </p:txBody>
        </p:sp>
        <p:grpSp>
          <p:nvGrpSpPr>
            <p:cNvPr id="19" name="Group 19"/>
            <p:cNvGrpSpPr/>
            <p:nvPr/>
          </p:nvGrpSpPr>
          <p:grpSpPr>
            <a:xfrm>
              <a:off x="571500" y="2286000"/>
              <a:ext cx="5334000" cy="1905000"/>
              <a:chOff x="571500" y="2286000"/>
              <a:chExt cx="5334000" cy="1905000"/>
            </a:xfrm>
          </p:grpSpPr>
          <p:sp>
            <p:nvSpPr>
              <p:cNvPr id="12" name="Rectangle 12"/>
              <p:cNvSpPr/>
              <p:nvPr/>
            </p:nvSpPr>
            <p:spPr>
              <a:xfrm>
                <a:off x="571500" y="2286000"/>
                <a:ext cx="5334000" cy="1905000"/>
              </a:xfrm>
              <a:prstGeom prst="roundRect">
                <a:avLst>
                  <a:gd name="adj" fmla="val 4000"/>
                </a:avLst>
              </a:prstGeom>
              <a:solidFill>
                <a:srgbClr val="F5F7FA"/>
              </a:solidFill>
              <a:ln>
                <a:noFill/>
              </a:ln>
            </p:spPr>
          </p:sp>
          <p:sp>
            <p:nvSpPr>
              <p:cNvPr id="13" name="Rectangle 13"/>
              <p:cNvSpPr/>
              <p:nvPr/>
            </p:nvSpPr>
            <p:spPr>
              <a:xfrm>
                <a:off x="571500" y="2286000"/>
                <a:ext cx="5334000" cy="38100"/>
              </a:xfrm>
              <a:prstGeom prst="roundRect">
                <a:avLst>
                  <a:gd name="adj" fmla="val 50000"/>
                </a:avLst>
              </a:prstGeom>
              <a:solidFill>
                <a:srgbClr val="1A5276"/>
              </a:solidFill>
              <a:ln>
                <a:noFill/>
              </a:ln>
            </p:spPr>
          </p:sp>
          <p:sp>
            <p:nvSpPr>
              <p:cNvPr id="14" name="TextBox 14"/>
              <p:cNvSpPr txBox="1"/>
              <p:nvPr/>
            </p:nvSpPr>
            <p:spPr>
              <a:xfrm>
                <a:off x="745808" y="2453164"/>
                <a:ext cx="2147874" cy="259080"/>
              </a:xfrm>
              <a:prstGeom prst="rect">
                <a:avLst/>
              </a:prstGeom>
              <a:noFill/>
              <a:ln>
                <a:noFill/>
              </a:ln>
            </p:spPr>
            <p:txBody>
              <a:bodyPr wrap="none" lIns="0" tIns="0" rIns="0" bIns="0" anchor="t" anchorCtr="0">
                <a:spAutoFit/>
              </a:bodyPr>
              <a:lstStyle/>
              <a:p>
                <a:pPr algn="l"/>
                <a:r>
                  <a:rPr lang="zh-CN" sz="1275" b="1" dirty="0">
                    <a:solidFill>
                      <a:srgbClr val="1A5276"/>
                    </a:solidFill>
                    <a:latin typeface="Arial" panose="020B0604020202020204"/>
                    <a:ea typeface="微软雅黑" panose="020B0503020204020204" charset="-122"/>
                    <a:cs typeface="Arial" panose="020B0604020202020204"/>
                  </a:rPr>
                  <a:t>凝聚法（Agglomerative）</a:t>
                </a:r>
                <a:endParaRPr lang="zh-CN" sz="1275" b="1" dirty="0">
                  <a:solidFill>
                    <a:srgbClr val="1A5276"/>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749618" y="2752249"/>
                <a:ext cx="1695474"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自底向上：每个点自成一簇 →</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749618" y="2961799"/>
                <a:ext cx="1045393"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合并最近的两簇 →</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749618" y="3171349"/>
                <a:ext cx="1526453"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重复直到达到目标类目数k</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749618" y="3438049"/>
                <a:ext cx="1207913"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最常用的一种HC方式</a:t>
                </a:r>
                <a:endParaRPr lang="zh-CN" sz="975" dirty="0">
                  <a:solidFill>
                    <a:srgbClr val="2C3E50"/>
                  </a:solidFill>
                  <a:latin typeface="Arial" panose="020B0604020202020204"/>
                  <a:ea typeface="微软雅黑" panose="020B0503020204020204" charset="-122"/>
                  <a:cs typeface="Arial" panose="020B0604020202020204"/>
                </a:endParaRPr>
              </a:p>
            </p:txBody>
          </p:sp>
        </p:grpSp>
        <p:grpSp>
          <p:nvGrpSpPr>
            <p:cNvPr id="27" name="Group 27"/>
            <p:cNvGrpSpPr/>
            <p:nvPr/>
          </p:nvGrpSpPr>
          <p:grpSpPr>
            <a:xfrm>
              <a:off x="6286500" y="2286000"/>
              <a:ext cx="5334000" cy="1905000"/>
              <a:chOff x="6286500" y="2286000"/>
              <a:chExt cx="5334000" cy="1905000"/>
            </a:xfrm>
          </p:grpSpPr>
          <p:sp>
            <p:nvSpPr>
              <p:cNvPr id="20" name="Rectangle 20"/>
              <p:cNvSpPr/>
              <p:nvPr/>
            </p:nvSpPr>
            <p:spPr>
              <a:xfrm>
                <a:off x="6286500" y="2286000"/>
                <a:ext cx="5334000" cy="1905000"/>
              </a:xfrm>
              <a:prstGeom prst="roundRect">
                <a:avLst>
                  <a:gd name="adj" fmla="val 4000"/>
                </a:avLst>
              </a:prstGeom>
              <a:solidFill>
                <a:srgbClr val="F5F7FA"/>
              </a:solidFill>
              <a:ln>
                <a:noFill/>
              </a:ln>
            </p:spPr>
          </p:sp>
          <p:sp>
            <p:nvSpPr>
              <p:cNvPr id="21" name="Rectangle 21"/>
              <p:cNvSpPr/>
              <p:nvPr/>
            </p:nvSpPr>
            <p:spPr>
              <a:xfrm>
                <a:off x="6286500" y="2286000"/>
                <a:ext cx="5334000" cy="38100"/>
              </a:xfrm>
              <a:prstGeom prst="roundRect">
                <a:avLst>
                  <a:gd name="adj" fmla="val 50000"/>
                </a:avLst>
              </a:prstGeom>
              <a:solidFill>
                <a:srgbClr val="2980B9"/>
              </a:solidFill>
              <a:ln>
                <a:noFill/>
              </a:ln>
            </p:spPr>
          </p:sp>
          <p:sp>
            <p:nvSpPr>
              <p:cNvPr id="22" name="TextBox 22"/>
              <p:cNvSpPr txBox="1"/>
              <p:nvPr/>
            </p:nvSpPr>
            <p:spPr>
              <a:xfrm>
                <a:off x="6460808" y="2453164"/>
                <a:ext cx="1576603" cy="259080"/>
              </a:xfrm>
              <a:prstGeom prst="rect">
                <a:avLst/>
              </a:prstGeom>
              <a:noFill/>
              <a:ln>
                <a:noFill/>
              </a:ln>
            </p:spPr>
            <p:txBody>
              <a:bodyPr wrap="none" lIns="0" tIns="0" rIns="0" bIns="0" anchor="t" anchorCtr="0">
                <a:spAutoFit/>
              </a:bodyPr>
              <a:lstStyle/>
              <a:p>
                <a:pPr algn="l"/>
                <a:r>
                  <a:rPr lang="zh-CN" sz="1275" b="1" dirty="0">
                    <a:solidFill>
                      <a:srgbClr val="2980B9"/>
                    </a:solidFill>
                    <a:latin typeface="Arial" panose="020B0604020202020204"/>
                    <a:ea typeface="微软雅黑" panose="020B0503020204020204" charset="-122"/>
                    <a:cs typeface="Arial" panose="020B0604020202020204"/>
                  </a:rPr>
                  <a:t>分裂法（Divisive）</a:t>
                </a:r>
                <a:endParaRPr lang="zh-CN" sz="1275" b="1" dirty="0">
                  <a:solidFill>
                    <a:srgbClr val="2980B9"/>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6464618" y="2752249"/>
                <a:ext cx="1695474"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自顶向下：所有点在一个簇 →</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6464618" y="2961799"/>
                <a:ext cx="1305425"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将最不相似的簇分裂 →</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6464618" y="3171349"/>
                <a:ext cx="1324928"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重复直到每个点自成簇</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6464618" y="3438049"/>
                <a:ext cx="1194911"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计算量大，较少使用</a:t>
                </a:r>
                <a:endParaRPr lang="zh-CN" sz="975" dirty="0">
                  <a:solidFill>
                    <a:srgbClr val="7F8C8D"/>
                  </a:solidFill>
                  <a:latin typeface="Arial" panose="020B0604020202020204"/>
                  <a:ea typeface="微软雅黑" panose="020B0503020204020204" charset="-122"/>
                  <a:cs typeface="Arial" panose="020B0604020202020204"/>
                </a:endParaRPr>
              </a:p>
            </p:txBody>
          </p:sp>
        </p:grpSp>
      </p:grpSp>
      <p:grpSp>
        <p:nvGrpSpPr>
          <p:cNvPr id="35" name="Group 35"/>
          <p:cNvGrpSpPr/>
          <p:nvPr/>
        </p:nvGrpSpPr>
        <p:grpSpPr>
          <a:xfrm>
            <a:off x="571500" y="4378642"/>
            <a:ext cx="11049000" cy="1288733"/>
            <a:chOff x="571500" y="4378642"/>
            <a:chExt cx="11049000" cy="1288733"/>
          </a:xfrm>
        </p:grpSpPr>
        <p:sp>
          <p:nvSpPr>
            <p:cNvPr id="29" name="TextBox 29"/>
            <p:cNvSpPr txBox="1"/>
            <p:nvPr/>
          </p:nvSpPr>
          <p:spPr>
            <a:xfrm>
              <a:off x="744855" y="4378642"/>
              <a:ext cx="1357455"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panose="020B0604020202020204"/>
                  <a:ea typeface="微软雅黑" panose="020B0503020204020204" charset="-122"/>
                  <a:cs typeface="Arial" panose="020B0604020202020204"/>
                </a:rPr>
                <a:t>凝聚法算法步骤</a:t>
              </a:r>
              <a:endParaRPr lang="zh-CN" sz="1350" b="1" dirty="0">
                <a:solidFill>
                  <a:srgbClr val="1A5276"/>
                </a:solidFill>
                <a:latin typeface="Arial" panose="020B0604020202020204"/>
                <a:ea typeface="微软雅黑" panose="020B0503020204020204" charset="-122"/>
                <a:cs typeface="Arial" panose="020B0604020202020204"/>
              </a:endParaRPr>
            </a:p>
          </p:txBody>
        </p:sp>
        <p:sp>
          <p:nvSpPr>
            <p:cNvPr id="30" name="Rectangle 30"/>
            <p:cNvSpPr/>
            <p:nvPr/>
          </p:nvSpPr>
          <p:spPr>
            <a:xfrm>
              <a:off x="571500" y="4762500"/>
              <a:ext cx="11049000" cy="904875"/>
            </a:xfrm>
            <a:prstGeom prst="roundRect">
              <a:avLst>
                <a:gd name="adj" fmla="val 8421"/>
              </a:avLst>
            </a:prstGeom>
            <a:solidFill>
              <a:srgbClr val="F5F7FA"/>
            </a:solidFill>
            <a:ln>
              <a:noFill/>
            </a:ln>
          </p:spPr>
        </p:sp>
        <p:sp>
          <p:nvSpPr>
            <p:cNvPr id="31" name="TextBox 31"/>
            <p:cNvSpPr txBox="1"/>
            <p:nvPr/>
          </p:nvSpPr>
          <p:spPr>
            <a:xfrm>
              <a:off x="749618" y="4923949"/>
              <a:ext cx="2118027"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输入：目标类目数K，数据样本集合D</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749618" y="5133499"/>
              <a:ext cx="1435441"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① 每个样本视为一个类簇</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749618" y="5343049"/>
              <a:ext cx="4737854"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② 循环：找到分属不同两簇且距离最近的样本点对 → 合并这两个簇 → 直到类簇数=K</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7227570" y="4932045"/>
              <a:ext cx="3461290" cy="182880"/>
            </a:xfrm>
            <a:prstGeom prst="rect">
              <a:avLst/>
            </a:prstGeom>
            <a:noFill/>
            <a:ln>
              <a:noFill/>
            </a:ln>
          </p:spPr>
          <p:txBody>
            <a:bodyPr wrap="none" lIns="0" tIns="0" rIns="0" bIns="0" anchor="t" anchorCtr="0">
              <a:spAutoFit/>
            </a:bodyPr>
            <a:lstStyle/>
            <a:p>
              <a:pPr algn="l"/>
              <a:r>
                <a:rPr lang="zh-CN" sz="900" dirty="0">
                  <a:solidFill>
                    <a:srgbClr val="7F8C8D"/>
                  </a:solidFill>
                  <a:latin typeface="Arial" panose="020B0604020202020204"/>
                  <a:ea typeface="微软雅黑" panose="020B0503020204020204" charset="-122"/>
                  <a:cs typeface="Arial" panose="020B0604020202020204"/>
                </a:rPr>
                <a:t>簇间距离计算方法：最短距离法·最长距离法·平均距离法·重心法</a:t>
              </a:r>
              <a:endParaRPr lang="zh-CN" sz="900" dirty="0">
                <a:solidFill>
                  <a:srgbClr val="7F8C8D"/>
                </a:solidFill>
                <a:latin typeface="Arial" panose="020B0604020202020204"/>
                <a:ea typeface="微软雅黑" panose="020B0503020204020204" charset="-122"/>
                <a:cs typeface="Arial" panose="020B0604020202020204"/>
              </a:endParaRPr>
            </a:p>
          </p:txBody>
        </p:sp>
      </p:grpSp>
      <p:sp>
        <p:nvSpPr>
          <p:cNvPr id="36" name="TextBox 36"/>
          <p:cNvSpPr txBox="1"/>
          <p:nvPr/>
        </p:nvSpPr>
        <p:spPr>
          <a:xfrm>
            <a:off x="6018562" y="6570345"/>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05</a:t>
            </a:r>
            <a:endParaRPr lang="zh-CN" sz="900"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400"/>
                                        <p:tgtEl>
                                          <p:spTgt spid="10"/>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image">
                                      <p:cBhvr>
                                        <p:cTn id="11" dur="400"/>
                                        <p:tgtEl>
                                          <p:spTgt spid="2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8"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381000"/>
            <a:ext cx="11049000" cy="581025"/>
            <a:chOff x="571500" y="381000"/>
            <a:chExt cx="11049000" cy="581025"/>
          </a:xfrm>
        </p:grpSpPr>
        <p:sp>
          <p:nvSpPr>
            <p:cNvPr id="3" name="Rectangle 3"/>
            <p:cNvSpPr/>
            <p:nvPr/>
          </p:nvSpPr>
          <p:spPr>
            <a:xfrm>
              <a:off x="571500" y="381000"/>
              <a:ext cx="38100" cy="304800"/>
            </a:xfrm>
            <a:prstGeom prst="roundRect">
              <a:avLst>
                <a:gd name="adj" fmla="val 50000"/>
              </a:avLst>
            </a:prstGeom>
            <a:gradFill>
              <a:gsLst>
                <a:gs pos="0">
                  <a:srgbClr val="1A5276"/>
                </a:gs>
                <a:gs pos="100000">
                  <a:srgbClr val="3498DB"/>
                </a:gs>
              </a:gsLst>
              <a:lin ang="0" scaled="1"/>
            </a:gradFill>
            <a:ln>
              <a:noFill/>
            </a:ln>
          </p:spPr>
        </p:sp>
        <p:sp>
          <p:nvSpPr>
            <p:cNvPr id="4" name="TextBox 4"/>
            <p:cNvSpPr txBox="1"/>
            <p:nvPr/>
          </p:nvSpPr>
          <p:spPr>
            <a:xfrm>
              <a:off x="737235" y="399098"/>
              <a:ext cx="4909537" cy="396240"/>
            </a:xfrm>
            <a:prstGeom prst="rect">
              <a:avLst/>
            </a:prstGeom>
            <a:noFill/>
            <a:ln>
              <a:noFill/>
            </a:ln>
          </p:spPr>
          <p:txBody>
            <a:bodyPr wrap="none" lIns="0" tIns="0" rIns="0" bIns="0" anchor="t" anchorCtr="0">
              <a:spAutoFit/>
            </a:bodyPr>
            <a:lstStyle/>
            <a:p>
              <a:pPr algn="l"/>
              <a:r>
                <a:rPr lang="zh-CN" sz="1950" b="1" dirty="0">
                  <a:solidFill>
                    <a:srgbClr val="2C3E50"/>
                  </a:solidFill>
                  <a:latin typeface="Arial" panose="020B0604020202020204"/>
                  <a:ea typeface="微软雅黑" panose="020B0503020204020204" charset="-122"/>
                  <a:cs typeface="Arial" panose="020B0604020202020204"/>
                </a:rPr>
                <a:t>HC树状图（Dendrogram）解读（重点）</a:t>
              </a:r>
              <a:endParaRPr lang="zh-CN" sz="1950" b="1" dirty="0">
                <a:solidFill>
                  <a:srgbClr val="2C3E50"/>
                </a:solidFill>
                <a:latin typeface="Arial" panose="020B0604020202020204"/>
                <a:ea typeface="微软雅黑" panose="020B0503020204020204" charset="-122"/>
                <a:cs typeface="Arial" panose="020B0604020202020204"/>
              </a:endParaRPr>
            </a:p>
          </p:txBody>
        </p:sp>
        <p:sp>
          <p:nvSpPr>
            <p:cNvPr id="5" name="Line 5"/>
            <p:cNvSpPr/>
            <p:nvPr/>
          </p:nvSpPr>
          <p:spPr>
            <a:xfrm>
              <a:off x="571500" y="952500"/>
              <a:ext cx="11049000" cy="9525"/>
            </a:xfrm>
            <a:custGeom>
              <a:avLst/>
              <a:gdLst/>
              <a:ahLst/>
              <a:cxnLst/>
              <a:rect l="l" t="t" r="r" b="b"/>
              <a:pathLst>
                <a:path w="11049000" h="9525">
                  <a:moveTo>
                    <a:pt x="0" y="0"/>
                  </a:moveTo>
                  <a:lnTo>
                    <a:pt x="11049000" y="0"/>
                  </a:lnTo>
                </a:path>
              </a:pathLst>
            </a:custGeom>
            <a:noFill/>
            <a:ln w="9525">
              <a:solidFill>
                <a:srgbClr val="D5D8DC"/>
              </a:solidFill>
            </a:ln>
          </p:spPr>
        </p:sp>
      </p:grpSp>
      <p:grpSp>
        <p:nvGrpSpPr>
          <p:cNvPr id="45" name="Group 45"/>
          <p:cNvGrpSpPr/>
          <p:nvPr/>
        </p:nvGrpSpPr>
        <p:grpSpPr>
          <a:xfrm>
            <a:off x="571500" y="1143000"/>
            <a:ext cx="6742252" cy="4572000"/>
            <a:chOff x="571500" y="1143000"/>
            <a:chExt cx="6742252" cy="4572000"/>
          </a:xfrm>
        </p:grpSpPr>
        <p:sp>
          <p:nvSpPr>
            <p:cNvPr id="7" name="Rectangle 7"/>
            <p:cNvSpPr/>
            <p:nvPr/>
          </p:nvSpPr>
          <p:spPr>
            <a:xfrm>
              <a:off x="571500" y="1143000"/>
              <a:ext cx="6667500" cy="4572000"/>
            </a:xfrm>
            <a:prstGeom prst="roundRect">
              <a:avLst>
                <a:gd name="adj" fmla="val 1667"/>
              </a:avLst>
            </a:prstGeom>
            <a:solidFill>
              <a:srgbClr val="F5F7FA"/>
            </a:solidFill>
            <a:ln>
              <a:noFill/>
            </a:ln>
          </p:spPr>
        </p:sp>
        <p:sp>
          <p:nvSpPr>
            <p:cNvPr id="8" name="TextBox 8"/>
            <p:cNvSpPr txBox="1"/>
            <p:nvPr/>
          </p:nvSpPr>
          <p:spPr>
            <a:xfrm>
              <a:off x="2933963" y="1338739"/>
              <a:ext cx="1942574" cy="259080"/>
            </a:xfrm>
            <a:prstGeom prst="rect">
              <a:avLst/>
            </a:prstGeom>
            <a:noFill/>
            <a:ln>
              <a:noFill/>
            </a:ln>
          </p:spPr>
          <p:txBody>
            <a:bodyPr wrap="none" lIns="0" tIns="0" rIns="0" bIns="0" anchor="t" anchorCtr="0">
              <a:spAutoFit/>
            </a:bodyPr>
            <a:lstStyle/>
            <a:p>
              <a:pPr algn="ctr"/>
              <a:r>
                <a:rPr lang="zh-CN" sz="1275" b="1" dirty="0">
                  <a:solidFill>
                    <a:srgbClr val="1A5276"/>
                  </a:solidFill>
                  <a:latin typeface="Arial" panose="020B0604020202020204"/>
                  <a:ea typeface="微软雅黑" panose="020B0503020204020204" charset="-122"/>
                  <a:cs typeface="Arial" panose="020B0604020202020204"/>
                </a:rPr>
                <a:t>树状图（dendrogram）</a:t>
              </a:r>
              <a:endParaRPr lang="zh-CN" sz="1275" b="1" dirty="0">
                <a:solidFill>
                  <a:srgbClr val="1A5276"/>
                </a:solidFill>
                <a:latin typeface="Arial" panose="020B0604020202020204"/>
                <a:ea typeface="微软雅黑" panose="020B0503020204020204" charset="-122"/>
                <a:cs typeface="Arial" panose="020B0604020202020204"/>
              </a:endParaRPr>
            </a:p>
          </p:txBody>
        </p:sp>
        <p:sp>
          <p:nvSpPr>
            <p:cNvPr id="9" name="Line 9"/>
            <p:cNvSpPr/>
            <p:nvPr/>
          </p:nvSpPr>
          <p:spPr>
            <a:xfrm>
              <a:off x="1143000" y="1905000"/>
              <a:ext cx="9525" cy="3429000"/>
            </a:xfrm>
            <a:custGeom>
              <a:avLst/>
              <a:gdLst/>
              <a:ahLst/>
              <a:cxnLst/>
              <a:rect l="l" t="t" r="r" b="b"/>
              <a:pathLst>
                <a:path w="9525" h="3429000">
                  <a:moveTo>
                    <a:pt x="0" y="0"/>
                  </a:moveTo>
                  <a:lnTo>
                    <a:pt x="0" y="3429000"/>
                  </a:lnTo>
                </a:path>
              </a:pathLst>
            </a:custGeom>
            <a:noFill/>
            <a:ln w="14288">
              <a:solidFill>
                <a:srgbClr val="2C3E50"/>
              </a:solidFill>
            </a:ln>
          </p:spPr>
        </p:sp>
        <p:sp>
          <p:nvSpPr>
            <p:cNvPr id="10" name="Line 10"/>
            <p:cNvSpPr/>
            <p:nvPr/>
          </p:nvSpPr>
          <p:spPr>
            <a:xfrm>
              <a:off x="1143000" y="5334000"/>
              <a:ext cx="5715000" cy="9525"/>
            </a:xfrm>
            <a:custGeom>
              <a:avLst/>
              <a:gdLst/>
              <a:ahLst/>
              <a:cxnLst/>
              <a:rect l="l" t="t" r="r" b="b"/>
              <a:pathLst>
                <a:path w="5715000" h="9525">
                  <a:moveTo>
                    <a:pt x="0" y="0"/>
                  </a:moveTo>
                  <a:lnTo>
                    <a:pt x="5715000" y="0"/>
                  </a:lnTo>
                </a:path>
              </a:pathLst>
            </a:custGeom>
            <a:noFill/>
            <a:ln w="14288">
              <a:solidFill>
                <a:srgbClr val="2C3E50"/>
              </a:solidFill>
            </a:ln>
          </p:spPr>
        </p:sp>
        <p:sp>
          <p:nvSpPr>
            <p:cNvPr id="11" name="Line 11"/>
            <p:cNvSpPr/>
            <p:nvPr/>
          </p:nvSpPr>
          <p:spPr>
            <a:xfrm>
              <a:off x="123825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12" name="Line 12"/>
            <p:cNvSpPr/>
            <p:nvPr/>
          </p:nvSpPr>
          <p:spPr>
            <a:xfrm>
              <a:off x="152400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13" name="Line 13"/>
            <p:cNvSpPr/>
            <p:nvPr/>
          </p:nvSpPr>
          <p:spPr>
            <a:xfrm>
              <a:off x="1857375"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14" name="Line 14"/>
            <p:cNvSpPr/>
            <p:nvPr/>
          </p:nvSpPr>
          <p:spPr>
            <a:xfrm>
              <a:off x="219075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15" name="Line 15"/>
            <p:cNvSpPr/>
            <p:nvPr/>
          </p:nvSpPr>
          <p:spPr>
            <a:xfrm>
              <a:off x="257175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16" name="Line 16"/>
            <p:cNvSpPr/>
            <p:nvPr/>
          </p:nvSpPr>
          <p:spPr>
            <a:xfrm>
              <a:off x="295275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17" name="Line 17"/>
            <p:cNvSpPr/>
            <p:nvPr/>
          </p:nvSpPr>
          <p:spPr>
            <a:xfrm>
              <a:off x="3286125"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18" name="Line 18"/>
            <p:cNvSpPr/>
            <p:nvPr/>
          </p:nvSpPr>
          <p:spPr>
            <a:xfrm>
              <a:off x="361950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19" name="Line 19"/>
            <p:cNvSpPr/>
            <p:nvPr/>
          </p:nvSpPr>
          <p:spPr>
            <a:xfrm>
              <a:off x="400050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20" name="Line 20"/>
            <p:cNvSpPr/>
            <p:nvPr/>
          </p:nvSpPr>
          <p:spPr>
            <a:xfrm>
              <a:off x="438150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21" name="Line 21"/>
            <p:cNvSpPr/>
            <p:nvPr/>
          </p:nvSpPr>
          <p:spPr>
            <a:xfrm>
              <a:off x="4714875"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22" name="Line 22"/>
            <p:cNvSpPr/>
            <p:nvPr/>
          </p:nvSpPr>
          <p:spPr>
            <a:xfrm>
              <a:off x="504825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23" name="Line 23"/>
            <p:cNvSpPr/>
            <p:nvPr/>
          </p:nvSpPr>
          <p:spPr>
            <a:xfrm>
              <a:off x="542925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24" name="Line 24"/>
            <p:cNvSpPr/>
            <p:nvPr/>
          </p:nvSpPr>
          <p:spPr>
            <a:xfrm>
              <a:off x="581025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25" name="Line 25"/>
            <p:cNvSpPr/>
            <p:nvPr/>
          </p:nvSpPr>
          <p:spPr>
            <a:xfrm>
              <a:off x="6143625"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26" name="Line 26"/>
            <p:cNvSpPr/>
            <p:nvPr/>
          </p:nvSpPr>
          <p:spPr>
            <a:xfrm>
              <a:off x="6477000" y="5143500"/>
              <a:ext cx="9525" cy="190500"/>
            </a:xfrm>
            <a:custGeom>
              <a:avLst/>
              <a:gdLst/>
              <a:ahLst/>
              <a:cxnLst/>
              <a:rect l="l" t="t" r="r" b="b"/>
              <a:pathLst>
                <a:path w="9525" h="190500">
                  <a:moveTo>
                    <a:pt x="0" y="190500"/>
                  </a:moveTo>
                  <a:lnTo>
                    <a:pt x="0" y="0"/>
                  </a:lnTo>
                </a:path>
              </a:pathLst>
            </a:custGeom>
            <a:noFill/>
            <a:ln w="9525">
              <a:solidFill>
                <a:srgbClr val="3498DB"/>
              </a:solidFill>
            </a:ln>
          </p:spPr>
        </p:sp>
        <p:sp>
          <p:nvSpPr>
            <p:cNvPr id="27" name="Line 27"/>
            <p:cNvSpPr/>
            <p:nvPr/>
          </p:nvSpPr>
          <p:spPr>
            <a:xfrm>
              <a:off x="1238250" y="5143500"/>
              <a:ext cx="952500" cy="9525"/>
            </a:xfrm>
            <a:custGeom>
              <a:avLst/>
              <a:gdLst/>
              <a:ahLst/>
              <a:cxnLst/>
              <a:rect l="l" t="t" r="r" b="b"/>
              <a:pathLst>
                <a:path w="952500" h="9525">
                  <a:moveTo>
                    <a:pt x="0" y="0"/>
                  </a:moveTo>
                  <a:lnTo>
                    <a:pt x="952500" y="0"/>
                  </a:lnTo>
                </a:path>
              </a:pathLst>
            </a:custGeom>
            <a:noFill/>
            <a:ln w="14288">
              <a:solidFill>
                <a:srgbClr val="1A5276"/>
              </a:solidFill>
            </a:ln>
          </p:spPr>
        </p:sp>
        <p:sp>
          <p:nvSpPr>
            <p:cNvPr id="28" name="Line 28"/>
            <p:cNvSpPr/>
            <p:nvPr/>
          </p:nvSpPr>
          <p:spPr>
            <a:xfrm>
              <a:off x="1714500" y="4953000"/>
              <a:ext cx="9525" cy="190500"/>
            </a:xfrm>
            <a:custGeom>
              <a:avLst/>
              <a:gdLst/>
              <a:ahLst/>
              <a:cxnLst/>
              <a:rect l="l" t="t" r="r" b="b"/>
              <a:pathLst>
                <a:path w="9525" h="190500">
                  <a:moveTo>
                    <a:pt x="0" y="190500"/>
                  </a:moveTo>
                  <a:lnTo>
                    <a:pt x="0" y="0"/>
                  </a:lnTo>
                </a:path>
              </a:pathLst>
            </a:custGeom>
            <a:noFill/>
            <a:ln w="9525">
              <a:solidFill>
                <a:srgbClr val="1A5276"/>
              </a:solidFill>
            </a:ln>
          </p:spPr>
        </p:sp>
        <p:sp>
          <p:nvSpPr>
            <p:cNvPr id="29" name="Line 29"/>
            <p:cNvSpPr/>
            <p:nvPr/>
          </p:nvSpPr>
          <p:spPr>
            <a:xfrm>
              <a:off x="2571750" y="5143500"/>
              <a:ext cx="714375" cy="9525"/>
            </a:xfrm>
            <a:custGeom>
              <a:avLst/>
              <a:gdLst/>
              <a:ahLst/>
              <a:cxnLst/>
              <a:rect l="l" t="t" r="r" b="b"/>
              <a:pathLst>
                <a:path w="714375" h="9525">
                  <a:moveTo>
                    <a:pt x="0" y="0"/>
                  </a:moveTo>
                  <a:lnTo>
                    <a:pt x="714375" y="0"/>
                  </a:lnTo>
                </a:path>
              </a:pathLst>
            </a:custGeom>
            <a:noFill/>
            <a:ln w="14288">
              <a:solidFill>
                <a:srgbClr val="1A5276"/>
              </a:solidFill>
            </a:ln>
          </p:spPr>
        </p:sp>
        <p:sp>
          <p:nvSpPr>
            <p:cNvPr id="30" name="Line 30"/>
            <p:cNvSpPr/>
            <p:nvPr/>
          </p:nvSpPr>
          <p:spPr>
            <a:xfrm>
              <a:off x="2933700" y="4905375"/>
              <a:ext cx="9525" cy="238125"/>
            </a:xfrm>
            <a:custGeom>
              <a:avLst/>
              <a:gdLst/>
              <a:ahLst/>
              <a:cxnLst/>
              <a:rect l="l" t="t" r="r" b="b"/>
              <a:pathLst>
                <a:path w="9525" h="238125">
                  <a:moveTo>
                    <a:pt x="0" y="238125"/>
                  </a:moveTo>
                  <a:lnTo>
                    <a:pt x="0" y="0"/>
                  </a:lnTo>
                </a:path>
              </a:pathLst>
            </a:custGeom>
            <a:noFill/>
            <a:ln w="9525">
              <a:solidFill>
                <a:srgbClr val="1A5276"/>
              </a:solidFill>
            </a:ln>
          </p:spPr>
        </p:sp>
        <p:sp>
          <p:nvSpPr>
            <p:cNvPr id="31" name="Line 31"/>
            <p:cNvSpPr/>
            <p:nvPr/>
          </p:nvSpPr>
          <p:spPr>
            <a:xfrm>
              <a:off x="4000500" y="5143500"/>
              <a:ext cx="1047750" cy="9525"/>
            </a:xfrm>
            <a:custGeom>
              <a:avLst/>
              <a:gdLst/>
              <a:ahLst/>
              <a:cxnLst/>
              <a:rect l="l" t="t" r="r" b="b"/>
              <a:pathLst>
                <a:path w="1047750" h="9525">
                  <a:moveTo>
                    <a:pt x="0" y="0"/>
                  </a:moveTo>
                  <a:lnTo>
                    <a:pt x="1047750" y="0"/>
                  </a:lnTo>
                </a:path>
              </a:pathLst>
            </a:custGeom>
            <a:noFill/>
            <a:ln w="14288">
              <a:solidFill>
                <a:srgbClr val="1A5276"/>
              </a:solidFill>
            </a:ln>
          </p:spPr>
        </p:sp>
        <p:sp>
          <p:nvSpPr>
            <p:cNvPr id="32" name="Line 32"/>
            <p:cNvSpPr/>
            <p:nvPr/>
          </p:nvSpPr>
          <p:spPr>
            <a:xfrm>
              <a:off x="4524375" y="4953000"/>
              <a:ext cx="9525" cy="190500"/>
            </a:xfrm>
            <a:custGeom>
              <a:avLst/>
              <a:gdLst/>
              <a:ahLst/>
              <a:cxnLst/>
              <a:rect l="l" t="t" r="r" b="b"/>
              <a:pathLst>
                <a:path w="9525" h="190500">
                  <a:moveTo>
                    <a:pt x="0" y="190500"/>
                  </a:moveTo>
                  <a:lnTo>
                    <a:pt x="0" y="0"/>
                  </a:lnTo>
                </a:path>
              </a:pathLst>
            </a:custGeom>
            <a:noFill/>
            <a:ln w="9525">
              <a:solidFill>
                <a:srgbClr val="1A5276"/>
              </a:solidFill>
            </a:ln>
          </p:spPr>
        </p:sp>
        <p:sp>
          <p:nvSpPr>
            <p:cNvPr id="33" name="Line 33"/>
            <p:cNvSpPr/>
            <p:nvPr/>
          </p:nvSpPr>
          <p:spPr>
            <a:xfrm>
              <a:off x="5429250" y="5143500"/>
              <a:ext cx="1047750" cy="9525"/>
            </a:xfrm>
            <a:custGeom>
              <a:avLst/>
              <a:gdLst/>
              <a:ahLst/>
              <a:cxnLst/>
              <a:rect l="l" t="t" r="r" b="b"/>
              <a:pathLst>
                <a:path w="1047750" h="9525">
                  <a:moveTo>
                    <a:pt x="0" y="0"/>
                  </a:moveTo>
                  <a:lnTo>
                    <a:pt x="1047750" y="0"/>
                  </a:lnTo>
                </a:path>
              </a:pathLst>
            </a:custGeom>
            <a:noFill/>
            <a:ln w="14288">
              <a:solidFill>
                <a:srgbClr val="1A5276"/>
              </a:solidFill>
            </a:ln>
          </p:spPr>
        </p:sp>
        <p:sp>
          <p:nvSpPr>
            <p:cNvPr id="34" name="Line 34"/>
            <p:cNvSpPr/>
            <p:nvPr/>
          </p:nvSpPr>
          <p:spPr>
            <a:xfrm>
              <a:off x="5953125" y="4905375"/>
              <a:ext cx="9525" cy="238125"/>
            </a:xfrm>
            <a:custGeom>
              <a:avLst/>
              <a:gdLst/>
              <a:ahLst/>
              <a:cxnLst/>
              <a:rect l="l" t="t" r="r" b="b"/>
              <a:pathLst>
                <a:path w="9525" h="238125">
                  <a:moveTo>
                    <a:pt x="0" y="238125"/>
                  </a:moveTo>
                  <a:lnTo>
                    <a:pt x="0" y="0"/>
                  </a:lnTo>
                </a:path>
              </a:pathLst>
            </a:custGeom>
            <a:noFill/>
            <a:ln w="9525">
              <a:solidFill>
                <a:srgbClr val="1A5276"/>
              </a:solidFill>
            </a:ln>
          </p:spPr>
        </p:sp>
        <p:sp>
          <p:nvSpPr>
            <p:cNvPr id="35" name="Line 35"/>
            <p:cNvSpPr/>
            <p:nvPr/>
          </p:nvSpPr>
          <p:spPr>
            <a:xfrm>
              <a:off x="1714500" y="4905375"/>
              <a:ext cx="1219200" cy="47625"/>
            </a:xfrm>
            <a:custGeom>
              <a:avLst/>
              <a:gdLst/>
              <a:ahLst/>
              <a:cxnLst/>
              <a:rect l="l" t="t" r="r" b="b"/>
              <a:pathLst>
                <a:path w="1219200" h="47625">
                  <a:moveTo>
                    <a:pt x="0" y="47625"/>
                  </a:moveTo>
                  <a:lnTo>
                    <a:pt x="1219200" y="0"/>
                  </a:lnTo>
                </a:path>
              </a:pathLst>
            </a:custGeom>
            <a:noFill/>
            <a:ln w="14288">
              <a:solidFill>
                <a:srgbClr val="2980B9"/>
              </a:solidFill>
            </a:ln>
          </p:spPr>
        </p:sp>
        <p:sp>
          <p:nvSpPr>
            <p:cNvPr id="36" name="Line 36"/>
            <p:cNvSpPr/>
            <p:nvPr/>
          </p:nvSpPr>
          <p:spPr>
            <a:xfrm>
              <a:off x="2324100" y="4572000"/>
              <a:ext cx="9525" cy="381000"/>
            </a:xfrm>
            <a:custGeom>
              <a:avLst/>
              <a:gdLst/>
              <a:ahLst/>
              <a:cxnLst/>
              <a:rect l="l" t="t" r="r" b="b"/>
              <a:pathLst>
                <a:path w="9525" h="381000">
                  <a:moveTo>
                    <a:pt x="0" y="381000"/>
                  </a:moveTo>
                  <a:lnTo>
                    <a:pt x="0" y="0"/>
                  </a:lnTo>
                </a:path>
              </a:pathLst>
            </a:custGeom>
            <a:noFill/>
            <a:ln w="9525">
              <a:solidFill>
                <a:srgbClr val="2980B9"/>
              </a:solidFill>
            </a:ln>
          </p:spPr>
        </p:sp>
        <p:sp>
          <p:nvSpPr>
            <p:cNvPr id="37" name="Line 37"/>
            <p:cNvSpPr/>
            <p:nvPr/>
          </p:nvSpPr>
          <p:spPr>
            <a:xfrm>
              <a:off x="4524375" y="4905375"/>
              <a:ext cx="1428750" cy="47625"/>
            </a:xfrm>
            <a:custGeom>
              <a:avLst/>
              <a:gdLst/>
              <a:ahLst/>
              <a:cxnLst/>
              <a:rect l="l" t="t" r="r" b="b"/>
              <a:pathLst>
                <a:path w="1428750" h="47625">
                  <a:moveTo>
                    <a:pt x="0" y="47625"/>
                  </a:moveTo>
                  <a:lnTo>
                    <a:pt x="1428750" y="0"/>
                  </a:lnTo>
                </a:path>
              </a:pathLst>
            </a:custGeom>
            <a:noFill/>
            <a:ln w="14288">
              <a:solidFill>
                <a:srgbClr val="2980B9"/>
              </a:solidFill>
            </a:ln>
          </p:spPr>
        </p:sp>
        <p:sp>
          <p:nvSpPr>
            <p:cNvPr id="38" name="Line 38"/>
            <p:cNvSpPr/>
            <p:nvPr/>
          </p:nvSpPr>
          <p:spPr>
            <a:xfrm>
              <a:off x="5238750" y="4476750"/>
              <a:ext cx="9525" cy="476250"/>
            </a:xfrm>
            <a:custGeom>
              <a:avLst/>
              <a:gdLst/>
              <a:ahLst/>
              <a:cxnLst/>
              <a:rect l="l" t="t" r="r" b="b"/>
              <a:pathLst>
                <a:path w="9525" h="476250">
                  <a:moveTo>
                    <a:pt x="0" y="476250"/>
                  </a:moveTo>
                  <a:lnTo>
                    <a:pt x="0" y="0"/>
                  </a:lnTo>
                </a:path>
              </a:pathLst>
            </a:custGeom>
            <a:noFill/>
            <a:ln w="9525">
              <a:solidFill>
                <a:srgbClr val="2980B9"/>
              </a:solidFill>
            </a:ln>
          </p:spPr>
        </p:sp>
        <p:sp>
          <p:nvSpPr>
            <p:cNvPr id="39" name="Line 39"/>
            <p:cNvSpPr/>
            <p:nvPr/>
          </p:nvSpPr>
          <p:spPr>
            <a:xfrm>
              <a:off x="2324100" y="4476750"/>
              <a:ext cx="2914650" cy="95250"/>
            </a:xfrm>
            <a:custGeom>
              <a:avLst/>
              <a:gdLst/>
              <a:ahLst/>
              <a:cxnLst/>
              <a:rect l="l" t="t" r="r" b="b"/>
              <a:pathLst>
                <a:path w="2914650" h="95250">
                  <a:moveTo>
                    <a:pt x="0" y="95250"/>
                  </a:moveTo>
                  <a:lnTo>
                    <a:pt x="2914650" y="0"/>
                  </a:lnTo>
                </a:path>
              </a:pathLst>
            </a:custGeom>
            <a:noFill/>
            <a:ln w="14288">
              <a:solidFill>
                <a:srgbClr val="3498DB"/>
              </a:solidFill>
            </a:ln>
          </p:spPr>
        </p:sp>
        <p:sp>
          <p:nvSpPr>
            <p:cNvPr id="40" name="Line 40"/>
            <p:cNvSpPr/>
            <p:nvPr/>
          </p:nvSpPr>
          <p:spPr>
            <a:xfrm>
              <a:off x="3781425" y="4000500"/>
              <a:ext cx="9525" cy="571500"/>
            </a:xfrm>
            <a:custGeom>
              <a:avLst/>
              <a:gdLst/>
              <a:ahLst/>
              <a:cxnLst/>
              <a:rect l="l" t="t" r="r" b="b"/>
              <a:pathLst>
                <a:path w="9525" h="571500">
                  <a:moveTo>
                    <a:pt x="0" y="571500"/>
                  </a:moveTo>
                  <a:lnTo>
                    <a:pt x="0" y="0"/>
                  </a:lnTo>
                </a:path>
              </a:pathLst>
            </a:custGeom>
            <a:noFill/>
            <a:ln w="9525">
              <a:solidFill>
                <a:srgbClr val="3498DB"/>
              </a:solidFill>
            </a:ln>
          </p:spPr>
        </p:sp>
        <p:sp>
          <p:nvSpPr>
            <p:cNvPr id="41" name="Line 41"/>
            <p:cNvSpPr/>
            <p:nvPr/>
          </p:nvSpPr>
          <p:spPr>
            <a:xfrm>
              <a:off x="1143000" y="4095750"/>
              <a:ext cx="5715000" cy="9525"/>
            </a:xfrm>
            <a:custGeom>
              <a:avLst/>
              <a:gdLst/>
              <a:ahLst/>
              <a:cxnLst/>
              <a:rect l="l" t="t" r="r" b="b"/>
              <a:pathLst>
                <a:path w="5715000" h="9525">
                  <a:moveTo>
                    <a:pt x="0" y="0"/>
                  </a:moveTo>
                  <a:lnTo>
                    <a:pt x="5715000" y="0"/>
                  </a:lnTo>
                </a:path>
              </a:pathLst>
            </a:custGeom>
            <a:noFill/>
            <a:ln w="23812">
              <a:solidFill>
                <a:srgbClr val="E74C3C"/>
              </a:solidFill>
              <a:prstDash val="lgDash"/>
            </a:ln>
          </p:spPr>
        </p:sp>
        <p:sp>
          <p:nvSpPr>
            <p:cNvPr id="42" name="TextBox 42"/>
            <p:cNvSpPr txBox="1"/>
            <p:nvPr/>
          </p:nvSpPr>
          <p:spPr>
            <a:xfrm>
              <a:off x="6940868" y="4038124"/>
              <a:ext cx="372884" cy="198120"/>
            </a:xfrm>
            <a:prstGeom prst="rect">
              <a:avLst/>
            </a:prstGeom>
            <a:noFill/>
            <a:ln>
              <a:noFill/>
            </a:ln>
          </p:spPr>
          <p:txBody>
            <a:bodyPr wrap="none" lIns="0" tIns="0" rIns="0" bIns="0" anchor="t" anchorCtr="0">
              <a:spAutoFit/>
            </a:bodyPr>
            <a:lstStyle/>
            <a:p>
              <a:pPr algn="l"/>
              <a:r>
                <a:rPr lang="zh-CN" sz="975" b="1" dirty="0">
                  <a:solidFill>
                    <a:srgbClr val="E74C3C"/>
                  </a:solidFill>
                  <a:latin typeface="Arial" panose="020B0604020202020204"/>
                  <a:ea typeface="微软雅黑" panose="020B0503020204020204" charset="-122"/>
                  <a:cs typeface="Arial" panose="020B0604020202020204"/>
                </a:rPr>
                <a:t>分3类</a:t>
              </a:r>
              <a:endParaRPr lang="zh-CN" sz="975" b="1" dirty="0">
                <a:solidFill>
                  <a:srgbClr val="E74C3C"/>
                </a:solidFill>
                <a:latin typeface="Arial" panose="020B0604020202020204"/>
                <a:ea typeface="微软雅黑" panose="020B0503020204020204" charset="-122"/>
                <a:cs typeface="Arial" panose="020B0604020202020204"/>
              </a:endParaRPr>
            </a:p>
          </p:txBody>
        </p:sp>
        <p:sp>
          <p:nvSpPr>
            <p:cNvPr id="43" name="Line 43"/>
            <p:cNvSpPr/>
            <p:nvPr/>
          </p:nvSpPr>
          <p:spPr>
            <a:xfrm>
              <a:off x="1143000" y="5048250"/>
              <a:ext cx="5715000" cy="9525"/>
            </a:xfrm>
            <a:custGeom>
              <a:avLst/>
              <a:gdLst/>
              <a:ahLst/>
              <a:cxnLst/>
              <a:rect l="l" t="t" r="r" b="b"/>
              <a:pathLst>
                <a:path w="5715000" h="9525">
                  <a:moveTo>
                    <a:pt x="0" y="0"/>
                  </a:moveTo>
                  <a:lnTo>
                    <a:pt x="5715000" y="0"/>
                  </a:lnTo>
                </a:path>
              </a:pathLst>
            </a:custGeom>
            <a:noFill/>
            <a:ln w="19050">
              <a:solidFill>
                <a:srgbClr val="E74C3C"/>
              </a:solidFill>
              <a:prstDash val="dash"/>
            </a:ln>
          </p:spPr>
        </p:sp>
        <p:sp>
          <p:nvSpPr>
            <p:cNvPr id="44" name="TextBox 44"/>
            <p:cNvSpPr txBox="1"/>
            <p:nvPr/>
          </p:nvSpPr>
          <p:spPr>
            <a:xfrm>
              <a:off x="6940868" y="4990624"/>
              <a:ext cx="372884" cy="198120"/>
            </a:xfrm>
            <a:prstGeom prst="rect">
              <a:avLst/>
            </a:prstGeom>
            <a:noFill/>
            <a:ln>
              <a:noFill/>
            </a:ln>
          </p:spPr>
          <p:txBody>
            <a:bodyPr wrap="none" lIns="0" tIns="0" rIns="0" bIns="0" anchor="t" anchorCtr="0">
              <a:spAutoFit/>
            </a:bodyPr>
            <a:lstStyle/>
            <a:p>
              <a:pPr algn="l"/>
              <a:r>
                <a:rPr lang="zh-CN" sz="975" b="1" dirty="0">
                  <a:solidFill>
                    <a:srgbClr val="E74C3C"/>
                  </a:solidFill>
                  <a:latin typeface="Arial" panose="020B0604020202020204"/>
                  <a:ea typeface="微软雅黑" panose="020B0503020204020204" charset="-122"/>
                  <a:cs typeface="Arial" panose="020B0604020202020204"/>
                </a:rPr>
                <a:t>分5类</a:t>
              </a:r>
              <a:endParaRPr lang="zh-CN" sz="975" b="1" dirty="0">
                <a:solidFill>
                  <a:srgbClr val="E74C3C"/>
                </a:solidFill>
                <a:latin typeface="Arial" panose="020B0604020202020204"/>
                <a:ea typeface="微软雅黑" panose="020B0503020204020204" charset="-122"/>
                <a:cs typeface="Arial" panose="020B0604020202020204"/>
              </a:endParaRPr>
            </a:p>
          </p:txBody>
        </p:sp>
      </p:grpSp>
      <p:grpSp>
        <p:nvGrpSpPr>
          <p:cNvPr id="65" name="Group 65"/>
          <p:cNvGrpSpPr/>
          <p:nvPr/>
        </p:nvGrpSpPr>
        <p:grpSpPr>
          <a:xfrm>
            <a:off x="7524750" y="1143000"/>
            <a:ext cx="4095750" cy="4572000"/>
            <a:chOff x="7524750" y="1143000"/>
            <a:chExt cx="4095750" cy="4572000"/>
          </a:xfrm>
        </p:grpSpPr>
        <p:sp>
          <p:nvSpPr>
            <p:cNvPr id="46" name="Rectangle 46"/>
            <p:cNvSpPr/>
            <p:nvPr/>
          </p:nvSpPr>
          <p:spPr>
            <a:xfrm>
              <a:off x="7524750" y="1143000"/>
              <a:ext cx="4095750" cy="4572000"/>
            </a:xfrm>
            <a:prstGeom prst="roundRect">
              <a:avLst>
                <a:gd name="adj" fmla="val 1860"/>
              </a:avLst>
            </a:prstGeom>
            <a:solidFill>
              <a:srgbClr val="F5F7FA"/>
            </a:solidFill>
            <a:ln>
              <a:noFill/>
            </a:ln>
          </p:spPr>
        </p:sp>
        <p:sp>
          <p:nvSpPr>
            <p:cNvPr id="47" name="TextBox 47"/>
            <p:cNvSpPr txBox="1"/>
            <p:nvPr/>
          </p:nvSpPr>
          <p:spPr>
            <a:xfrm>
              <a:off x="7699058" y="1338739"/>
              <a:ext cx="1282041" cy="259080"/>
            </a:xfrm>
            <a:prstGeom prst="rect">
              <a:avLst/>
            </a:prstGeom>
            <a:noFill/>
            <a:ln>
              <a:noFill/>
            </a:ln>
          </p:spPr>
          <p:txBody>
            <a:bodyPr wrap="none" lIns="0" tIns="0" rIns="0" bIns="0" anchor="t" anchorCtr="0">
              <a:spAutoFit/>
            </a:bodyPr>
            <a:lstStyle/>
            <a:p>
              <a:pPr algn="l"/>
              <a:r>
                <a:rPr lang="zh-CN" sz="1275" b="1" dirty="0">
                  <a:solidFill>
                    <a:srgbClr val="1A5276"/>
                  </a:solidFill>
                  <a:latin typeface="Arial" panose="020B0604020202020204"/>
                  <a:ea typeface="微软雅黑" panose="020B0503020204020204" charset="-122"/>
                  <a:cs typeface="Arial" panose="020B0604020202020204"/>
                </a:rPr>
                <a:t>树状图怎么看？</a:t>
              </a:r>
              <a:endParaRPr lang="zh-CN" sz="1275" b="1" dirty="0">
                <a:solidFill>
                  <a:srgbClr val="1A5276"/>
                </a:solidFill>
                <a:latin typeface="Arial" panose="020B0604020202020204"/>
                <a:ea typeface="微软雅黑" panose="020B0503020204020204" charset="-122"/>
                <a:cs typeface="Arial" panose="020B0604020202020204"/>
              </a:endParaRPr>
            </a:p>
          </p:txBody>
        </p:sp>
        <p:sp>
          <p:nvSpPr>
            <p:cNvPr id="48" name="TextBox 48"/>
            <p:cNvSpPr txBox="1"/>
            <p:nvPr/>
          </p:nvSpPr>
          <p:spPr>
            <a:xfrm>
              <a:off x="7702868" y="1656874"/>
              <a:ext cx="1448443"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① 横轴：数据点（30个）</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49" name="TextBox 49"/>
            <p:cNvSpPr txBox="1"/>
            <p:nvPr/>
          </p:nvSpPr>
          <p:spPr>
            <a:xfrm>
              <a:off x="7702868" y="1875949"/>
              <a:ext cx="1246918"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② 纵轴：距离/相似度</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50" name="TextBox 50"/>
            <p:cNvSpPr txBox="1"/>
            <p:nvPr/>
          </p:nvSpPr>
          <p:spPr>
            <a:xfrm>
              <a:off x="7702868" y="2095024"/>
              <a:ext cx="1825490"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③ 垂直线：数据点或合并后的簇</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7702868" y="2314099"/>
              <a:ext cx="1825490"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④ 水平线：将两个簇合并在一起</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52" name="Line 52"/>
            <p:cNvSpPr/>
            <p:nvPr/>
          </p:nvSpPr>
          <p:spPr>
            <a:xfrm>
              <a:off x="7715250" y="2619375"/>
              <a:ext cx="3619500" cy="9525"/>
            </a:xfrm>
            <a:custGeom>
              <a:avLst/>
              <a:gdLst/>
              <a:ahLst/>
              <a:cxnLst/>
              <a:rect l="l" t="t" r="r" b="b"/>
              <a:pathLst>
                <a:path w="3619500" h="9525">
                  <a:moveTo>
                    <a:pt x="0" y="0"/>
                  </a:moveTo>
                  <a:lnTo>
                    <a:pt x="3619500" y="0"/>
                  </a:lnTo>
                </a:path>
              </a:pathLst>
            </a:custGeom>
            <a:noFill/>
            <a:ln w="9525">
              <a:solidFill>
                <a:srgbClr val="D5D8DC"/>
              </a:solidFill>
            </a:ln>
          </p:spPr>
        </p:sp>
        <p:sp>
          <p:nvSpPr>
            <p:cNvPr id="53" name="TextBox 53"/>
            <p:cNvSpPr txBox="1"/>
            <p:nvPr/>
          </p:nvSpPr>
          <p:spPr>
            <a:xfrm>
              <a:off x="7701915" y="2744152"/>
              <a:ext cx="1202817" cy="213360"/>
            </a:xfrm>
            <a:prstGeom prst="rect">
              <a:avLst/>
            </a:prstGeom>
            <a:noFill/>
            <a:ln>
              <a:noFill/>
            </a:ln>
          </p:spPr>
          <p:txBody>
            <a:bodyPr wrap="none" lIns="0" tIns="0" rIns="0" bIns="0" anchor="t" anchorCtr="0">
              <a:spAutoFit/>
            </a:bodyPr>
            <a:lstStyle/>
            <a:p>
              <a:pPr algn="l"/>
              <a:r>
                <a:rPr lang="zh-CN" sz="1050" b="1" dirty="0">
                  <a:solidFill>
                    <a:srgbClr val="E74C3C"/>
                  </a:solidFill>
                  <a:latin typeface="Arial" panose="020B0604020202020204"/>
                  <a:ea typeface="微软雅黑" panose="020B0503020204020204" charset="-122"/>
                  <a:cs typeface="Arial" panose="020B0604020202020204"/>
                </a:rPr>
                <a:t>如何确定类别数？</a:t>
              </a:r>
              <a:endParaRPr lang="zh-CN" sz="1050" b="1" dirty="0">
                <a:solidFill>
                  <a:srgbClr val="E74C3C"/>
                </a:solidFill>
                <a:latin typeface="Arial" panose="020B0604020202020204"/>
                <a:ea typeface="微软雅黑" panose="020B0503020204020204" charset="-122"/>
                <a:cs typeface="Arial" panose="020B0604020202020204"/>
              </a:endParaRPr>
            </a:p>
          </p:txBody>
        </p:sp>
        <p:sp>
          <p:nvSpPr>
            <p:cNvPr id="54" name="TextBox 54"/>
            <p:cNvSpPr txBox="1"/>
            <p:nvPr/>
          </p:nvSpPr>
          <p:spPr>
            <a:xfrm>
              <a:off x="7702868" y="3018949"/>
              <a:ext cx="1454944"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画一条横线从上往下平移</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55" name="TextBox 55"/>
            <p:cNvSpPr txBox="1"/>
            <p:nvPr/>
          </p:nvSpPr>
          <p:spPr>
            <a:xfrm>
              <a:off x="7702868" y="3238024"/>
              <a:ext cx="1656469"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与多少条垂直线相交→分几类</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56" name="Line 56"/>
            <p:cNvSpPr/>
            <p:nvPr/>
          </p:nvSpPr>
          <p:spPr>
            <a:xfrm>
              <a:off x="7715250" y="3571875"/>
              <a:ext cx="3619500" cy="9525"/>
            </a:xfrm>
            <a:custGeom>
              <a:avLst/>
              <a:gdLst/>
              <a:ahLst/>
              <a:cxnLst/>
              <a:rect l="l" t="t" r="r" b="b"/>
              <a:pathLst>
                <a:path w="3619500" h="9525">
                  <a:moveTo>
                    <a:pt x="0" y="0"/>
                  </a:moveTo>
                  <a:lnTo>
                    <a:pt x="3619500" y="0"/>
                  </a:lnTo>
                </a:path>
              </a:pathLst>
            </a:custGeom>
            <a:noFill/>
            <a:ln w="9525">
              <a:solidFill>
                <a:srgbClr val="D5D8DC"/>
              </a:solidFill>
            </a:ln>
          </p:spPr>
        </p:sp>
        <p:sp>
          <p:nvSpPr>
            <p:cNvPr id="57" name="TextBox 57"/>
            <p:cNvSpPr txBox="1"/>
            <p:nvPr/>
          </p:nvSpPr>
          <p:spPr>
            <a:xfrm>
              <a:off x="7701915" y="3696652"/>
              <a:ext cx="320707" cy="213360"/>
            </a:xfrm>
            <a:prstGeom prst="rect">
              <a:avLst/>
            </a:prstGeom>
            <a:noFill/>
            <a:ln>
              <a:noFill/>
            </a:ln>
          </p:spPr>
          <p:txBody>
            <a:bodyPr wrap="none" lIns="0" tIns="0" rIns="0" bIns="0" anchor="t" anchorCtr="0">
              <a:spAutoFit/>
            </a:bodyPr>
            <a:lstStyle/>
            <a:p>
              <a:pPr algn="l"/>
              <a:r>
                <a:rPr lang="zh-CN" sz="1050" b="1" dirty="0">
                  <a:solidFill>
                    <a:srgbClr val="E74C3C"/>
                  </a:solidFill>
                  <a:latin typeface="Arial" panose="020B0604020202020204"/>
                  <a:ea typeface="微软雅黑" panose="020B0503020204020204" charset="-122"/>
                  <a:cs typeface="Arial" panose="020B0604020202020204"/>
                </a:rPr>
                <a:t>例子</a:t>
              </a:r>
              <a:endParaRPr lang="zh-CN" sz="1050" b="1" dirty="0">
                <a:solidFill>
                  <a:srgbClr val="E74C3C"/>
                </a:solidFill>
                <a:latin typeface="Arial" panose="020B0604020202020204"/>
                <a:ea typeface="微软雅黑" panose="020B0503020204020204" charset="-122"/>
                <a:cs typeface="Arial" panose="020B0604020202020204"/>
              </a:endParaRPr>
            </a:p>
          </p:txBody>
        </p:sp>
        <p:sp>
          <p:nvSpPr>
            <p:cNvPr id="58" name="TextBox 58"/>
            <p:cNvSpPr txBox="1"/>
            <p:nvPr/>
          </p:nvSpPr>
          <p:spPr>
            <a:xfrm>
              <a:off x="7702868" y="3971449"/>
              <a:ext cx="1799487"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红线在位置A（分3类）：与3条</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59" name="TextBox 59"/>
            <p:cNvSpPr txBox="1"/>
            <p:nvPr/>
          </p:nvSpPr>
          <p:spPr>
            <a:xfrm>
              <a:off x="7702868" y="4161949"/>
              <a:ext cx="1155906"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垂直线相交 → 3个簇</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60" name="TextBox 60"/>
            <p:cNvSpPr txBox="1"/>
            <p:nvPr/>
          </p:nvSpPr>
          <p:spPr>
            <a:xfrm>
              <a:off x="7702868" y="4447699"/>
              <a:ext cx="1799487"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红线在位置B（分5类）：与5条</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61" name="TextBox 61"/>
            <p:cNvSpPr txBox="1"/>
            <p:nvPr/>
          </p:nvSpPr>
          <p:spPr>
            <a:xfrm>
              <a:off x="7702868" y="4638199"/>
              <a:ext cx="1155906"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垂直线相交 → 5个簇</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62" name="Line 62"/>
            <p:cNvSpPr/>
            <p:nvPr/>
          </p:nvSpPr>
          <p:spPr>
            <a:xfrm>
              <a:off x="7715250" y="4953000"/>
              <a:ext cx="3619500" cy="9525"/>
            </a:xfrm>
            <a:custGeom>
              <a:avLst/>
              <a:gdLst/>
              <a:ahLst/>
              <a:cxnLst/>
              <a:rect l="l" t="t" r="r" b="b"/>
              <a:pathLst>
                <a:path w="3619500" h="9525">
                  <a:moveTo>
                    <a:pt x="0" y="0"/>
                  </a:moveTo>
                  <a:lnTo>
                    <a:pt x="3619500" y="0"/>
                  </a:lnTo>
                </a:path>
              </a:pathLst>
            </a:custGeom>
            <a:noFill/>
            <a:ln w="9525">
              <a:solidFill>
                <a:srgbClr val="D5D8DC"/>
              </a:solidFill>
            </a:ln>
          </p:spPr>
        </p:sp>
        <p:sp>
          <p:nvSpPr>
            <p:cNvPr id="63" name="TextBox 63"/>
            <p:cNvSpPr txBox="1"/>
            <p:nvPr/>
          </p:nvSpPr>
          <p:spPr>
            <a:xfrm>
              <a:off x="7702868" y="5085874"/>
              <a:ext cx="2599087"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注：dendrogram函数默认底部画30个节点，</a:t>
              </a:r>
              <a:endParaRPr lang="zh-CN" sz="975" dirty="0">
                <a:solidFill>
                  <a:srgbClr val="7F8C8D"/>
                </a:solidFill>
                <a:latin typeface="Arial" panose="020B0604020202020204"/>
                <a:ea typeface="微软雅黑" panose="020B0503020204020204" charset="-122"/>
                <a:cs typeface="Arial" panose="020B0604020202020204"/>
              </a:endParaRPr>
            </a:p>
          </p:txBody>
        </p:sp>
        <p:sp>
          <p:nvSpPr>
            <p:cNvPr id="64" name="TextBox 64"/>
            <p:cNvSpPr txBox="1"/>
            <p:nvPr/>
          </p:nvSpPr>
          <p:spPr>
            <a:xfrm>
              <a:off x="7702868" y="5276374"/>
              <a:ext cx="934879" cy="198120"/>
            </a:xfrm>
            <a:prstGeom prst="rect">
              <a:avLst/>
            </a:prstGeom>
            <a:noFill/>
            <a:ln>
              <a:noFill/>
            </a:ln>
          </p:spPr>
          <p:txBody>
            <a:bodyPr wrap="none" lIns="0" tIns="0" rIns="0" bIns="0" anchor="t" anchorCtr="0">
              <a:spAutoFit/>
            </a:bodyPr>
            <a:lstStyle/>
            <a:p>
              <a:pPr algn="l"/>
              <a:r>
                <a:rPr lang="zh-CN" sz="975" dirty="0">
                  <a:solidFill>
                    <a:srgbClr val="7F8C8D"/>
                  </a:solidFill>
                  <a:latin typeface="Arial" panose="020B0604020202020204"/>
                  <a:ea typeface="微软雅黑" panose="020B0503020204020204" charset="-122"/>
                  <a:cs typeface="Arial" panose="020B0604020202020204"/>
                </a:rPr>
                <a:t>使树状图更清晰</a:t>
              </a:r>
              <a:endParaRPr lang="zh-CN" sz="975" dirty="0">
                <a:solidFill>
                  <a:srgbClr val="7F8C8D"/>
                </a:solidFill>
                <a:latin typeface="Arial" panose="020B0604020202020204"/>
                <a:ea typeface="微软雅黑" panose="020B0503020204020204" charset="-122"/>
                <a:cs typeface="Arial" panose="020B0604020202020204"/>
              </a:endParaRPr>
            </a:p>
          </p:txBody>
        </p:sp>
      </p:grpSp>
      <p:sp>
        <p:nvSpPr>
          <p:cNvPr id="66" name="TextBox 66"/>
          <p:cNvSpPr txBox="1"/>
          <p:nvPr/>
        </p:nvSpPr>
        <p:spPr>
          <a:xfrm>
            <a:off x="6018562" y="6570345"/>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06</a:t>
            </a:r>
            <a:endParaRPr lang="zh-CN" sz="900"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400"/>
                                        <p:tgtEl>
                                          <p:spTgt spid="4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slide(fromBottom)">
                                      <p:cBhvr>
                                        <p:cTn id="11"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6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71500" y="381000"/>
            <a:ext cx="11049000" cy="581025"/>
            <a:chOff x="571500" y="381000"/>
            <a:chExt cx="11049000" cy="581025"/>
          </a:xfrm>
        </p:grpSpPr>
        <p:sp>
          <p:nvSpPr>
            <p:cNvPr id="3" name="Rectangle 3"/>
            <p:cNvSpPr/>
            <p:nvPr/>
          </p:nvSpPr>
          <p:spPr>
            <a:xfrm>
              <a:off x="571500" y="381000"/>
              <a:ext cx="38100" cy="304800"/>
            </a:xfrm>
            <a:prstGeom prst="roundRect">
              <a:avLst>
                <a:gd name="adj" fmla="val 50000"/>
              </a:avLst>
            </a:prstGeom>
            <a:gradFill>
              <a:gsLst>
                <a:gs pos="0">
                  <a:srgbClr val="1A5276"/>
                </a:gs>
                <a:gs pos="100000">
                  <a:srgbClr val="3498DB"/>
                </a:gs>
              </a:gsLst>
              <a:lin ang="0" scaled="1"/>
            </a:gradFill>
            <a:ln>
              <a:noFill/>
            </a:ln>
          </p:spPr>
        </p:sp>
        <p:sp>
          <p:nvSpPr>
            <p:cNvPr id="4" name="TextBox 4"/>
            <p:cNvSpPr txBox="1"/>
            <p:nvPr/>
          </p:nvSpPr>
          <p:spPr>
            <a:xfrm>
              <a:off x="737235" y="399098"/>
              <a:ext cx="4745717" cy="396240"/>
            </a:xfrm>
            <a:prstGeom prst="rect">
              <a:avLst/>
            </a:prstGeom>
            <a:noFill/>
            <a:ln>
              <a:noFill/>
            </a:ln>
          </p:spPr>
          <p:txBody>
            <a:bodyPr wrap="none" lIns="0" tIns="0" rIns="0" bIns="0" anchor="t" anchorCtr="0">
              <a:spAutoFit/>
            </a:bodyPr>
            <a:lstStyle/>
            <a:p>
              <a:pPr algn="l"/>
              <a:r>
                <a:rPr lang="zh-CN" sz="1950" b="1" dirty="0">
                  <a:solidFill>
                    <a:srgbClr val="2C3E50"/>
                  </a:solidFill>
                  <a:latin typeface="Arial" panose="020B0604020202020204"/>
                  <a:ea typeface="微软雅黑" panose="020B0503020204020204" charset="-122"/>
                  <a:cs typeface="Arial" panose="020B0604020202020204"/>
                </a:rPr>
                <a:t>K-means vs 层次聚类 对比 + 读书笔记</a:t>
              </a:r>
              <a:endParaRPr lang="zh-CN" sz="1950" b="1" dirty="0">
                <a:solidFill>
                  <a:srgbClr val="2C3E50"/>
                </a:solidFill>
                <a:latin typeface="Arial" panose="020B0604020202020204"/>
                <a:ea typeface="微软雅黑" panose="020B0503020204020204" charset="-122"/>
                <a:cs typeface="Arial" panose="020B0604020202020204"/>
              </a:endParaRPr>
            </a:p>
          </p:txBody>
        </p:sp>
        <p:sp>
          <p:nvSpPr>
            <p:cNvPr id="5" name="Line 5"/>
            <p:cNvSpPr/>
            <p:nvPr/>
          </p:nvSpPr>
          <p:spPr>
            <a:xfrm>
              <a:off x="571500" y="952500"/>
              <a:ext cx="11049000" cy="9525"/>
            </a:xfrm>
            <a:custGeom>
              <a:avLst/>
              <a:gdLst/>
              <a:ahLst/>
              <a:cxnLst/>
              <a:rect l="l" t="t" r="r" b="b"/>
              <a:pathLst>
                <a:path w="11049000" h="9525">
                  <a:moveTo>
                    <a:pt x="0" y="0"/>
                  </a:moveTo>
                  <a:lnTo>
                    <a:pt x="11049000" y="0"/>
                  </a:lnTo>
                </a:path>
              </a:pathLst>
            </a:custGeom>
            <a:noFill/>
            <a:ln w="9525">
              <a:solidFill>
                <a:srgbClr val="D5D8DC"/>
              </a:solidFill>
            </a:ln>
          </p:spPr>
        </p:sp>
      </p:grpSp>
      <p:grpSp>
        <p:nvGrpSpPr>
          <p:cNvPr id="56" name="Group 56"/>
          <p:cNvGrpSpPr/>
          <p:nvPr/>
        </p:nvGrpSpPr>
        <p:grpSpPr>
          <a:xfrm>
            <a:off x="571500" y="1092518"/>
            <a:ext cx="11049000" cy="3041332"/>
            <a:chOff x="571500" y="1092518"/>
            <a:chExt cx="11049000" cy="3041332"/>
          </a:xfrm>
        </p:grpSpPr>
        <p:sp>
          <p:nvSpPr>
            <p:cNvPr id="7" name="TextBox 7"/>
            <p:cNvSpPr txBox="1"/>
            <p:nvPr/>
          </p:nvSpPr>
          <p:spPr>
            <a:xfrm>
              <a:off x="744855" y="1092518"/>
              <a:ext cx="790384"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panose="020B0604020202020204"/>
                  <a:ea typeface="微软雅黑" panose="020B0503020204020204" charset="-122"/>
                  <a:cs typeface="Arial" panose="020B0604020202020204"/>
                </a:rPr>
                <a:t>算法对比</a:t>
              </a:r>
              <a:endParaRPr lang="zh-CN" sz="1350" b="1" dirty="0">
                <a:solidFill>
                  <a:srgbClr val="1A5276"/>
                </a:solidFill>
                <a:latin typeface="Arial" panose="020B0604020202020204"/>
                <a:ea typeface="微软雅黑" panose="020B0503020204020204" charset="-122"/>
                <a:cs typeface="Arial" panose="020B0604020202020204"/>
              </a:endParaRPr>
            </a:p>
          </p:txBody>
        </p:sp>
        <p:sp>
          <p:nvSpPr>
            <p:cNvPr id="8" name="Rectangle 8"/>
            <p:cNvSpPr/>
            <p:nvPr/>
          </p:nvSpPr>
          <p:spPr>
            <a:xfrm>
              <a:off x="571500" y="1428750"/>
              <a:ext cx="3429000" cy="419100"/>
            </a:xfrm>
            <a:prstGeom prst="roundRect">
              <a:avLst>
                <a:gd name="adj" fmla="val 18182"/>
              </a:avLst>
            </a:prstGeom>
            <a:solidFill>
              <a:srgbClr val="1A5276"/>
            </a:solidFill>
            <a:ln>
              <a:noFill/>
            </a:ln>
          </p:spPr>
        </p:sp>
        <p:sp>
          <p:nvSpPr>
            <p:cNvPr id="9" name="TextBox 9"/>
            <p:cNvSpPr txBox="1"/>
            <p:nvPr/>
          </p:nvSpPr>
          <p:spPr>
            <a:xfrm>
              <a:off x="1956673" y="1574006"/>
              <a:ext cx="65865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panose="020B0604020202020204"/>
                  <a:ea typeface="微软雅黑" panose="020B0503020204020204" charset="-122"/>
                  <a:cs typeface="Arial" panose="020B0604020202020204"/>
                </a:rPr>
                <a:t>对比维度</a:t>
              </a:r>
              <a:endParaRPr lang="zh-CN" sz="1125" b="1" dirty="0">
                <a:solidFill>
                  <a:srgbClr val="FFFFFF"/>
                </a:solidFill>
                <a:latin typeface="Arial" panose="020B0604020202020204"/>
                <a:ea typeface="微软雅黑" panose="020B0503020204020204" charset="-122"/>
                <a:cs typeface="Arial" panose="020B0604020202020204"/>
              </a:endParaRPr>
            </a:p>
          </p:txBody>
        </p:sp>
        <p:sp>
          <p:nvSpPr>
            <p:cNvPr id="10" name="Rectangle 10"/>
            <p:cNvSpPr/>
            <p:nvPr/>
          </p:nvSpPr>
          <p:spPr>
            <a:xfrm>
              <a:off x="4000500" y="1428750"/>
              <a:ext cx="3810000" cy="419100"/>
            </a:xfrm>
            <a:prstGeom prst="roundRect">
              <a:avLst>
                <a:gd name="adj" fmla="val 18182"/>
              </a:avLst>
            </a:prstGeom>
            <a:solidFill>
              <a:srgbClr val="2980B9"/>
            </a:solidFill>
            <a:ln>
              <a:noFill/>
            </a:ln>
          </p:spPr>
        </p:sp>
        <p:sp>
          <p:nvSpPr>
            <p:cNvPr id="11" name="TextBox 11"/>
            <p:cNvSpPr txBox="1"/>
            <p:nvPr/>
          </p:nvSpPr>
          <p:spPr>
            <a:xfrm>
              <a:off x="5572235" y="1574006"/>
              <a:ext cx="66653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panose="020B0604020202020204"/>
                  <a:ea typeface="微软雅黑" panose="020B0503020204020204" charset="-122"/>
                  <a:cs typeface="Arial" panose="020B0604020202020204"/>
                </a:rPr>
                <a:t>K-means</a:t>
              </a:r>
              <a:endParaRPr lang="zh-CN" sz="1125" b="1" dirty="0">
                <a:solidFill>
                  <a:srgbClr val="FFFFFF"/>
                </a:solidFill>
                <a:latin typeface="Arial" panose="020B0604020202020204"/>
                <a:ea typeface="微软雅黑" panose="020B0503020204020204" charset="-122"/>
                <a:cs typeface="Arial" panose="020B0604020202020204"/>
              </a:endParaRPr>
            </a:p>
          </p:txBody>
        </p:sp>
        <p:sp>
          <p:nvSpPr>
            <p:cNvPr id="12" name="Rectangle 12"/>
            <p:cNvSpPr/>
            <p:nvPr/>
          </p:nvSpPr>
          <p:spPr>
            <a:xfrm>
              <a:off x="7810500" y="1428750"/>
              <a:ext cx="3810000" cy="419100"/>
            </a:xfrm>
            <a:prstGeom prst="roundRect">
              <a:avLst>
                <a:gd name="adj" fmla="val 18182"/>
              </a:avLst>
            </a:prstGeom>
            <a:solidFill>
              <a:srgbClr val="E74C3C"/>
            </a:solidFill>
            <a:ln>
              <a:noFill/>
            </a:ln>
          </p:spPr>
        </p:sp>
        <p:sp>
          <p:nvSpPr>
            <p:cNvPr id="13" name="TextBox 13"/>
            <p:cNvSpPr txBox="1"/>
            <p:nvPr/>
          </p:nvSpPr>
          <p:spPr>
            <a:xfrm>
              <a:off x="9386173" y="1574006"/>
              <a:ext cx="65865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panose="020B0604020202020204"/>
                  <a:ea typeface="微软雅黑" panose="020B0503020204020204" charset="-122"/>
                  <a:cs typeface="Arial" panose="020B0604020202020204"/>
                </a:rPr>
                <a:t>层次聚类</a:t>
              </a:r>
              <a:endParaRPr lang="zh-CN" sz="1125" b="1" dirty="0">
                <a:solidFill>
                  <a:srgbClr val="FFFFFF"/>
                </a:solidFill>
                <a:latin typeface="Arial" panose="020B0604020202020204"/>
                <a:ea typeface="微软雅黑" panose="020B0503020204020204" charset="-122"/>
                <a:cs typeface="Arial" panose="020B0604020202020204"/>
              </a:endParaRPr>
            </a:p>
          </p:txBody>
        </p:sp>
        <p:grpSp>
          <p:nvGrpSpPr>
            <p:cNvPr id="20" name="Group 20"/>
            <p:cNvGrpSpPr/>
            <p:nvPr/>
          </p:nvGrpSpPr>
          <p:grpSpPr>
            <a:xfrm>
              <a:off x="571500" y="1847850"/>
              <a:ext cx="11049000" cy="381000"/>
              <a:chOff x="571500" y="1847850"/>
              <a:chExt cx="11049000" cy="381000"/>
            </a:xfrm>
          </p:grpSpPr>
          <p:sp>
            <p:nvSpPr>
              <p:cNvPr id="14" name="Rectangle 14"/>
              <p:cNvSpPr/>
              <p:nvPr/>
            </p:nvSpPr>
            <p:spPr>
              <a:xfrm>
                <a:off x="571500" y="1847850"/>
                <a:ext cx="3429000" cy="381000"/>
              </a:xfrm>
              <a:prstGeom prst="rect">
                <a:avLst/>
              </a:prstGeom>
              <a:solidFill>
                <a:srgbClr val="F5F7FA"/>
              </a:solidFill>
              <a:ln>
                <a:noFill/>
              </a:ln>
            </p:spPr>
          </p:sp>
          <p:sp>
            <p:nvSpPr>
              <p:cNvPr id="15" name="TextBox 15"/>
              <p:cNvSpPr txBox="1"/>
              <p:nvPr/>
            </p:nvSpPr>
            <p:spPr>
              <a:xfrm>
                <a:off x="749618" y="1990249"/>
                <a:ext cx="570833" cy="198120"/>
              </a:xfrm>
              <a:prstGeom prst="rect">
                <a:avLst/>
              </a:prstGeom>
              <a:noFill/>
              <a:ln>
                <a:noFill/>
              </a:ln>
            </p:spPr>
            <p:txBody>
              <a:bodyPr wrap="none" lIns="0" tIns="0" rIns="0" bIns="0" anchor="t" anchorCtr="0">
                <a:spAutoFit/>
              </a:bodyPr>
              <a:lstStyle/>
              <a:p>
                <a:pPr algn="l"/>
                <a:r>
                  <a:rPr lang="zh-CN" sz="975" b="1" dirty="0">
                    <a:solidFill>
                      <a:srgbClr val="2C3E50"/>
                    </a:solidFill>
                    <a:latin typeface="Arial" panose="020B0604020202020204"/>
                    <a:ea typeface="微软雅黑" panose="020B0503020204020204" charset="-122"/>
                    <a:cs typeface="Arial" panose="020B0604020202020204"/>
                  </a:rPr>
                  <a:t>聚类方式</a:t>
                </a:r>
                <a:endParaRPr lang="zh-CN" sz="975" b="1" dirty="0">
                  <a:solidFill>
                    <a:srgbClr val="2C3E50"/>
                  </a:solidFill>
                  <a:latin typeface="Arial" panose="020B0604020202020204"/>
                  <a:ea typeface="微软雅黑" panose="020B0503020204020204" charset="-122"/>
                  <a:cs typeface="Arial" panose="020B0604020202020204"/>
                </a:endParaRPr>
              </a:p>
            </p:txBody>
          </p:sp>
          <p:sp>
            <p:nvSpPr>
              <p:cNvPr id="16" name="Rectangle 16"/>
              <p:cNvSpPr/>
              <p:nvPr/>
            </p:nvSpPr>
            <p:spPr>
              <a:xfrm>
                <a:off x="4000500" y="1847850"/>
                <a:ext cx="3810000" cy="381000"/>
              </a:xfrm>
              <a:prstGeom prst="rect">
                <a:avLst/>
              </a:prstGeom>
              <a:solidFill>
                <a:srgbClr val="FFFFFF"/>
              </a:solidFill>
              <a:ln>
                <a:noFill/>
              </a:ln>
            </p:spPr>
          </p:sp>
          <p:sp>
            <p:nvSpPr>
              <p:cNvPr id="17" name="TextBox 17"/>
              <p:cNvSpPr txBox="1"/>
              <p:nvPr/>
            </p:nvSpPr>
            <p:spPr>
              <a:xfrm>
                <a:off x="4178618" y="1990249"/>
                <a:ext cx="544830"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划分聚类</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18" name="Rectangle 18"/>
              <p:cNvSpPr/>
              <p:nvPr/>
            </p:nvSpPr>
            <p:spPr>
              <a:xfrm>
                <a:off x="7810500" y="1847850"/>
                <a:ext cx="3810000" cy="381000"/>
              </a:xfrm>
              <a:prstGeom prst="rect">
                <a:avLst/>
              </a:prstGeom>
              <a:solidFill>
                <a:srgbClr val="F5F7FA"/>
              </a:solidFill>
              <a:ln>
                <a:noFill/>
              </a:ln>
            </p:spPr>
          </p:sp>
          <p:sp>
            <p:nvSpPr>
              <p:cNvPr id="19" name="TextBox 19"/>
              <p:cNvSpPr txBox="1"/>
              <p:nvPr/>
            </p:nvSpPr>
            <p:spPr>
              <a:xfrm>
                <a:off x="7988618" y="1990249"/>
                <a:ext cx="616339"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凝聚/分裂</a:t>
                </a:r>
                <a:endParaRPr lang="zh-CN" sz="975" dirty="0">
                  <a:solidFill>
                    <a:srgbClr val="2C3E50"/>
                  </a:solidFill>
                  <a:latin typeface="Arial" panose="020B0604020202020204"/>
                  <a:ea typeface="微软雅黑" panose="020B0503020204020204" charset="-122"/>
                  <a:cs typeface="Arial" panose="020B0604020202020204"/>
                </a:endParaRPr>
              </a:p>
            </p:txBody>
          </p:sp>
        </p:grpSp>
        <p:grpSp>
          <p:nvGrpSpPr>
            <p:cNvPr id="27" name="Group 27"/>
            <p:cNvGrpSpPr/>
            <p:nvPr/>
          </p:nvGrpSpPr>
          <p:grpSpPr>
            <a:xfrm>
              <a:off x="571500" y="2228850"/>
              <a:ext cx="11049000" cy="381000"/>
              <a:chOff x="571500" y="2228850"/>
              <a:chExt cx="11049000" cy="381000"/>
            </a:xfrm>
          </p:grpSpPr>
          <p:sp>
            <p:nvSpPr>
              <p:cNvPr id="21" name="Rectangle 21"/>
              <p:cNvSpPr/>
              <p:nvPr/>
            </p:nvSpPr>
            <p:spPr>
              <a:xfrm>
                <a:off x="571500" y="2228850"/>
                <a:ext cx="3429000" cy="381000"/>
              </a:xfrm>
              <a:prstGeom prst="rect">
                <a:avLst/>
              </a:prstGeom>
              <a:solidFill>
                <a:srgbClr val="FFFFFF"/>
              </a:solidFill>
              <a:ln>
                <a:noFill/>
              </a:ln>
            </p:spPr>
          </p:sp>
          <p:sp>
            <p:nvSpPr>
              <p:cNvPr id="22" name="TextBox 22"/>
              <p:cNvSpPr txBox="1"/>
              <p:nvPr/>
            </p:nvSpPr>
            <p:spPr>
              <a:xfrm>
                <a:off x="749618" y="2371249"/>
                <a:ext cx="236366" cy="198120"/>
              </a:xfrm>
              <a:prstGeom prst="rect">
                <a:avLst/>
              </a:prstGeom>
              <a:noFill/>
              <a:ln>
                <a:noFill/>
              </a:ln>
            </p:spPr>
            <p:txBody>
              <a:bodyPr wrap="none" lIns="0" tIns="0" rIns="0" bIns="0" anchor="t" anchorCtr="0">
                <a:spAutoFit/>
              </a:bodyPr>
              <a:lstStyle/>
              <a:p>
                <a:pPr algn="l"/>
                <a:r>
                  <a:rPr lang="zh-CN" sz="975" b="1" dirty="0">
                    <a:solidFill>
                      <a:srgbClr val="2C3E50"/>
                    </a:solidFill>
                    <a:latin typeface="Arial" panose="020B0604020202020204"/>
                    <a:ea typeface="微软雅黑" panose="020B0503020204020204" charset="-122"/>
                    <a:cs typeface="Arial" panose="020B0604020202020204"/>
                  </a:rPr>
                  <a:t>K值</a:t>
                </a:r>
                <a:endParaRPr lang="zh-CN" sz="975" b="1" dirty="0">
                  <a:solidFill>
                    <a:srgbClr val="2C3E50"/>
                  </a:solidFill>
                  <a:latin typeface="Arial" panose="020B0604020202020204"/>
                  <a:ea typeface="微软雅黑" panose="020B0503020204020204" charset="-122"/>
                  <a:cs typeface="Arial" panose="020B0604020202020204"/>
                </a:endParaRPr>
              </a:p>
            </p:txBody>
          </p:sp>
          <p:sp>
            <p:nvSpPr>
              <p:cNvPr id="23" name="Rectangle 23"/>
              <p:cNvSpPr/>
              <p:nvPr/>
            </p:nvSpPr>
            <p:spPr>
              <a:xfrm>
                <a:off x="4000500" y="2228850"/>
                <a:ext cx="3810000" cy="381000"/>
              </a:xfrm>
              <a:prstGeom prst="rect">
                <a:avLst/>
              </a:prstGeom>
              <a:solidFill>
                <a:srgbClr val="F5F7FA"/>
              </a:solidFill>
              <a:ln>
                <a:noFill/>
              </a:ln>
            </p:spPr>
          </p:sp>
          <p:sp>
            <p:nvSpPr>
              <p:cNvPr id="24" name="TextBox 24"/>
              <p:cNvSpPr txBox="1"/>
              <p:nvPr/>
            </p:nvSpPr>
            <p:spPr>
              <a:xfrm>
                <a:off x="4178618" y="2371249"/>
                <a:ext cx="804862"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需要预先指定</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25" name="Rectangle 25"/>
              <p:cNvSpPr/>
              <p:nvPr/>
            </p:nvSpPr>
            <p:spPr>
              <a:xfrm>
                <a:off x="7810500" y="2228850"/>
                <a:ext cx="3810000" cy="381000"/>
              </a:xfrm>
              <a:prstGeom prst="rect">
                <a:avLst/>
              </a:prstGeom>
              <a:solidFill>
                <a:srgbClr val="FFFFFF"/>
              </a:solidFill>
              <a:ln>
                <a:noFill/>
              </a:ln>
            </p:spPr>
          </p:sp>
          <p:sp>
            <p:nvSpPr>
              <p:cNvPr id="26" name="TextBox 26"/>
              <p:cNvSpPr txBox="1"/>
              <p:nvPr/>
            </p:nvSpPr>
            <p:spPr>
              <a:xfrm>
                <a:off x="7988618" y="2371249"/>
                <a:ext cx="934879"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通过树状图确定</a:t>
                </a:r>
                <a:endParaRPr lang="zh-CN" sz="975" dirty="0">
                  <a:solidFill>
                    <a:srgbClr val="2C3E50"/>
                  </a:solidFill>
                  <a:latin typeface="Arial" panose="020B0604020202020204"/>
                  <a:ea typeface="微软雅黑" panose="020B0503020204020204" charset="-122"/>
                  <a:cs typeface="Arial" panose="020B0604020202020204"/>
                </a:endParaRPr>
              </a:p>
            </p:txBody>
          </p:sp>
        </p:grpSp>
        <p:grpSp>
          <p:nvGrpSpPr>
            <p:cNvPr id="34" name="Group 34"/>
            <p:cNvGrpSpPr/>
            <p:nvPr/>
          </p:nvGrpSpPr>
          <p:grpSpPr>
            <a:xfrm>
              <a:off x="571500" y="2609850"/>
              <a:ext cx="11049000" cy="381000"/>
              <a:chOff x="571500" y="2609850"/>
              <a:chExt cx="11049000" cy="381000"/>
            </a:xfrm>
          </p:grpSpPr>
          <p:sp>
            <p:nvSpPr>
              <p:cNvPr id="28" name="Rectangle 28"/>
              <p:cNvSpPr/>
              <p:nvPr/>
            </p:nvSpPr>
            <p:spPr>
              <a:xfrm>
                <a:off x="571500" y="2609850"/>
                <a:ext cx="3429000" cy="381000"/>
              </a:xfrm>
              <a:prstGeom prst="rect">
                <a:avLst/>
              </a:prstGeom>
              <a:solidFill>
                <a:srgbClr val="F5F7FA"/>
              </a:solidFill>
              <a:ln>
                <a:noFill/>
              </a:ln>
            </p:spPr>
          </p:sp>
          <p:sp>
            <p:nvSpPr>
              <p:cNvPr id="29" name="TextBox 29"/>
              <p:cNvSpPr txBox="1"/>
              <p:nvPr/>
            </p:nvSpPr>
            <p:spPr>
              <a:xfrm>
                <a:off x="749618" y="2752249"/>
                <a:ext cx="434316" cy="198120"/>
              </a:xfrm>
              <a:prstGeom prst="rect">
                <a:avLst/>
              </a:prstGeom>
              <a:noFill/>
              <a:ln>
                <a:noFill/>
              </a:ln>
            </p:spPr>
            <p:txBody>
              <a:bodyPr wrap="none" lIns="0" tIns="0" rIns="0" bIns="0" anchor="t" anchorCtr="0">
                <a:spAutoFit/>
              </a:bodyPr>
              <a:lstStyle/>
              <a:p>
                <a:pPr algn="l"/>
                <a:r>
                  <a:rPr lang="zh-CN" sz="975" b="1" dirty="0">
                    <a:solidFill>
                      <a:srgbClr val="2C3E50"/>
                    </a:solidFill>
                    <a:latin typeface="Arial" panose="020B0604020202020204"/>
                    <a:ea typeface="微软雅黑" panose="020B0503020204020204" charset="-122"/>
                    <a:cs typeface="Arial" panose="020B0604020202020204"/>
                  </a:rPr>
                  <a:t>稳定性</a:t>
                </a:r>
                <a:endParaRPr lang="zh-CN" sz="975" b="1" dirty="0">
                  <a:solidFill>
                    <a:srgbClr val="2C3E50"/>
                  </a:solidFill>
                  <a:latin typeface="Arial" panose="020B0604020202020204"/>
                  <a:ea typeface="微软雅黑" panose="020B0503020204020204" charset="-122"/>
                  <a:cs typeface="Arial" panose="020B0604020202020204"/>
                </a:endParaRPr>
              </a:p>
            </p:txBody>
          </p:sp>
          <p:sp>
            <p:nvSpPr>
              <p:cNvPr id="30" name="Rectangle 30"/>
              <p:cNvSpPr/>
              <p:nvPr/>
            </p:nvSpPr>
            <p:spPr>
              <a:xfrm>
                <a:off x="4000500" y="2609850"/>
                <a:ext cx="3810000" cy="381000"/>
              </a:xfrm>
              <a:prstGeom prst="rect">
                <a:avLst/>
              </a:prstGeom>
              <a:solidFill>
                <a:srgbClr val="FFFFFF"/>
              </a:solidFill>
              <a:ln>
                <a:noFill/>
              </a:ln>
            </p:spPr>
          </p:sp>
          <p:sp>
            <p:nvSpPr>
              <p:cNvPr id="31" name="TextBox 31"/>
              <p:cNvSpPr txBox="1"/>
              <p:nvPr/>
            </p:nvSpPr>
            <p:spPr>
              <a:xfrm>
                <a:off x="4178618" y="2752249"/>
                <a:ext cx="674846"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结果不稳定</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32" name="Rectangle 32"/>
              <p:cNvSpPr/>
              <p:nvPr/>
            </p:nvSpPr>
            <p:spPr>
              <a:xfrm>
                <a:off x="7810500" y="2609850"/>
                <a:ext cx="3810000" cy="381000"/>
              </a:xfrm>
              <a:prstGeom prst="rect">
                <a:avLst/>
              </a:prstGeom>
              <a:solidFill>
                <a:srgbClr val="F5F7FA"/>
              </a:solidFill>
              <a:ln>
                <a:noFill/>
              </a:ln>
            </p:spPr>
          </p:sp>
          <p:sp>
            <p:nvSpPr>
              <p:cNvPr id="33" name="TextBox 33"/>
              <p:cNvSpPr txBox="1"/>
              <p:nvPr/>
            </p:nvSpPr>
            <p:spPr>
              <a:xfrm>
                <a:off x="7988618" y="2752249"/>
                <a:ext cx="544830"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结果稳定</a:t>
                </a:r>
                <a:endParaRPr lang="zh-CN" sz="975" dirty="0">
                  <a:solidFill>
                    <a:srgbClr val="2C3E50"/>
                  </a:solidFill>
                  <a:latin typeface="Arial" panose="020B0604020202020204"/>
                  <a:ea typeface="微软雅黑" panose="020B0503020204020204" charset="-122"/>
                  <a:cs typeface="Arial" panose="020B0604020202020204"/>
                </a:endParaRPr>
              </a:p>
            </p:txBody>
          </p:sp>
        </p:grpSp>
        <p:grpSp>
          <p:nvGrpSpPr>
            <p:cNvPr id="41" name="Group 41"/>
            <p:cNvGrpSpPr/>
            <p:nvPr/>
          </p:nvGrpSpPr>
          <p:grpSpPr>
            <a:xfrm>
              <a:off x="571500" y="2990850"/>
              <a:ext cx="11049000" cy="381000"/>
              <a:chOff x="571500" y="2990850"/>
              <a:chExt cx="11049000" cy="381000"/>
            </a:xfrm>
          </p:grpSpPr>
          <p:sp>
            <p:nvSpPr>
              <p:cNvPr id="35" name="Rectangle 35"/>
              <p:cNvSpPr/>
              <p:nvPr/>
            </p:nvSpPr>
            <p:spPr>
              <a:xfrm>
                <a:off x="571500" y="2990850"/>
                <a:ext cx="3429000" cy="381000"/>
              </a:xfrm>
              <a:prstGeom prst="rect">
                <a:avLst/>
              </a:prstGeom>
              <a:solidFill>
                <a:srgbClr val="FFFFFF"/>
              </a:solidFill>
              <a:ln>
                <a:noFill/>
              </a:ln>
            </p:spPr>
          </p:sp>
          <p:sp>
            <p:nvSpPr>
              <p:cNvPr id="36" name="TextBox 36"/>
              <p:cNvSpPr txBox="1"/>
              <p:nvPr/>
            </p:nvSpPr>
            <p:spPr>
              <a:xfrm>
                <a:off x="749618" y="3133249"/>
                <a:ext cx="707350" cy="198120"/>
              </a:xfrm>
              <a:prstGeom prst="rect">
                <a:avLst/>
              </a:prstGeom>
              <a:noFill/>
              <a:ln>
                <a:noFill/>
              </a:ln>
            </p:spPr>
            <p:txBody>
              <a:bodyPr wrap="none" lIns="0" tIns="0" rIns="0" bIns="0" anchor="t" anchorCtr="0">
                <a:spAutoFit/>
              </a:bodyPr>
              <a:lstStyle/>
              <a:p>
                <a:pPr algn="l"/>
                <a:r>
                  <a:rPr lang="zh-CN" sz="975" b="1" dirty="0">
                    <a:solidFill>
                      <a:srgbClr val="2C3E50"/>
                    </a:solidFill>
                    <a:latin typeface="Arial" panose="020B0604020202020204"/>
                    <a:ea typeface="微软雅黑" panose="020B0503020204020204" charset="-122"/>
                    <a:cs typeface="Arial" panose="020B0604020202020204"/>
                  </a:rPr>
                  <a:t>计算复杂度</a:t>
                </a:r>
                <a:endParaRPr lang="zh-CN" sz="975" b="1" dirty="0">
                  <a:solidFill>
                    <a:srgbClr val="2C3E50"/>
                  </a:solidFill>
                  <a:latin typeface="Arial" panose="020B0604020202020204"/>
                  <a:ea typeface="微软雅黑" panose="020B0503020204020204" charset="-122"/>
                  <a:cs typeface="Arial" panose="020B0604020202020204"/>
                </a:endParaRPr>
              </a:p>
            </p:txBody>
          </p:sp>
          <p:sp>
            <p:nvSpPr>
              <p:cNvPr id="37" name="Rectangle 37"/>
              <p:cNvSpPr/>
              <p:nvPr/>
            </p:nvSpPr>
            <p:spPr>
              <a:xfrm>
                <a:off x="4000500" y="2990850"/>
                <a:ext cx="3810000" cy="381000"/>
              </a:xfrm>
              <a:prstGeom prst="rect">
                <a:avLst/>
              </a:prstGeom>
              <a:solidFill>
                <a:srgbClr val="F5F7FA"/>
              </a:solidFill>
              <a:ln>
                <a:noFill/>
              </a:ln>
            </p:spPr>
          </p:sp>
          <p:sp>
            <p:nvSpPr>
              <p:cNvPr id="38" name="TextBox 38"/>
              <p:cNvSpPr txBox="1"/>
              <p:nvPr/>
            </p:nvSpPr>
            <p:spPr>
              <a:xfrm>
                <a:off x="4178618" y="3133249"/>
                <a:ext cx="895874"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O(n) 较大规模</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39" name="Rectangle 39"/>
              <p:cNvSpPr/>
              <p:nvPr/>
            </p:nvSpPr>
            <p:spPr>
              <a:xfrm>
                <a:off x="7810500" y="2990850"/>
                <a:ext cx="3810000" cy="381000"/>
              </a:xfrm>
              <a:prstGeom prst="rect">
                <a:avLst/>
              </a:prstGeom>
              <a:solidFill>
                <a:srgbClr val="FFFFFF"/>
              </a:solidFill>
              <a:ln>
                <a:noFill/>
              </a:ln>
            </p:spPr>
          </p:sp>
          <p:sp>
            <p:nvSpPr>
              <p:cNvPr id="40" name="TextBox 40"/>
              <p:cNvSpPr txBox="1"/>
              <p:nvPr/>
            </p:nvSpPr>
            <p:spPr>
              <a:xfrm>
                <a:off x="7988618" y="3133249"/>
                <a:ext cx="967383"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O(n²) 小数据集</a:t>
                </a:r>
                <a:endParaRPr lang="zh-CN" sz="975" dirty="0">
                  <a:solidFill>
                    <a:srgbClr val="2C3E50"/>
                  </a:solidFill>
                  <a:latin typeface="Arial" panose="020B0604020202020204"/>
                  <a:ea typeface="微软雅黑" panose="020B0503020204020204" charset="-122"/>
                  <a:cs typeface="Arial" panose="020B0604020202020204"/>
                </a:endParaRPr>
              </a:p>
            </p:txBody>
          </p:sp>
        </p:grpSp>
        <p:grpSp>
          <p:nvGrpSpPr>
            <p:cNvPr id="48" name="Group 48"/>
            <p:cNvGrpSpPr/>
            <p:nvPr/>
          </p:nvGrpSpPr>
          <p:grpSpPr>
            <a:xfrm>
              <a:off x="571500" y="3371850"/>
              <a:ext cx="11049000" cy="381000"/>
              <a:chOff x="571500" y="3371850"/>
              <a:chExt cx="11049000" cy="381000"/>
            </a:xfrm>
          </p:grpSpPr>
          <p:sp>
            <p:nvSpPr>
              <p:cNvPr id="42" name="Rectangle 42"/>
              <p:cNvSpPr/>
              <p:nvPr/>
            </p:nvSpPr>
            <p:spPr>
              <a:xfrm>
                <a:off x="571500" y="3371850"/>
                <a:ext cx="3429000" cy="381000"/>
              </a:xfrm>
              <a:prstGeom prst="rect">
                <a:avLst/>
              </a:prstGeom>
              <a:solidFill>
                <a:srgbClr val="F5F7FA"/>
              </a:solidFill>
              <a:ln>
                <a:noFill/>
              </a:ln>
            </p:spPr>
          </p:sp>
          <p:sp>
            <p:nvSpPr>
              <p:cNvPr id="43" name="TextBox 43"/>
              <p:cNvSpPr txBox="1"/>
              <p:nvPr/>
            </p:nvSpPr>
            <p:spPr>
              <a:xfrm>
                <a:off x="749618" y="3514249"/>
                <a:ext cx="434316" cy="198120"/>
              </a:xfrm>
              <a:prstGeom prst="rect">
                <a:avLst/>
              </a:prstGeom>
              <a:noFill/>
              <a:ln>
                <a:noFill/>
              </a:ln>
            </p:spPr>
            <p:txBody>
              <a:bodyPr wrap="none" lIns="0" tIns="0" rIns="0" bIns="0" anchor="t" anchorCtr="0">
                <a:spAutoFit/>
              </a:bodyPr>
              <a:lstStyle/>
              <a:p>
                <a:pPr algn="l"/>
                <a:r>
                  <a:rPr lang="zh-CN" sz="975" b="1" dirty="0">
                    <a:solidFill>
                      <a:srgbClr val="2C3E50"/>
                    </a:solidFill>
                    <a:latin typeface="Arial" panose="020B0604020202020204"/>
                    <a:ea typeface="微软雅黑" panose="020B0503020204020204" charset="-122"/>
                    <a:cs typeface="Arial" panose="020B0604020202020204"/>
                  </a:rPr>
                  <a:t>簇形状</a:t>
                </a:r>
                <a:endParaRPr lang="zh-CN" sz="975" b="1" dirty="0">
                  <a:solidFill>
                    <a:srgbClr val="2C3E50"/>
                  </a:solidFill>
                  <a:latin typeface="Arial" panose="020B0604020202020204"/>
                  <a:ea typeface="微软雅黑" panose="020B0503020204020204" charset="-122"/>
                  <a:cs typeface="Arial" panose="020B0604020202020204"/>
                </a:endParaRPr>
              </a:p>
            </p:txBody>
          </p:sp>
          <p:sp>
            <p:nvSpPr>
              <p:cNvPr id="44" name="Rectangle 44"/>
              <p:cNvSpPr/>
              <p:nvPr/>
            </p:nvSpPr>
            <p:spPr>
              <a:xfrm>
                <a:off x="4000500" y="3371850"/>
                <a:ext cx="3810000" cy="381000"/>
              </a:xfrm>
              <a:prstGeom prst="rect">
                <a:avLst/>
              </a:prstGeom>
              <a:solidFill>
                <a:srgbClr val="FFFFFF"/>
              </a:solidFill>
              <a:ln>
                <a:noFill/>
              </a:ln>
            </p:spPr>
          </p:sp>
          <p:sp>
            <p:nvSpPr>
              <p:cNvPr id="45" name="TextBox 45"/>
              <p:cNvSpPr txBox="1"/>
              <p:nvPr/>
            </p:nvSpPr>
            <p:spPr>
              <a:xfrm>
                <a:off x="4178618" y="3514249"/>
                <a:ext cx="284798"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球形</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46" name="Rectangle 46"/>
              <p:cNvSpPr/>
              <p:nvPr/>
            </p:nvSpPr>
            <p:spPr>
              <a:xfrm>
                <a:off x="7810500" y="3371850"/>
                <a:ext cx="3810000" cy="381000"/>
              </a:xfrm>
              <a:prstGeom prst="rect">
                <a:avLst/>
              </a:prstGeom>
              <a:solidFill>
                <a:srgbClr val="F5F7FA"/>
              </a:solidFill>
              <a:ln>
                <a:noFill/>
              </a:ln>
            </p:spPr>
          </p:sp>
          <p:sp>
            <p:nvSpPr>
              <p:cNvPr id="47" name="TextBox 47"/>
              <p:cNvSpPr txBox="1"/>
              <p:nvPr/>
            </p:nvSpPr>
            <p:spPr>
              <a:xfrm>
                <a:off x="7988618" y="3514249"/>
                <a:ext cx="544830"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任意形状</a:t>
                </a:r>
                <a:endParaRPr lang="zh-CN" sz="975" dirty="0">
                  <a:solidFill>
                    <a:srgbClr val="2C3E50"/>
                  </a:solidFill>
                  <a:latin typeface="Arial" panose="020B0604020202020204"/>
                  <a:ea typeface="微软雅黑" panose="020B0503020204020204" charset="-122"/>
                  <a:cs typeface="Arial" panose="020B0604020202020204"/>
                </a:endParaRPr>
              </a:p>
            </p:txBody>
          </p:sp>
        </p:grpSp>
        <p:grpSp>
          <p:nvGrpSpPr>
            <p:cNvPr id="55" name="Group 55"/>
            <p:cNvGrpSpPr/>
            <p:nvPr/>
          </p:nvGrpSpPr>
          <p:grpSpPr>
            <a:xfrm>
              <a:off x="571500" y="3752850"/>
              <a:ext cx="11049000" cy="381000"/>
              <a:chOff x="571500" y="3752850"/>
              <a:chExt cx="11049000" cy="381000"/>
            </a:xfrm>
          </p:grpSpPr>
          <p:sp>
            <p:nvSpPr>
              <p:cNvPr id="49" name="Rectangle 49"/>
              <p:cNvSpPr/>
              <p:nvPr/>
            </p:nvSpPr>
            <p:spPr>
              <a:xfrm>
                <a:off x="571500" y="3752850"/>
                <a:ext cx="3429000" cy="381000"/>
              </a:xfrm>
              <a:prstGeom prst="rect">
                <a:avLst/>
              </a:prstGeom>
              <a:solidFill>
                <a:srgbClr val="FFFFFF"/>
              </a:solidFill>
              <a:ln>
                <a:noFill/>
              </a:ln>
            </p:spPr>
          </p:sp>
          <p:sp>
            <p:nvSpPr>
              <p:cNvPr id="50" name="TextBox 50"/>
              <p:cNvSpPr txBox="1"/>
              <p:nvPr/>
            </p:nvSpPr>
            <p:spPr>
              <a:xfrm>
                <a:off x="749618" y="3895249"/>
                <a:ext cx="434316" cy="198120"/>
              </a:xfrm>
              <a:prstGeom prst="rect">
                <a:avLst/>
              </a:prstGeom>
              <a:noFill/>
              <a:ln>
                <a:noFill/>
              </a:ln>
            </p:spPr>
            <p:txBody>
              <a:bodyPr wrap="none" lIns="0" tIns="0" rIns="0" bIns="0" anchor="t" anchorCtr="0">
                <a:spAutoFit/>
              </a:bodyPr>
              <a:lstStyle/>
              <a:p>
                <a:pPr algn="l"/>
                <a:r>
                  <a:rPr lang="zh-CN" sz="975" b="1" dirty="0">
                    <a:solidFill>
                      <a:srgbClr val="2C3E50"/>
                    </a:solidFill>
                    <a:latin typeface="Arial" panose="020B0604020202020204"/>
                    <a:ea typeface="微软雅黑" panose="020B0503020204020204" charset="-122"/>
                    <a:cs typeface="Arial" panose="020B0604020202020204"/>
                  </a:rPr>
                  <a:t>可视化</a:t>
                </a:r>
                <a:endParaRPr lang="zh-CN" sz="975" b="1" dirty="0">
                  <a:solidFill>
                    <a:srgbClr val="2C3E50"/>
                  </a:solidFill>
                  <a:latin typeface="Arial" panose="020B0604020202020204"/>
                  <a:ea typeface="微软雅黑" panose="020B0503020204020204" charset="-122"/>
                  <a:cs typeface="Arial" panose="020B0604020202020204"/>
                </a:endParaRPr>
              </a:p>
            </p:txBody>
          </p:sp>
          <p:sp>
            <p:nvSpPr>
              <p:cNvPr id="51" name="Rectangle 51"/>
              <p:cNvSpPr/>
              <p:nvPr/>
            </p:nvSpPr>
            <p:spPr>
              <a:xfrm>
                <a:off x="4000500" y="3752850"/>
                <a:ext cx="3810000" cy="381000"/>
              </a:xfrm>
              <a:prstGeom prst="rect">
                <a:avLst/>
              </a:prstGeom>
              <a:solidFill>
                <a:srgbClr val="F5F7FA"/>
              </a:solidFill>
              <a:ln>
                <a:noFill/>
              </a:ln>
            </p:spPr>
          </p:sp>
          <p:sp>
            <p:nvSpPr>
              <p:cNvPr id="52" name="TextBox 52"/>
              <p:cNvSpPr txBox="1"/>
              <p:nvPr/>
            </p:nvSpPr>
            <p:spPr>
              <a:xfrm>
                <a:off x="4178618" y="3895249"/>
                <a:ext cx="414814"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散点图</a:t>
                </a:r>
                <a:endParaRPr lang="zh-CN" sz="975" dirty="0">
                  <a:solidFill>
                    <a:srgbClr val="2C3E50"/>
                  </a:solidFill>
                  <a:latin typeface="Arial" panose="020B0604020202020204"/>
                  <a:ea typeface="微软雅黑" panose="020B0503020204020204" charset="-122"/>
                  <a:cs typeface="Arial" panose="020B0604020202020204"/>
                </a:endParaRPr>
              </a:p>
            </p:txBody>
          </p:sp>
          <p:sp>
            <p:nvSpPr>
              <p:cNvPr id="53" name="Rectangle 53"/>
              <p:cNvSpPr/>
              <p:nvPr/>
            </p:nvSpPr>
            <p:spPr>
              <a:xfrm>
                <a:off x="7810500" y="3752850"/>
                <a:ext cx="3810000" cy="381000"/>
              </a:xfrm>
              <a:prstGeom prst="rect">
                <a:avLst/>
              </a:prstGeom>
              <a:solidFill>
                <a:srgbClr val="FFFFFF"/>
              </a:solidFill>
              <a:ln>
                <a:noFill/>
              </a:ln>
            </p:spPr>
          </p:sp>
          <p:sp>
            <p:nvSpPr>
              <p:cNvPr id="54" name="TextBox 54"/>
              <p:cNvSpPr txBox="1"/>
              <p:nvPr/>
            </p:nvSpPr>
            <p:spPr>
              <a:xfrm>
                <a:off x="7988618" y="3895249"/>
                <a:ext cx="934879" cy="198120"/>
              </a:xfrm>
              <a:prstGeom prst="rect">
                <a:avLst/>
              </a:prstGeom>
              <a:noFill/>
              <a:ln>
                <a:noFill/>
              </a:ln>
            </p:spPr>
            <p:txBody>
              <a:bodyPr wrap="none" lIns="0" tIns="0" rIns="0" bIns="0" anchor="t" anchorCtr="0">
                <a:spAutoFit/>
              </a:bodyPr>
              <a:lstStyle/>
              <a:p>
                <a:pPr algn="l"/>
                <a:r>
                  <a:rPr lang="zh-CN" sz="975" dirty="0">
                    <a:solidFill>
                      <a:srgbClr val="2C3E50"/>
                    </a:solidFill>
                    <a:latin typeface="Arial" panose="020B0604020202020204"/>
                    <a:ea typeface="微软雅黑" panose="020B0503020204020204" charset="-122"/>
                    <a:cs typeface="Arial" panose="020B0604020202020204"/>
                  </a:rPr>
                  <a:t>树状图（特色）</a:t>
                </a:r>
                <a:endParaRPr lang="zh-CN" sz="975" dirty="0">
                  <a:solidFill>
                    <a:srgbClr val="2C3E50"/>
                  </a:solidFill>
                  <a:latin typeface="Arial" panose="020B0604020202020204"/>
                  <a:ea typeface="微软雅黑" panose="020B0503020204020204" charset="-122"/>
                  <a:cs typeface="Arial" panose="020B0604020202020204"/>
                </a:endParaRPr>
              </a:p>
            </p:txBody>
          </p:sp>
        </p:grpSp>
      </p:grpSp>
      <p:grpSp>
        <p:nvGrpSpPr>
          <p:cNvPr id="65" name="Group 65"/>
          <p:cNvGrpSpPr/>
          <p:nvPr/>
        </p:nvGrpSpPr>
        <p:grpSpPr>
          <a:xfrm>
            <a:off x="571500" y="4331018"/>
            <a:ext cx="5334000" cy="1431607"/>
            <a:chOff x="571500" y="4331018"/>
            <a:chExt cx="5334000" cy="1431607"/>
          </a:xfrm>
        </p:grpSpPr>
        <p:sp>
          <p:nvSpPr>
            <p:cNvPr id="57" name="TextBox 57"/>
            <p:cNvSpPr txBox="1"/>
            <p:nvPr/>
          </p:nvSpPr>
          <p:spPr>
            <a:xfrm>
              <a:off x="744855" y="4331018"/>
              <a:ext cx="3663544" cy="274320"/>
            </a:xfrm>
            <a:prstGeom prst="rect">
              <a:avLst/>
            </a:prstGeom>
            <a:noFill/>
            <a:ln>
              <a:noFill/>
            </a:ln>
          </p:spPr>
          <p:txBody>
            <a:bodyPr wrap="none" lIns="0" tIns="0" rIns="0" bIns="0" anchor="t" anchorCtr="0">
              <a:spAutoFit/>
            </a:bodyPr>
            <a:lstStyle/>
            <a:p>
              <a:pPr algn="l"/>
              <a:r>
                <a:rPr lang="zh-CN" sz="1350" b="1" dirty="0">
                  <a:solidFill>
                    <a:srgbClr val="1A5276"/>
                  </a:solidFill>
                  <a:latin typeface="Arial" panose="020B0604020202020204"/>
                  <a:ea typeface="微软雅黑" panose="020B0503020204020204" charset="-122"/>
                  <a:cs typeface="Arial" panose="020B0604020202020204"/>
                </a:rPr>
                <a:t>《白话机器学习》第2章 K-means 读书笔记</a:t>
              </a:r>
              <a:endParaRPr lang="zh-CN" sz="1350" b="1" dirty="0">
                <a:solidFill>
                  <a:srgbClr val="1A5276"/>
                </a:solidFill>
                <a:latin typeface="Arial" panose="020B0604020202020204"/>
                <a:ea typeface="微软雅黑" panose="020B0503020204020204" charset="-122"/>
                <a:cs typeface="Arial" panose="020B0604020202020204"/>
              </a:endParaRPr>
            </a:p>
          </p:txBody>
        </p:sp>
        <p:sp>
          <p:nvSpPr>
            <p:cNvPr id="58" name="Rectangle 58"/>
            <p:cNvSpPr/>
            <p:nvPr/>
          </p:nvSpPr>
          <p:spPr>
            <a:xfrm>
              <a:off x="571500" y="4714875"/>
              <a:ext cx="5334000" cy="1047750"/>
            </a:xfrm>
            <a:prstGeom prst="roundRect">
              <a:avLst>
                <a:gd name="adj" fmla="val 7273"/>
              </a:avLst>
            </a:prstGeom>
            <a:solidFill>
              <a:srgbClr val="F5F7FA"/>
            </a:solidFill>
            <a:ln>
              <a:noFill/>
            </a:ln>
          </p:spPr>
        </p:sp>
        <p:sp>
          <p:nvSpPr>
            <p:cNvPr id="59" name="Freeform 59"/>
            <p:cNvSpPr/>
            <p:nvPr/>
          </p:nvSpPr>
          <p:spPr>
            <a:xfrm>
              <a:off x="789781" y="4972844"/>
              <a:ext cx="83344" cy="55562"/>
            </a:xfrm>
            <a:custGeom>
              <a:avLst/>
              <a:gdLst/>
              <a:ahLst/>
              <a:cxnLst/>
              <a:rect l="l" t="t" r="r" b="b"/>
              <a:pathLst>
                <a:path w="83344" h="55562">
                  <a:moveTo>
                    <a:pt x="0" y="27781"/>
                  </a:moveTo>
                  <a:lnTo>
                    <a:pt x="27781" y="55562"/>
                  </a:lnTo>
                  <a:lnTo>
                    <a:pt x="83344" y="0"/>
                  </a:lnTo>
                </a:path>
              </a:pathLst>
            </a:custGeom>
            <a:noFill/>
            <a:ln w="19050">
              <a:solidFill>
                <a:srgbClr val="1A5276"/>
              </a:solidFill>
            </a:ln>
          </p:spPr>
        </p:sp>
        <p:sp>
          <p:nvSpPr>
            <p:cNvPr id="60" name="TextBox 60"/>
            <p:cNvSpPr txBox="1"/>
            <p:nvPr/>
          </p:nvSpPr>
          <p:spPr>
            <a:xfrm>
              <a:off x="960120" y="4970145"/>
              <a:ext cx="2249138"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核心：找出顾客群，将数据划分为k个群组</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61" name="Freeform 61"/>
            <p:cNvSpPr/>
            <p:nvPr/>
          </p:nvSpPr>
          <p:spPr>
            <a:xfrm>
              <a:off x="789781" y="5258594"/>
              <a:ext cx="83344" cy="55562"/>
            </a:xfrm>
            <a:custGeom>
              <a:avLst/>
              <a:gdLst/>
              <a:ahLst/>
              <a:cxnLst/>
              <a:rect l="l" t="t" r="r" b="b"/>
              <a:pathLst>
                <a:path w="83344" h="55562">
                  <a:moveTo>
                    <a:pt x="0" y="27781"/>
                  </a:moveTo>
                  <a:lnTo>
                    <a:pt x="27781" y="55562"/>
                  </a:lnTo>
                  <a:lnTo>
                    <a:pt x="83344" y="0"/>
                  </a:lnTo>
                </a:path>
              </a:pathLst>
            </a:custGeom>
            <a:noFill/>
            <a:ln w="19050">
              <a:solidFill>
                <a:srgbClr val="1A5276"/>
              </a:solidFill>
            </a:ln>
          </p:spPr>
        </p:sp>
        <p:sp>
          <p:nvSpPr>
            <p:cNvPr id="62" name="TextBox 62"/>
            <p:cNvSpPr txBox="1"/>
            <p:nvPr/>
          </p:nvSpPr>
          <p:spPr>
            <a:xfrm>
              <a:off x="960120" y="5255895"/>
              <a:ext cx="2153126"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步骤：确定k值→选质心→分配→更新→迭代</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63" name="Freeform 63"/>
            <p:cNvSpPr/>
            <p:nvPr/>
          </p:nvSpPr>
          <p:spPr>
            <a:xfrm>
              <a:off x="789781" y="5544344"/>
              <a:ext cx="83344" cy="55562"/>
            </a:xfrm>
            <a:custGeom>
              <a:avLst/>
              <a:gdLst/>
              <a:ahLst/>
              <a:cxnLst/>
              <a:rect l="l" t="t" r="r" b="b"/>
              <a:pathLst>
                <a:path w="83344" h="55562">
                  <a:moveTo>
                    <a:pt x="0" y="27781"/>
                  </a:moveTo>
                  <a:lnTo>
                    <a:pt x="27781" y="55562"/>
                  </a:lnTo>
                  <a:lnTo>
                    <a:pt x="83344" y="0"/>
                  </a:lnTo>
                </a:path>
              </a:pathLst>
            </a:custGeom>
            <a:noFill/>
            <a:ln w="19050">
              <a:solidFill>
                <a:srgbClr val="1A5276"/>
              </a:solidFill>
            </a:ln>
          </p:spPr>
        </p:sp>
        <p:sp>
          <p:nvSpPr>
            <p:cNvPr id="64" name="TextBox 64"/>
            <p:cNvSpPr txBox="1"/>
            <p:nvPr/>
          </p:nvSpPr>
          <p:spPr>
            <a:xfrm>
              <a:off x="960120" y="5541645"/>
              <a:ext cx="1727073"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确定k值：肘部法则（SSE拐点）</a:t>
              </a:r>
              <a:endParaRPr lang="zh-CN" sz="900" dirty="0">
                <a:solidFill>
                  <a:srgbClr val="2C3E50"/>
                </a:solidFill>
                <a:latin typeface="Arial" panose="020B0604020202020204"/>
                <a:ea typeface="微软雅黑" panose="020B0503020204020204" charset="-122"/>
                <a:cs typeface="Arial" panose="020B0604020202020204"/>
              </a:endParaRPr>
            </a:p>
          </p:txBody>
        </p:sp>
      </p:grpSp>
      <p:grpSp>
        <p:nvGrpSpPr>
          <p:cNvPr id="73" name="Group 73"/>
          <p:cNvGrpSpPr/>
          <p:nvPr/>
        </p:nvGrpSpPr>
        <p:grpSpPr>
          <a:xfrm>
            <a:off x="6286500" y="4714875"/>
            <a:ext cx="5334000" cy="1047750"/>
            <a:chOff x="6286500" y="4714875"/>
            <a:chExt cx="5334000" cy="1047750"/>
          </a:xfrm>
        </p:grpSpPr>
        <p:sp>
          <p:nvSpPr>
            <p:cNvPr id="66" name="Rectangle 66"/>
            <p:cNvSpPr/>
            <p:nvPr/>
          </p:nvSpPr>
          <p:spPr>
            <a:xfrm>
              <a:off x="6286500" y="4714875"/>
              <a:ext cx="5334000" cy="1047750"/>
            </a:xfrm>
            <a:prstGeom prst="roundRect">
              <a:avLst>
                <a:gd name="adj" fmla="val 7273"/>
              </a:avLst>
            </a:prstGeom>
            <a:solidFill>
              <a:srgbClr val="F5F7FA"/>
            </a:solidFill>
            <a:ln>
              <a:noFill/>
            </a:ln>
          </p:spPr>
        </p:sp>
        <p:sp>
          <p:nvSpPr>
            <p:cNvPr id="67" name="Freeform 67"/>
            <p:cNvSpPr/>
            <p:nvPr/>
          </p:nvSpPr>
          <p:spPr>
            <a:xfrm>
              <a:off x="6504781" y="4972844"/>
              <a:ext cx="83344" cy="55562"/>
            </a:xfrm>
            <a:custGeom>
              <a:avLst/>
              <a:gdLst/>
              <a:ahLst/>
              <a:cxnLst/>
              <a:rect l="l" t="t" r="r" b="b"/>
              <a:pathLst>
                <a:path w="83344" h="55562">
                  <a:moveTo>
                    <a:pt x="0" y="27781"/>
                  </a:moveTo>
                  <a:lnTo>
                    <a:pt x="27781" y="55562"/>
                  </a:lnTo>
                  <a:lnTo>
                    <a:pt x="83344" y="0"/>
                  </a:lnTo>
                </a:path>
              </a:pathLst>
            </a:custGeom>
            <a:noFill/>
            <a:ln w="19050">
              <a:solidFill>
                <a:srgbClr val="2980B9"/>
              </a:solidFill>
            </a:ln>
          </p:spPr>
        </p:sp>
        <p:sp>
          <p:nvSpPr>
            <p:cNvPr id="68" name="TextBox 68"/>
            <p:cNvSpPr txBox="1"/>
            <p:nvPr/>
          </p:nvSpPr>
          <p:spPr>
            <a:xfrm>
              <a:off x="6675120" y="4970145"/>
              <a:ext cx="1595056"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HC小而巧，展示数据层次结构</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69" name="Freeform 69"/>
            <p:cNvSpPr/>
            <p:nvPr/>
          </p:nvSpPr>
          <p:spPr>
            <a:xfrm>
              <a:off x="6504781" y="5258594"/>
              <a:ext cx="83344" cy="55562"/>
            </a:xfrm>
            <a:custGeom>
              <a:avLst/>
              <a:gdLst/>
              <a:ahLst/>
              <a:cxnLst/>
              <a:rect l="l" t="t" r="r" b="b"/>
              <a:pathLst>
                <a:path w="83344" h="55562">
                  <a:moveTo>
                    <a:pt x="0" y="27781"/>
                  </a:moveTo>
                  <a:lnTo>
                    <a:pt x="27781" y="55562"/>
                  </a:lnTo>
                  <a:lnTo>
                    <a:pt x="83344" y="0"/>
                  </a:lnTo>
                </a:path>
              </a:pathLst>
            </a:custGeom>
            <a:noFill/>
            <a:ln w="19050">
              <a:solidFill>
                <a:srgbClr val="2980B9"/>
              </a:solidFill>
            </a:ln>
          </p:spPr>
        </p:sp>
        <p:sp>
          <p:nvSpPr>
            <p:cNvPr id="70" name="TextBox 70"/>
            <p:cNvSpPr txBox="1"/>
            <p:nvPr/>
          </p:nvSpPr>
          <p:spPr>
            <a:xfrm>
              <a:off x="6675120" y="5255895"/>
              <a:ext cx="2159127"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dendrogram画树状图，默认底部30节点</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71" name="Freeform 71"/>
            <p:cNvSpPr/>
            <p:nvPr/>
          </p:nvSpPr>
          <p:spPr>
            <a:xfrm>
              <a:off x="6504781" y="5544344"/>
              <a:ext cx="83344" cy="55562"/>
            </a:xfrm>
            <a:custGeom>
              <a:avLst/>
              <a:gdLst/>
              <a:ahLst/>
              <a:cxnLst/>
              <a:rect l="l" t="t" r="r" b="b"/>
              <a:pathLst>
                <a:path w="83344" h="55562">
                  <a:moveTo>
                    <a:pt x="0" y="27781"/>
                  </a:moveTo>
                  <a:lnTo>
                    <a:pt x="27781" y="55562"/>
                  </a:lnTo>
                  <a:lnTo>
                    <a:pt x="83344" y="0"/>
                  </a:lnTo>
                </a:path>
              </a:pathLst>
            </a:custGeom>
            <a:noFill/>
            <a:ln w="19050">
              <a:solidFill>
                <a:srgbClr val="2980B9"/>
              </a:solidFill>
            </a:ln>
          </p:spPr>
        </p:sp>
        <p:sp>
          <p:nvSpPr>
            <p:cNvPr id="72" name="TextBox 72"/>
            <p:cNvSpPr txBox="1"/>
            <p:nvPr/>
          </p:nvSpPr>
          <p:spPr>
            <a:xfrm>
              <a:off x="6675120" y="5541645"/>
              <a:ext cx="1835086"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HC计算复杂度高，适用于小数据集</a:t>
              </a:r>
              <a:endParaRPr lang="zh-CN" sz="900" dirty="0">
                <a:solidFill>
                  <a:srgbClr val="2C3E50"/>
                </a:solidFill>
                <a:latin typeface="Arial" panose="020B0604020202020204"/>
                <a:ea typeface="微软雅黑" panose="020B0503020204020204" charset="-122"/>
                <a:cs typeface="Arial" panose="020B0604020202020204"/>
              </a:endParaRPr>
            </a:p>
          </p:txBody>
        </p:sp>
      </p:grpSp>
      <p:sp>
        <p:nvSpPr>
          <p:cNvPr id="74" name="TextBox 74"/>
          <p:cNvSpPr txBox="1"/>
          <p:nvPr/>
        </p:nvSpPr>
        <p:spPr>
          <a:xfrm>
            <a:off x="6018562" y="6570345"/>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07</a:t>
            </a:r>
            <a:endParaRPr lang="zh-CN" sz="900"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image">
                                      <p:cBhvr>
                                        <p:cTn id="7" dur="400"/>
                                        <p:tgtEl>
                                          <p:spTgt spid="5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fade">
                                      <p:cBhvr>
                                        <p:cTn id="11" dur="400"/>
                                        <p:tgtEl>
                                          <p:spTgt spid="65"/>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wipe(left)">
                                      <p:cBhvr>
                                        <p:cTn id="15"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65" grpId="0"/>
      <p:bldP spid="7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gradFill>
              <a:gsLst>
                <a:gs pos="0">
                  <a:srgbClr val="1A5276"/>
                </a:gs>
                <a:gs pos="100000">
                  <a:srgbClr val="3498DB"/>
                </a:gs>
              </a:gsLst>
              <a:lin ang="0" scaled="1"/>
            </a:gradFill>
            <a:ln>
              <a:noFill/>
            </a:ln>
          </p:spPr>
        </p:sp>
      </p:grpSp>
      <p:grpSp>
        <p:nvGrpSpPr>
          <p:cNvPr id="7" name="Group 7"/>
          <p:cNvGrpSpPr/>
          <p:nvPr/>
        </p:nvGrpSpPr>
        <p:grpSpPr>
          <a:xfrm>
            <a:off x="4889373" y="502920"/>
            <a:ext cx="2413254" cy="525780"/>
            <a:chOff x="4889373" y="502920"/>
            <a:chExt cx="2413254" cy="525780"/>
          </a:xfrm>
        </p:grpSpPr>
        <p:sp>
          <p:nvSpPr>
            <p:cNvPr id="5" name="TextBox 5"/>
            <p:cNvSpPr txBox="1"/>
            <p:nvPr/>
          </p:nvSpPr>
          <p:spPr>
            <a:xfrm>
              <a:off x="4889373" y="502920"/>
              <a:ext cx="2413254" cy="487680"/>
            </a:xfrm>
            <a:prstGeom prst="rect">
              <a:avLst/>
            </a:prstGeom>
            <a:noFill/>
            <a:ln>
              <a:noFill/>
            </a:ln>
          </p:spPr>
          <p:txBody>
            <a:bodyPr wrap="none" lIns="0" tIns="0" rIns="0" bIns="0" anchor="t" anchorCtr="0">
              <a:spAutoFit/>
            </a:bodyPr>
            <a:lstStyle/>
            <a:p>
              <a:pPr algn="ctr"/>
              <a:r>
                <a:rPr lang="zh-CN" sz="2400" b="1" dirty="0">
                  <a:solidFill>
                    <a:srgbClr val="1A5276"/>
                  </a:solidFill>
                  <a:latin typeface="Arial" panose="020B0604020202020204"/>
                  <a:ea typeface="微软雅黑" panose="020B0503020204020204" charset="-122"/>
                  <a:cs typeface="Arial" panose="020B0604020202020204"/>
                </a:rPr>
                <a:t>第四次作业总结</a:t>
              </a:r>
              <a:endParaRPr lang="zh-CN" sz="2400" b="1" dirty="0">
                <a:solidFill>
                  <a:srgbClr val="1A5276"/>
                </a:solidFill>
                <a:latin typeface="Arial" panose="020B0604020202020204"/>
                <a:ea typeface="微软雅黑" panose="020B0503020204020204" charset="-122"/>
                <a:cs typeface="Arial" panose="020B0604020202020204"/>
              </a:endParaRPr>
            </a:p>
          </p:txBody>
        </p:sp>
        <p:sp>
          <p:nvSpPr>
            <p:cNvPr id="6" name="Rectangle 6"/>
            <p:cNvSpPr/>
            <p:nvPr/>
          </p:nvSpPr>
          <p:spPr>
            <a:xfrm>
              <a:off x="5143500" y="1000125"/>
              <a:ext cx="1905000" cy="28575"/>
            </a:xfrm>
            <a:prstGeom prst="roundRect">
              <a:avLst>
                <a:gd name="adj" fmla="val 50000"/>
              </a:avLst>
            </a:prstGeom>
            <a:solidFill>
              <a:srgbClr val="E74C3C"/>
            </a:solidFill>
            <a:ln>
              <a:noFill/>
            </a:ln>
          </p:spPr>
        </p:sp>
      </p:grpSp>
      <p:grpSp>
        <p:nvGrpSpPr>
          <p:cNvPr id="45" name="Group 45"/>
          <p:cNvGrpSpPr/>
          <p:nvPr/>
        </p:nvGrpSpPr>
        <p:grpSpPr>
          <a:xfrm>
            <a:off x="571500" y="1212056"/>
            <a:ext cx="11049000" cy="3883819"/>
            <a:chOff x="571500" y="1212056"/>
            <a:chExt cx="11049000" cy="3883819"/>
          </a:xfrm>
        </p:grpSpPr>
        <p:sp>
          <p:nvSpPr>
            <p:cNvPr id="8" name="TextBox 8"/>
            <p:cNvSpPr txBox="1"/>
            <p:nvPr/>
          </p:nvSpPr>
          <p:spPr>
            <a:xfrm>
              <a:off x="4795302" y="1212056"/>
              <a:ext cx="2601397" cy="228600"/>
            </a:xfrm>
            <a:prstGeom prst="rect">
              <a:avLst/>
            </a:prstGeom>
            <a:noFill/>
            <a:ln>
              <a:noFill/>
            </a:ln>
          </p:spPr>
          <p:txBody>
            <a:bodyPr wrap="none" lIns="0" tIns="0" rIns="0" bIns="0" anchor="t" anchorCtr="0">
              <a:spAutoFit/>
            </a:bodyPr>
            <a:lstStyle/>
            <a:p>
              <a:pPr algn="ctr"/>
              <a:r>
                <a:rPr lang="zh-CN" sz="1125" dirty="0">
                  <a:solidFill>
                    <a:srgbClr val="7F8C8D"/>
                  </a:solidFill>
                  <a:latin typeface="Arial" panose="020B0604020202020204"/>
                  <a:ea typeface="微软雅黑" panose="020B0503020204020204" charset="-122"/>
                  <a:cs typeface="Arial" panose="020B0604020202020204"/>
                </a:rPr>
                <a:t>聚类算法 · 课后作业六项任务完成情况</a:t>
              </a:r>
              <a:endParaRPr lang="zh-CN" sz="1125" dirty="0">
                <a:solidFill>
                  <a:srgbClr val="7F8C8D"/>
                </a:solidFill>
                <a:latin typeface="Arial" panose="020B0604020202020204"/>
                <a:ea typeface="微软雅黑" panose="020B0503020204020204" charset="-122"/>
                <a:cs typeface="Arial" panose="020B0604020202020204"/>
              </a:endParaRPr>
            </a:p>
          </p:txBody>
        </p:sp>
        <p:grpSp>
          <p:nvGrpSpPr>
            <p:cNvPr id="14" name="Group 14"/>
            <p:cNvGrpSpPr/>
            <p:nvPr/>
          </p:nvGrpSpPr>
          <p:grpSpPr>
            <a:xfrm>
              <a:off x="571500" y="1571625"/>
              <a:ext cx="5334000" cy="1047750"/>
              <a:chOff x="571500" y="1571625"/>
              <a:chExt cx="5334000" cy="1047750"/>
            </a:xfrm>
          </p:grpSpPr>
          <p:sp>
            <p:nvSpPr>
              <p:cNvPr id="9" name="Rectangle 9"/>
              <p:cNvSpPr/>
              <p:nvPr/>
            </p:nvSpPr>
            <p:spPr>
              <a:xfrm>
                <a:off x="571500" y="1571625"/>
                <a:ext cx="5334000" cy="1047750"/>
              </a:xfrm>
              <a:prstGeom prst="roundRect">
                <a:avLst>
                  <a:gd name="adj" fmla="val 7273"/>
                </a:avLst>
              </a:prstGeom>
              <a:solidFill>
                <a:srgbClr val="F5F7FA"/>
              </a:solidFill>
              <a:ln>
                <a:noFill/>
              </a:ln>
            </p:spPr>
          </p:sp>
          <p:sp>
            <p:nvSpPr>
              <p:cNvPr id="10" name="Rectangle 10"/>
              <p:cNvSpPr/>
              <p:nvPr/>
            </p:nvSpPr>
            <p:spPr>
              <a:xfrm>
                <a:off x="571500" y="1571625"/>
                <a:ext cx="5334000" cy="38100"/>
              </a:xfrm>
              <a:prstGeom prst="roundRect">
                <a:avLst>
                  <a:gd name="adj" fmla="val 50000"/>
                </a:avLst>
              </a:prstGeom>
              <a:solidFill>
                <a:srgbClr val="1A5276"/>
              </a:solidFill>
              <a:ln>
                <a:noFill/>
              </a:ln>
            </p:spPr>
          </p:sp>
          <p:sp>
            <p:nvSpPr>
              <p:cNvPr id="11" name="TextBox 11"/>
              <p:cNvSpPr txBox="1"/>
              <p:nvPr/>
            </p:nvSpPr>
            <p:spPr>
              <a:xfrm>
                <a:off x="747712" y="1735931"/>
                <a:ext cx="1493508" cy="228600"/>
              </a:xfrm>
              <a:prstGeom prst="rect">
                <a:avLst/>
              </a:prstGeom>
              <a:noFill/>
              <a:ln>
                <a:noFill/>
              </a:ln>
            </p:spPr>
            <p:txBody>
              <a:bodyPr wrap="none" lIns="0" tIns="0" rIns="0" bIns="0" anchor="t" anchorCtr="0">
                <a:spAutoFit/>
              </a:bodyPr>
              <a:lstStyle/>
              <a:p>
                <a:pPr algn="l"/>
                <a:r>
                  <a:rPr lang="zh-CN" sz="1125" b="1" dirty="0">
                    <a:solidFill>
                      <a:srgbClr val="1A5276"/>
                    </a:solidFill>
                    <a:latin typeface="Arial" panose="020B0604020202020204"/>
                    <a:ea typeface="微软雅黑" panose="020B0503020204020204" charset="-122"/>
                    <a:cs typeface="Arial" panose="020B0604020202020204"/>
                  </a:rPr>
                  <a:t>任务1：整理簇的概念</a:t>
                </a:r>
                <a:endParaRPr lang="zh-CN" sz="1125" b="1" dirty="0">
                  <a:solidFill>
                    <a:srgbClr val="1A5276"/>
                  </a:solidFill>
                  <a:latin typeface="Arial" panose="020B0604020202020204"/>
                  <a:ea typeface="微软雅黑" panose="020B0503020204020204" charset="-122"/>
                  <a:cs typeface="Arial" panose="020B0604020202020204"/>
                </a:endParaRPr>
              </a:p>
            </p:txBody>
          </p:sp>
          <p:sp>
            <p:nvSpPr>
              <p:cNvPr id="12" name="TextBox 12"/>
              <p:cNvSpPr txBox="1"/>
              <p:nvPr/>
            </p:nvSpPr>
            <p:spPr>
              <a:xfrm>
                <a:off x="750570" y="1998345"/>
                <a:ext cx="1595056"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聚类三层次：感官→逻辑→量化</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750570" y="2207895"/>
                <a:ext cx="2063115"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簇的形状多样，不同形状适用不同算法</a:t>
                </a:r>
                <a:endParaRPr lang="zh-CN" sz="900" dirty="0">
                  <a:solidFill>
                    <a:srgbClr val="2C3E50"/>
                  </a:solidFill>
                  <a:latin typeface="Arial" panose="020B0604020202020204"/>
                  <a:ea typeface="微软雅黑" panose="020B0503020204020204" charset="-122"/>
                  <a:cs typeface="Arial" panose="020B0604020202020204"/>
                </a:endParaRPr>
              </a:p>
            </p:txBody>
          </p:sp>
        </p:grpSp>
        <p:grpSp>
          <p:nvGrpSpPr>
            <p:cNvPr id="20" name="Group 20"/>
            <p:cNvGrpSpPr/>
            <p:nvPr/>
          </p:nvGrpSpPr>
          <p:grpSpPr>
            <a:xfrm>
              <a:off x="6286500" y="1571625"/>
              <a:ext cx="5334000" cy="1047750"/>
              <a:chOff x="6286500" y="1571625"/>
              <a:chExt cx="5334000" cy="1047750"/>
            </a:xfrm>
          </p:grpSpPr>
          <p:sp>
            <p:nvSpPr>
              <p:cNvPr id="15" name="Rectangle 15"/>
              <p:cNvSpPr/>
              <p:nvPr/>
            </p:nvSpPr>
            <p:spPr>
              <a:xfrm>
                <a:off x="6286500" y="1571625"/>
                <a:ext cx="5334000" cy="1047750"/>
              </a:xfrm>
              <a:prstGeom prst="roundRect">
                <a:avLst>
                  <a:gd name="adj" fmla="val 7273"/>
                </a:avLst>
              </a:prstGeom>
              <a:solidFill>
                <a:srgbClr val="F5F7FA"/>
              </a:solidFill>
              <a:ln>
                <a:noFill/>
              </a:ln>
            </p:spPr>
          </p:sp>
          <p:sp>
            <p:nvSpPr>
              <p:cNvPr id="16" name="Rectangle 16"/>
              <p:cNvSpPr/>
              <p:nvPr/>
            </p:nvSpPr>
            <p:spPr>
              <a:xfrm>
                <a:off x="6286500" y="1571625"/>
                <a:ext cx="5334000" cy="38100"/>
              </a:xfrm>
              <a:prstGeom prst="roundRect">
                <a:avLst>
                  <a:gd name="adj" fmla="val 50000"/>
                </a:avLst>
              </a:prstGeom>
              <a:solidFill>
                <a:srgbClr val="2980B9"/>
              </a:solidFill>
              <a:ln>
                <a:noFill/>
              </a:ln>
            </p:spPr>
          </p:sp>
          <p:sp>
            <p:nvSpPr>
              <p:cNvPr id="17" name="TextBox 17"/>
              <p:cNvSpPr txBox="1"/>
              <p:nvPr/>
            </p:nvSpPr>
            <p:spPr>
              <a:xfrm>
                <a:off x="6462712" y="1735931"/>
                <a:ext cx="1532888" cy="228600"/>
              </a:xfrm>
              <a:prstGeom prst="rect">
                <a:avLst/>
              </a:prstGeom>
              <a:noFill/>
              <a:ln>
                <a:noFill/>
              </a:ln>
            </p:spPr>
            <p:txBody>
              <a:bodyPr wrap="none" lIns="0" tIns="0" rIns="0" bIns="0" anchor="t" anchorCtr="0">
                <a:spAutoFit/>
              </a:bodyPr>
              <a:lstStyle/>
              <a:p>
                <a:pPr algn="l"/>
                <a:r>
                  <a:rPr lang="zh-CN" sz="1125" b="1" dirty="0">
                    <a:solidFill>
                      <a:srgbClr val="2980B9"/>
                    </a:solidFill>
                    <a:latin typeface="Arial" panose="020B0604020202020204"/>
                    <a:ea typeface="微软雅黑" panose="020B0503020204020204" charset="-122"/>
                    <a:cs typeface="Arial" panose="020B0604020202020204"/>
                  </a:rPr>
                  <a:t>任务2：距离度量方法</a:t>
                </a:r>
                <a:endParaRPr lang="zh-CN" sz="1125" b="1" dirty="0">
                  <a:solidFill>
                    <a:srgbClr val="2980B9"/>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6465570" y="1998345"/>
                <a:ext cx="2075117"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欧氏距离：直线距离·最常用·需标准化</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6465570" y="2207895"/>
                <a:ext cx="2009108"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余弦相似度：方向差异·文本分析常用</a:t>
                </a:r>
                <a:endParaRPr lang="zh-CN" sz="900" dirty="0">
                  <a:solidFill>
                    <a:srgbClr val="2C3E50"/>
                  </a:solidFill>
                  <a:latin typeface="Arial" panose="020B0604020202020204"/>
                  <a:ea typeface="微软雅黑" panose="020B0503020204020204" charset="-122"/>
                  <a:cs typeface="Arial" panose="020B0604020202020204"/>
                </a:endParaRPr>
              </a:p>
            </p:txBody>
          </p:sp>
        </p:grpSp>
        <p:grpSp>
          <p:nvGrpSpPr>
            <p:cNvPr id="26" name="Group 26"/>
            <p:cNvGrpSpPr/>
            <p:nvPr/>
          </p:nvGrpSpPr>
          <p:grpSpPr>
            <a:xfrm>
              <a:off x="571500" y="2809875"/>
              <a:ext cx="5334000" cy="1047750"/>
              <a:chOff x="571500" y="2809875"/>
              <a:chExt cx="5334000" cy="1047750"/>
            </a:xfrm>
          </p:grpSpPr>
          <p:sp>
            <p:nvSpPr>
              <p:cNvPr id="21" name="Rectangle 21"/>
              <p:cNvSpPr/>
              <p:nvPr/>
            </p:nvSpPr>
            <p:spPr>
              <a:xfrm>
                <a:off x="571500" y="2809875"/>
                <a:ext cx="5334000" cy="1047750"/>
              </a:xfrm>
              <a:prstGeom prst="roundRect">
                <a:avLst>
                  <a:gd name="adj" fmla="val 7273"/>
                </a:avLst>
              </a:prstGeom>
              <a:solidFill>
                <a:srgbClr val="F5F7FA"/>
              </a:solidFill>
              <a:ln>
                <a:noFill/>
              </a:ln>
            </p:spPr>
          </p:sp>
          <p:sp>
            <p:nvSpPr>
              <p:cNvPr id="22" name="Rectangle 22"/>
              <p:cNvSpPr/>
              <p:nvPr/>
            </p:nvSpPr>
            <p:spPr>
              <a:xfrm>
                <a:off x="571500" y="2809875"/>
                <a:ext cx="5334000" cy="38100"/>
              </a:xfrm>
              <a:prstGeom prst="roundRect">
                <a:avLst>
                  <a:gd name="adj" fmla="val 50000"/>
                </a:avLst>
              </a:prstGeom>
              <a:solidFill>
                <a:srgbClr val="3498DB"/>
              </a:solidFill>
              <a:ln>
                <a:noFill/>
              </a:ln>
            </p:spPr>
          </p:sp>
          <p:sp>
            <p:nvSpPr>
              <p:cNvPr id="23" name="TextBox 23"/>
              <p:cNvSpPr txBox="1"/>
              <p:nvPr/>
            </p:nvSpPr>
            <p:spPr>
              <a:xfrm>
                <a:off x="747712" y="2974181"/>
                <a:ext cx="1855803" cy="228600"/>
              </a:xfrm>
              <a:prstGeom prst="rect">
                <a:avLst/>
              </a:prstGeom>
              <a:noFill/>
              <a:ln>
                <a:noFill/>
              </a:ln>
            </p:spPr>
            <p:txBody>
              <a:bodyPr wrap="none" lIns="0" tIns="0" rIns="0" bIns="0" anchor="t" anchorCtr="0">
                <a:spAutoFit/>
              </a:bodyPr>
              <a:lstStyle/>
              <a:p>
                <a:pPr algn="l"/>
                <a:r>
                  <a:rPr lang="zh-CN" sz="1125" b="1" dirty="0">
                    <a:solidFill>
                      <a:srgbClr val="3498DB"/>
                    </a:solidFill>
                    <a:latin typeface="Arial" panose="020B0604020202020204"/>
                    <a:ea typeface="微软雅黑" panose="020B0503020204020204" charset="-122"/>
                    <a:cs typeface="Arial" panose="020B0604020202020204"/>
                  </a:rPr>
                  <a:t>任务3：K-means原理步骤</a:t>
                </a:r>
                <a:endParaRPr lang="zh-CN" sz="1125" b="1" dirty="0">
                  <a:solidFill>
                    <a:srgbClr val="3498DB"/>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750570" y="3236595"/>
                <a:ext cx="1727073"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选K点→分配→更新中心→迭代收敛</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750570" y="3446145"/>
                <a:ext cx="2021110"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特点：简洁有效·K值难定·结果不稳定</a:t>
                </a:r>
                <a:endParaRPr lang="zh-CN" sz="900" dirty="0">
                  <a:solidFill>
                    <a:srgbClr val="2C3E50"/>
                  </a:solidFill>
                  <a:latin typeface="Arial" panose="020B0604020202020204"/>
                  <a:ea typeface="微软雅黑" panose="020B0503020204020204" charset="-122"/>
                  <a:cs typeface="Arial" panose="020B0604020202020204"/>
                </a:endParaRPr>
              </a:p>
            </p:txBody>
          </p:sp>
        </p:grpSp>
        <p:grpSp>
          <p:nvGrpSpPr>
            <p:cNvPr id="32" name="Group 32"/>
            <p:cNvGrpSpPr/>
            <p:nvPr/>
          </p:nvGrpSpPr>
          <p:grpSpPr>
            <a:xfrm>
              <a:off x="6286500" y="2809875"/>
              <a:ext cx="5334000" cy="1047750"/>
              <a:chOff x="6286500" y="2809875"/>
              <a:chExt cx="5334000" cy="1047750"/>
            </a:xfrm>
          </p:grpSpPr>
          <p:sp>
            <p:nvSpPr>
              <p:cNvPr id="27" name="Rectangle 27"/>
              <p:cNvSpPr/>
              <p:nvPr/>
            </p:nvSpPr>
            <p:spPr>
              <a:xfrm>
                <a:off x="6286500" y="2809875"/>
                <a:ext cx="5334000" cy="1047750"/>
              </a:xfrm>
              <a:prstGeom prst="roundRect">
                <a:avLst>
                  <a:gd name="adj" fmla="val 7273"/>
                </a:avLst>
              </a:prstGeom>
              <a:solidFill>
                <a:srgbClr val="F5F7FA"/>
              </a:solidFill>
              <a:ln>
                <a:noFill/>
              </a:ln>
            </p:spPr>
          </p:sp>
          <p:sp>
            <p:nvSpPr>
              <p:cNvPr id="28" name="Rectangle 28"/>
              <p:cNvSpPr/>
              <p:nvPr/>
            </p:nvSpPr>
            <p:spPr>
              <a:xfrm>
                <a:off x="6286500" y="2809875"/>
                <a:ext cx="5334000" cy="38100"/>
              </a:xfrm>
              <a:prstGeom prst="roundRect">
                <a:avLst>
                  <a:gd name="adj" fmla="val 50000"/>
                </a:avLst>
              </a:prstGeom>
              <a:solidFill>
                <a:srgbClr val="E74C3C"/>
              </a:solidFill>
              <a:ln>
                <a:noFill/>
              </a:ln>
            </p:spPr>
          </p:sp>
          <p:sp>
            <p:nvSpPr>
              <p:cNvPr id="29" name="TextBox 29"/>
              <p:cNvSpPr txBox="1"/>
              <p:nvPr/>
            </p:nvSpPr>
            <p:spPr>
              <a:xfrm>
                <a:off x="6462712" y="2974181"/>
                <a:ext cx="1391120" cy="228600"/>
              </a:xfrm>
              <a:prstGeom prst="rect">
                <a:avLst/>
              </a:prstGeom>
              <a:noFill/>
              <a:ln>
                <a:noFill/>
              </a:ln>
            </p:spPr>
            <p:txBody>
              <a:bodyPr wrap="none" lIns="0" tIns="0" rIns="0" bIns="0" anchor="t" anchorCtr="0">
                <a:spAutoFit/>
              </a:bodyPr>
              <a:lstStyle/>
              <a:p>
                <a:pPr algn="l"/>
                <a:r>
                  <a:rPr lang="zh-CN" sz="1125" b="1" dirty="0">
                    <a:solidFill>
                      <a:srgbClr val="E74C3C"/>
                    </a:solidFill>
                    <a:latin typeface="Arial" panose="020B0604020202020204"/>
                    <a:ea typeface="微软雅黑" panose="020B0503020204020204" charset="-122"/>
                    <a:cs typeface="Arial" panose="020B0604020202020204"/>
                  </a:rPr>
                  <a:t>任务4：HC算法过程</a:t>
                </a:r>
                <a:endParaRPr lang="zh-CN" sz="1125" b="1" dirty="0">
                  <a:solidFill>
                    <a:srgbClr val="E74C3C"/>
                  </a:solidFill>
                  <a:latin typeface="Arial" panose="020B0604020202020204"/>
                  <a:ea typeface="微软雅黑" panose="020B0503020204020204" charset="-122"/>
                  <a:cs typeface="Arial" panose="020B0604020202020204"/>
                </a:endParaRPr>
              </a:p>
            </p:txBody>
          </p:sp>
          <p:sp>
            <p:nvSpPr>
              <p:cNvPr id="30" name="TextBox 30"/>
              <p:cNvSpPr txBox="1"/>
              <p:nvPr/>
            </p:nvSpPr>
            <p:spPr>
              <a:xfrm>
                <a:off x="6465570" y="3236595"/>
                <a:ext cx="1823085"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凝聚法：自底向上合并最近的两簇</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31" name="TextBox 31"/>
              <p:cNvSpPr txBox="1"/>
              <p:nvPr/>
            </p:nvSpPr>
            <p:spPr>
              <a:xfrm>
                <a:off x="6465570" y="3446145"/>
                <a:ext cx="1889093"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树状图展示层次结构·适合小数据集</a:t>
                </a:r>
                <a:endParaRPr lang="zh-CN" sz="900" dirty="0">
                  <a:solidFill>
                    <a:srgbClr val="2C3E50"/>
                  </a:solidFill>
                  <a:latin typeface="Arial" panose="020B0604020202020204"/>
                  <a:ea typeface="微软雅黑" panose="020B0503020204020204" charset="-122"/>
                  <a:cs typeface="Arial" panose="020B0604020202020204"/>
                </a:endParaRPr>
              </a:p>
            </p:txBody>
          </p:sp>
        </p:grpSp>
        <p:grpSp>
          <p:nvGrpSpPr>
            <p:cNvPr id="38" name="Group 38"/>
            <p:cNvGrpSpPr/>
            <p:nvPr/>
          </p:nvGrpSpPr>
          <p:grpSpPr>
            <a:xfrm>
              <a:off x="571500" y="4048125"/>
              <a:ext cx="5334000" cy="1047750"/>
              <a:chOff x="571500" y="4048125"/>
              <a:chExt cx="5334000" cy="1047750"/>
            </a:xfrm>
          </p:grpSpPr>
          <p:sp>
            <p:nvSpPr>
              <p:cNvPr id="33" name="Rectangle 33"/>
              <p:cNvSpPr/>
              <p:nvPr/>
            </p:nvSpPr>
            <p:spPr>
              <a:xfrm>
                <a:off x="571500" y="4048125"/>
                <a:ext cx="5334000" cy="1047750"/>
              </a:xfrm>
              <a:prstGeom prst="roundRect">
                <a:avLst>
                  <a:gd name="adj" fmla="val 7273"/>
                </a:avLst>
              </a:prstGeom>
              <a:solidFill>
                <a:srgbClr val="F5F7FA"/>
              </a:solidFill>
              <a:ln>
                <a:noFill/>
              </a:ln>
            </p:spPr>
          </p:sp>
          <p:sp>
            <p:nvSpPr>
              <p:cNvPr id="34" name="Rectangle 34"/>
              <p:cNvSpPr/>
              <p:nvPr/>
            </p:nvSpPr>
            <p:spPr>
              <a:xfrm>
                <a:off x="571500" y="4048125"/>
                <a:ext cx="5334000" cy="38100"/>
              </a:xfrm>
              <a:prstGeom prst="roundRect">
                <a:avLst>
                  <a:gd name="adj" fmla="val 50000"/>
                </a:avLst>
              </a:prstGeom>
              <a:solidFill>
                <a:srgbClr val="5DADE2"/>
              </a:solidFill>
              <a:ln>
                <a:noFill/>
              </a:ln>
            </p:spPr>
          </p:sp>
          <p:sp>
            <p:nvSpPr>
              <p:cNvPr id="35" name="TextBox 35"/>
              <p:cNvSpPr txBox="1"/>
              <p:nvPr/>
            </p:nvSpPr>
            <p:spPr>
              <a:xfrm>
                <a:off x="747712" y="4212431"/>
                <a:ext cx="1375368" cy="228600"/>
              </a:xfrm>
              <a:prstGeom prst="rect">
                <a:avLst/>
              </a:prstGeom>
              <a:noFill/>
              <a:ln>
                <a:noFill/>
              </a:ln>
            </p:spPr>
            <p:txBody>
              <a:bodyPr wrap="none" lIns="0" tIns="0" rIns="0" bIns="0" anchor="t" anchorCtr="0">
                <a:spAutoFit/>
              </a:bodyPr>
              <a:lstStyle/>
              <a:p>
                <a:pPr algn="l"/>
                <a:r>
                  <a:rPr lang="zh-CN" sz="1125" b="1" dirty="0">
                    <a:solidFill>
                      <a:srgbClr val="5DADE2"/>
                    </a:solidFill>
                    <a:latin typeface="Arial" panose="020B0604020202020204"/>
                    <a:ea typeface="微软雅黑" panose="020B0503020204020204" charset="-122"/>
                    <a:cs typeface="Arial" panose="020B0604020202020204"/>
                  </a:rPr>
                  <a:t>任务5：树状图解读</a:t>
                </a:r>
                <a:endParaRPr lang="zh-CN" sz="1125" b="1" dirty="0">
                  <a:solidFill>
                    <a:srgbClr val="5DADE2"/>
                  </a:solidFill>
                  <a:latin typeface="Arial" panose="020B0604020202020204"/>
                  <a:ea typeface="微软雅黑" panose="020B0503020204020204" charset="-122"/>
                  <a:cs typeface="Arial" panose="020B0604020202020204"/>
                </a:endParaRPr>
              </a:p>
            </p:txBody>
          </p:sp>
          <p:sp>
            <p:nvSpPr>
              <p:cNvPr id="36" name="TextBox 36"/>
              <p:cNvSpPr txBox="1"/>
              <p:nvPr/>
            </p:nvSpPr>
            <p:spPr>
              <a:xfrm>
                <a:off x="750570" y="4474845"/>
                <a:ext cx="2075117"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横轴数据点·纵轴距离·横线截断定类数</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37" name="TextBox 37"/>
              <p:cNvSpPr txBox="1"/>
              <p:nvPr/>
            </p:nvSpPr>
            <p:spPr>
              <a:xfrm>
                <a:off x="750570" y="4684395"/>
                <a:ext cx="2195132"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从上往下平移横线→与几条垂直相交→几类</a:t>
                </a:r>
                <a:endParaRPr lang="zh-CN" sz="900" dirty="0">
                  <a:solidFill>
                    <a:srgbClr val="2C3E50"/>
                  </a:solidFill>
                  <a:latin typeface="Arial" panose="020B0604020202020204"/>
                  <a:ea typeface="微软雅黑" panose="020B0503020204020204" charset="-122"/>
                  <a:cs typeface="Arial" panose="020B0604020202020204"/>
                </a:endParaRPr>
              </a:p>
            </p:txBody>
          </p:sp>
        </p:grpSp>
        <p:grpSp>
          <p:nvGrpSpPr>
            <p:cNvPr id="44" name="Group 44"/>
            <p:cNvGrpSpPr/>
            <p:nvPr/>
          </p:nvGrpSpPr>
          <p:grpSpPr>
            <a:xfrm>
              <a:off x="6286500" y="4048125"/>
              <a:ext cx="5334000" cy="1047750"/>
              <a:chOff x="6286500" y="4048125"/>
              <a:chExt cx="5334000" cy="1047750"/>
            </a:xfrm>
          </p:grpSpPr>
          <p:sp>
            <p:nvSpPr>
              <p:cNvPr id="39" name="Rectangle 39"/>
              <p:cNvSpPr/>
              <p:nvPr/>
            </p:nvSpPr>
            <p:spPr>
              <a:xfrm>
                <a:off x="6286500" y="4048125"/>
                <a:ext cx="5334000" cy="1047750"/>
              </a:xfrm>
              <a:prstGeom prst="roundRect">
                <a:avLst>
                  <a:gd name="adj" fmla="val 7273"/>
                </a:avLst>
              </a:prstGeom>
              <a:solidFill>
                <a:srgbClr val="F5F7FA"/>
              </a:solidFill>
              <a:ln>
                <a:noFill/>
              </a:ln>
            </p:spPr>
          </p:sp>
          <p:sp>
            <p:nvSpPr>
              <p:cNvPr id="40" name="Rectangle 40"/>
              <p:cNvSpPr/>
              <p:nvPr/>
            </p:nvSpPr>
            <p:spPr>
              <a:xfrm>
                <a:off x="6286500" y="4048125"/>
                <a:ext cx="5334000" cy="38100"/>
              </a:xfrm>
              <a:prstGeom prst="roundRect">
                <a:avLst>
                  <a:gd name="adj" fmla="val 50000"/>
                </a:avLst>
              </a:prstGeom>
              <a:solidFill>
                <a:srgbClr val="1ABC9C"/>
              </a:solidFill>
              <a:ln>
                <a:noFill/>
              </a:ln>
            </p:spPr>
          </p:sp>
          <p:sp>
            <p:nvSpPr>
              <p:cNvPr id="41" name="TextBox 41"/>
              <p:cNvSpPr txBox="1"/>
              <p:nvPr/>
            </p:nvSpPr>
            <p:spPr>
              <a:xfrm>
                <a:off x="6462712" y="4212431"/>
                <a:ext cx="1217849" cy="228600"/>
              </a:xfrm>
              <a:prstGeom prst="rect">
                <a:avLst/>
              </a:prstGeom>
              <a:noFill/>
              <a:ln>
                <a:noFill/>
              </a:ln>
            </p:spPr>
            <p:txBody>
              <a:bodyPr wrap="none" lIns="0" tIns="0" rIns="0" bIns="0" anchor="t" anchorCtr="0">
                <a:spAutoFit/>
              </a:bodyPr>
              <a:lstStyle/>
              <a:p>
                <a:pPr algn="l"/>
                <a:r>
                  <a:rPr lang="zh-CN" sz="1125" b="1" dirty="0">
                    <a:solidFill>
                      <a:srgbClr val="1ABC9C"/>
                    </a:solidFill>
                    <a:latin typeface="Arial" panose="020B0604020202020204"/>
                    <a:ea typeface="微软雅黑" panose="020B0503020204020204" charset="-122"/>
                    <a:cs typeface="Arial" panose="020B0604020202020204"/>
                  </a:rPr>
                  <a:t>任务6：读书笔记</a:t>
                </a:r>
                <a:endParaRPr lang="zh-CN" sz="1125" b="1" dirty="0">
                  <a:solidFill>
                    <a:srgbClr val="1ABC9C"/>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6465570" y="4474845"/>
                <a:ext cx="1811083"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《白话机器学习》第2章 K-means</a:t>
                </a:r>
                <a:endParaRPr lang="zh-CN" sz="900" dirty="0">
                  <a:solidFill>
                    <a:srgbClr val="2C3E50"/>
                  </a:solidFill>
                  <a:latin typeface="Arial" panose="020B0604020202020204"/>
                  <a:ea typeface="微软雅黑" panose="020B0503020204020204" charset="-122"/>
                  <a:cs typeface="Arial" panose="020B0604020202020204"/>
                </a:endParaRPr>
              </a:p>
            </p:txBody>
          </p:sp>
          <p:sp>
            <p:nvSpPr>
              <p:cNvPr id="43" name="TextBox 43"/>
              <p:cNvSpPr txBox="1"/>
              <p:nvPr/>
            </p:nvSpPr>
            <p:spPr>
              <a:xfrm>
                <a:off x="6465570" y="4684395"/>
                <a:ext cx="1715072" cy="182880"/>
              </a:xfrm>
              <a:prstGeom prst="rect">
                <a:avLst/>
              </a:prstGeom>
              <a:noFill/>
              <a:ln>
                <a:noFill/>
              </a:ln>
            </p:spPr>
            <p:txBody>
              <a:bodyPr wrap="none" lIns="0" tIns="0" rIns="0" bIns="0" anchor="t" anchorCtr="0">
                <a:spAutoFit/>
              </a:bodyPr>
              <a:lstStyle/>
              <a:p>
                <a:pPr algn="l"/>
                <a:r>
                  <a:rPr lang="zh-CN" sz="900" dirty="0">
                    <a:solidFill>
                      <a:srgbClr val="2C3E50"/>
                    </a:solidFill>
                    <a:latin typeface="Arial" panose="020B0604020202020204"/>
                    <a:ea typeface="微软雅黑" panose="020B0503020204020204" charset="-122"/>
                    <a:cs typeface="Arial" panose="020B0604020202020204"/>
                  </a:rPr>
                  <a:t>肘部法则确定k值·影迷聚类示例</a:t>
                </a:r>
                <a:endParaRPr lang="zh-CN" sz="900" dirty="0">
                  <a:solidFill>
                    <a:srgbClr val="2C3E50"/>
                  </a:solidFill>
                  <a:latin typeface="Arial" panose="020B0604020202020204"/>
                  <a:ea typeface="微软雅黑" panose="020B0503020204020204" charset="-122"/>
                  <a:cs typeface="Arial" panose="020B0604020202020204"/>
                </a:endParaRPr>
              </a:p>
            </p:txBody>
          </p:sp>
        </p:grpSp>
      </p:grpSp>
      <p:grpSp>
        <p:nvGrpSpPr>
          <p:cNvPr id="47" name="Group 47"/>
          <p:cNvGrpSpPr/>
          <p:nvPr/>
        </p:nvGrpSpPr>
        <p:grpSpPr>
          <a:xfrm>
            <a:off x="4380927" y="5506402"/>
            <a:ext cx="3430145" cy="213360"/>
            <a:chOff x="4380927" y="5506402"/>
            <a:chExt cx="3430145" cy="213360"/>
          </a:xfrm>
        </p:grpSpPr>
        <p:sp>
          <p:nvSpPr>
            <p:cNvPr id="46" name="TextBox 46"/>
            <p:cNvSpPr txBox="1"/>
            <p:nvPr/>
          </p:nvSpPr>
          <p:spPr>
            <a:xfrm>
              <a:off x="4380927" y="5506402"/>
              <a:ext cx="3430145" cy="213360"/>
            </a:xfrm>
            <a:prstGeom prst="rect">
              <a:avLst/>
            </a:prstGeom>
            <a:noFill/>
            <a:ln>
              <a:noFill/>
            </a:ln>
          </p:spPr>
          <p:txBody>
            <a:bodyPr wrap="none" lIns="0" tIns="0" rIns="0" bIns="0" anchor="t" anchorCtr="0">
              <a:spAutoFit/>
            </a:bodyPr>
            <a:lstStyle/>
            <a:p>
              <a:pPr algn="ctr"/>
              <a:r>
                <a:rPr lang="zh-CN" sz="1050" b="1" dirty="0">
                  <a:solidFill>
                    <a:srgbClr val="1A5276"/>
                  </a:solidFill>
                  <a:latin typeface="Arial" panose="020B0604020202020204"/>
                  <a:ea typeface="微软雅黑" panose="020B0503020204020204" charset="-122"/>
                  <a:cs typeface="Arial" panose="020B0604020202020204"/>
                </a:rPr>
                <a:t>聚类本质：无监督学习 — 发现数据中隐藏的群组结构</a:t>
              </a:r>
              <a:endParaRPr lang="zh-CN" sz="1050" b="1" dirty="0">
                <a:solidFill>
                  <a:srgbClr val="1A5276"/>
                </a:solidFill>
                <a:latin typeface="Arial" panose="020B0604020202020204"/>
                <a:ea typeface="微软雅黑" panose="020B0503020204020204" charset="-122"/>
                <a:cs typeface="Arial" panose="020B0604020202020204"/>
              </a:endParaRPr>
            </a:p>
          </p:txBody>
        </p:sp>
      </p:grpSp>
      <p:sp>
        <p:nvSpPr>
          <p:cNvPr id="48" name="TextBox 48"/>
          <p:cNvSpPr txBox="1"/>
          <p:nvPr/>
        </p:nvSpPr>
        <p:spPr>
          <a:xfrm>
            <a:off x="6018562" y="6570345"/>
            <a:ext cx="154877" cy="182880"/>
          </a:xfrm>
          <a:prstGeom prst="rect">
            <a:avLst/>
          </a:prstGeom>
          <a:noFill/>
          <a:ln>
            <a:noFill/>
          </a:ln>
        </p:spPr>
        <p:txBody>
          <a:bodyPr wrap="none" lIns="0" tIns="0" rIns="0" bIns="0" anchor="t" anchorCtr="0">
            <a:spAutoFit/>
          </a:bodyPr>
          <a:lstStyle/>
          <a:p>
            <a:pPr algn="ctr"/>
            <a:r>
              <a:rPr lang="zh-CN" sz="900" dirty="0">
                <a:solidFill>
                  <a:srgbClr val="7F8C8D"/>
                </a:solidFill>
                <a:latin typeface="Arial" panose="020B0604020202020204"/>
                <a:ea typeface="微软雅黑" panose="020B0503020204020204" charset="-122"/>
                <a:cs typeface="Arial" panose="020B0604020202020204"/>
              </a:rPr>
              <a:t>08</a:t>
            </a:r>
            <a:endParaRPr lang="zh-CN" sz="900" dirty="0">
              <a:solidFill>
                <a:srgbClr val="7F8C8D"/>
              </a:solidFill>
              <a:latin typeface="Arial" panose="020B0604020202020204"/>
              <a:ea typeface="微软雅黑" panose="020B050302020402020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slide(fromBottom)">
                                      <p:cBhvr>
                                        <p:cTn id="7" dur="400"/>
                                        <p:tgtEl>
                                          <p:spTgt spid="45"/>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image">
                                      <p:cBhvr>
                                        <p:cTn id="11"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2102</Words>
  <Application>WPS 演示</Application>
  <PresentationFormat>On-screen Show (4:3)</PresentationFormat>
  <Paragraphs>320</Paragraphs>
  <Slides>10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宋体</vt:lpstr>
      <vt:lpstr>Wingdings</vt:lpstr>
      <vt:lpstr>Arial</vt:lpstr>
      <vt:lpstr>微软雅黑</vt:lpstr>
      <vt:lpstr>Consolas</vt:lpstr>
      <vt:lpstr>Arial Unicode MS</vt:lpstr>
      <vt:lpstr>Calibri</vt:lpstr>
      <vt:lpstr>Noto Sans SC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张椅达</cp:lastModifiedBy>
  <cp:revision>2</cp:revision>
  <dcterms:created xsi:type="dcterms:W3CDTF">2013-01-27T09:14:00Z</dcterms:created>
  <dcterms:modified xsi:type="dcterms:W3CDTF">2026-06-14T08:17:46Z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954E25B47BBA4D4E9D6B52350658C5C0_12</vt:lpwstr>
  </property>
</Properties>
</file>