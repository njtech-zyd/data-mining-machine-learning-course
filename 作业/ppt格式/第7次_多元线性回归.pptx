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16932" y="2124075"/>
            <a:ext cx="3758136" cy="3119437"/>
            <a:chOff x="4216932" y="2124075"/>
            <a:chExt cx="3758136" cy="3119437"/>
          </a:xfrm>
        </p:grpSpPr>
        <p:sp>
          <p:nvSpPr>
            <p:cNvPr id="8" name="TextBox 8"/>
            <p:cNvSpPr txBox="1"/>
            <p:nvPr/>
          </p:nvSpPr>
          <p:spPr>
            <a:xfrm>
              <a:off x="5066824" y="2124075"/>
              <a:ext cx="20583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机器学习100天 · 第3天</a:t>
              </a:r>
              <a:endParaRPr lang="zh-CN" sz="15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67917" y="240601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多元线性回归</a:t>
              </a:r>
              <a:endParaRPr lang="zh-CN" sz="33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048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84548" y="3394710"/>
              <a:ext cx="34229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50_Startups数据集 · 3个自变量 · 1个分类变量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6697" y="4251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作业完成内容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7468" y="4553902"/>
              <a:ext cx="3177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作业1：观察数据集特征 · 作业2：OneHot编码过程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7969" y="4792028"/>
              <a:ext cx="3156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作业3：R²评估结果 · 作业4：回归系数与截距分析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16932" y="5030152"/>
              <a:ext cx="3758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作业5：分类变量对回归的影响 · 作业6：Label化vs OneHot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51566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1760" y="5486400"/>
            <a:ext cx="4838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26416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作业1：观察数据集特征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285750"/>
            <a:chOff x="571500" y="1047750"/>
            <a:chExt cx="11049000" cy="2857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285750"/>
            </a:xfrm>
            <a:prstGeom prst="roundRect">
              <a:avLst>
                <a:gd name="adj" fmla="val 13333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618" y="1132999"/>
              <a:ext cx="4945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📌 数据集有几个特征？几列属性？分类变量是什么？数值变量之间与利润的关系如何？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476375"/>
            <a:ext cx="4572000" cy="2069306"/>
            <a:chOff x="571500" y="1476375"/>
            <a:chExt cx="4572000" cy="2069306"/>
          </a:xfrm>
        </p:grpSpPr>
        <p:sp>
          <p:nvSpPr>
            <p:cNvPr id="10" name="Rectangle 10"/>
            <p:cNvSpPr/>
            <p:nvPr/>
          </p:nvSpPr>
          <p:spPr>
            <a:xfrm>
              <a:off x="571500" y="1476375"/>
              <a:ext cx="4572000" cy="200025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522" y="1625441"/>
              <a:ext cx="18086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pandas as pd, numpy as np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1815941"/>
              <a:ext cx="23862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dataset = pd.read_csv('50_Startups.csv')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006441"/>
              <a:ext cx="13576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print(dataset.head(10))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428" y="2213134"/>
              <a:ext cx="202889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R&amp;D Spend Admin Marketing Spend State Profit</a:t>
              </a:r>
              <a:endParaRPr lang="zh-CN" sz="6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428" y="2365534"/>
              <a:ext cx="20423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 165349.2 136897.8 471784.1 New York 192261.8</a:t>
              </a:r>
              <a:endParaRPr lang="zh-CN" sz="6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428" y="2517934"/>
              <a:ext cx="188037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 162597.7 151377.6 443898.5 Calif. 191792.1</a:t>
              </a:r>
              <a:endParaRPr lang="zh-CN" sz="6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3428" y="2670334"/>
              <a:ext cx="19298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 153441.5 101145.6 407934.5 Florida 191050.4</a:t>
              </a:r>
              <a:endParaRPr lang="zh-CN" sz="6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428" y="2822734"/>
              <a:ext cx="16566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...</a:t>
              </a:r>
              <a:endParaRPr lang="zh-CN" sz="6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2997041"/>
              <a:ext cx="17261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print(dataset.shape) # (50, 5)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522" y="3187541"/>
              <a:ext cx="14786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print(dataset.describe())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522" y="3378041"/>
              <a:ext cx="24137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50行5列：3数值+1分类(State)+1目标(Profit)</a:t>
              </a:r>
              <a:endParaRPr lang="zh-CN" sz="825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86375" y="2785104"/>
            <a:ext cx="6477000" cy="1764041"/>
            <a:chOff x="5286375" y="2785104"/>
            <a:chExt cx="6477000" cy="1764041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6375" y="2785104"/>
              <a:ext cx="6477000" cy="1764041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>
            <a:off x="571500" y="3667125"/>
            <a:ext cx="4572000" cy="2095500"/>
            <a:chOff x="571500" y="3667125"/>
            <a:chExt cx="4572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571500" y="3667125"/>
              <a:ext cx="4572000" cy="2095500"/>
            </a:xfrm>
            <a:prstGeom prst="roundRect">
              <a:avLst>
                <a:gd name="adj" fmla="val 272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7712" y="3831431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分析结论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133374"/>
              <a:ext cx="17799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数据集共50条记录，5个字段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618" y="4371499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分类变量：State（3类：NY/CA/FL）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18" y="4609624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R&amp;D与Profit正相关最强（红色）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4847749"/>
              <a:ext cx="2280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Admin/ Marketing与Profit相关性弱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618" y="50858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需OneHot编码State列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24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45948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作业2：OneHot编码（分类变量数字化）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285750"/>
            <a:chOff x="571500" y="1047750"/>
            <a:chExt cx="11049000" cy="2857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285750"/>
            </a:xfrm>
            <a:prstGeom prst="roundRect">
              <a:avLst>
                <a:gd name="adj" fmla="val 13333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618" y="1132999"/>
              <a:ext cx="4653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📌 如何把分类变量State转化为OneHot？过程是什么？为什么不能直接Label化？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476375"/>
            <a:ext cx="5334000" cy="2755106"/>
            <a:chOff x="571500" y="1476375"/>
            <a:chExt cx="5334000" cy="2755106"/>
          </a:xfrm>
        </p:grpSpPr>
        <p:sp>
          <p:nvSpPr>
            <p:cNvPr id="10" name="Rectangle 10"/>
            <p:cNvSpPr/>
            <p:nvPr/>
          </p:nvSpPr>
          <p:spPr>
            <a:xfrm>
              <a:off x="571500" y="1476375"/>
              <a:ext cx="5334000" cy="2667000"/>
            </a:xfrm>
            <a:prstGeom prst="roundRect">
              <a:avLst>
                <a:gd name="adj" fmla="val 214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522" y="1644491"/>
              <a:ext cx="18416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Step 1: LabelEncoder — 文字→数字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1834991"/>
              <a:ext cx="26557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sklearn.preprocessing import LabelEncoder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025491"/>
              <a:ext cx="10605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le = LabelEncoder()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215991"/>
              <a:ext cx="19957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X[:, 3] = le.fit_transform(X[:, 3])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406491"/>
              <a:ext cx="17921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Calif.=0, Florida=1, New York=2</a:t>
              </a:r>
              <a:endParaRPr lang="zh-CN" sz="82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673191"/>
              <a:ext cx="18526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Step 2: OneHotEncoder — 1列→3列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2863691"/>
              <a:ext cx="27657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sklearn.preprocessing import OneHotEncoder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054191"/>
              <a:ext cx="26887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sklearn.compose import ColumnTransformer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3244691"/>
              <a:ext cx="21827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ct = ColumnTransformer(transformers=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2022" y="3416141"/>
              <a:ext cx="36459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[('encoder', OneHotEncoder(), [3])], remainder='passthrough')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522" y="3606641"/>
              <a:ext cx="19571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= np.array(ct.fit_transform(X))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522" y="3873341"/>
              <a:ext cx="19736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Step 3: 避免虚拟变量陷阱（删一列）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522" y="4063841"/>
              <a:ext cx="17921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= X[:, 3:6] # 保留后3列数值特征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476375"/>
            <a:ext cx="5334000" cy="3045619"/>
            <a:chOff x="6286500" y="1476375"/>
            <a:chExt cx="5334000" cy="3045619"/>
          </a:xfrm>
        </p:grpSpPr>
        <p:sp>
          <p:nvSpPr>
            <p:cNvPr id="25" name="Rectangle 25"/>
            <p:cNvSpPr/>
            <p:nvPr/>
          </p:nvSpPr>
          <p:spPr>
            <a:xfrm>
              <a:off x="6286500" y="1476375"/>
              <a:ext cx="5334000" cy="2667000"/>
            </a:xfrm>
            <a:prstGeom prst="roundRect">
              <a:avLst>
                <a:gd name="adj" fmla="val 214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1760" y="1632585"/>
              <a:ext cx="1626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OneHot编码前后对比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1942624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编码后X形状：(50, 6) → 3列OneHot+3列数值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6522" y="2244566"/>
              <a:ext cx="16601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前5行（OneHot部分|数值部分）: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475" y="2471738"/>
              <a:ext cx="199929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[0,0,1 | 165349.2, 136897.8, 471784.1] NY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475" y="2662238"/>
              <a:ext cx="202430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[1,0,0 | 162597.7, 151377.6, 443898.5] CA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475" y="2852738"/>
              <a:ext cx="19742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[0,1,0 | 153441.5, 101145.6, 407934.5] FL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475" y="3043238"/>
              <a:ext cx="19742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[0,0,1 | 144372.4, 118671.9, 383199.6] NY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7475" y="3233738"/>
              <a:ext cx="197429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[0,1,0 | 142107.3, 91391.77, 366168.4] FL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477000" y="3524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3665" y="3649028"/>
              <a:ext cx="2077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能否直接Label(0,1,2)计算？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4618" y="389524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不能！Label(0,1,2)会赋予类别大小关系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4618" y="41143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模型认为2比1大、1比0大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4618" y="43238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OneHot编码确保类别无大小关系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43176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作业3：训练模型 + 预测结果 + R²评估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285750"/>
            <a:chOff x="571500" y="1047750"/>
            <a:chExt cx="11049000" cy="2857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285750"/>
            </a:xfrm>
            <a:prstGeom prst="roundRect">
              <a:avLst>
                <a:gd name="adj" fmla="val 13333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618" y="1132999"/>
              <a:ext cx="3788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📌 如何训练多元线性回归模型？如何评估结果？R²的含义是什么？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476375"/>
            <a:ext cx="5334000" cy="2655094"/>
            <a:chOff x="571500" y="1476375"/>
            <a:chExt cx="5334000" cy="2655094"/>
          </a:xfrm>
        </p:grpSpPr>
        <p:sp>
          <p:nvSpPr>
            <p:cNvPr id="10" name="Rectangle 10"/>
            <p:cNvSpPr/>
            <p:nvPr/>
          </p:nvSpPr>
          <p:spPr>
            <a:xfrm>
              <a:off x="571500" y="1476375"/>
              <a:ext cx="5334000" cy="2381250"/>
            </a:xfrm>
            <a:prstGeom prst="roundRect">
              <a:avLst>
                <a:gd name="adj" fmla="val 24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522" y="1644491"/>
              <a:ext cx="29308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sklearn.model_selection import train_test_split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183499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X_train, X_test, Y_train, Y_test =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2022" y="20064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train_test_split(X, Y, test_size=0.2, random_state=0)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273141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训练：40条训练 | 10条测试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463641"/>
              <a:ext cx="27767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sklearn.linear_model import LinearRegression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654141"/>
              <a:ext cx="17261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regressor = LinearRegression()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2844641"/>
              <a:ext cx="17866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regressor.fit(X_train, Y_train)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111341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预测测试集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3301841"/>
              <a:ext cx="19957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y_pred = regressor.predict(X_test)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522" y="3568541"/>
              <a:ext cx="4555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R²评估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522" y="3759041"/>
              <a:ext cx="15116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R2 = regressor.score(X, Y)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933349"/>
              <a:ext cx="1649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print(f'R² = {R2:.6f}')</a:t>
              </a:r>
              <a:endParaRPr lang="zh-CN" sz="97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1476375"/>
            <a:ext cx="5334000" cy="2624137"/>
            <a:chOff x="6286500" y="1476375"/>
            <a:chExt cx="5334000" cy="2624137"/>
          </a:xfrm>
        </p:grpSpPr>
        <p:sp>
          <p:nvSpPr>
            <p:cNvPr id="24" name="Rectangle 24"/>
            <p:cNvSpPr/>
            <p:nvPr/>
          </p:nvSpPr>
          <p:spPr>
            <a:xfrm>
              <a:off x="6286500" y="1476375"/>
              <a:ext cx="5334000" cy="2381250"/>
            </a:xfrm>
            <a:prstGeom prst="roundRect">
              <a:avLst>
                <a:gd name="adj" fmla="val 24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4618" y="1656874"/>
              <a:ext cx="14874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测试集实际值 vs 预测值: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7475" y="1938338"/>
              <a:ext cx="12942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样本 实际Y 预测Y_pred 差值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475" y="210978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 103282.4 103901.9 +619.5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475" y="2281238"/>
              <a:ext cx="13592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 144259.4 132763.1 -11496.3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475" y="2452688"/>
              <a:ext cx="13592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 146122.0 133567.9 -12554.1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475" y="2624138"/>
              <a:ext cx="12692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 77798.8 72911.8 -4887.0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475" y="2795588"/>
              <a:ext cx="13592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 191050.4 179627.9 -11422.5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475" y="29670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...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6477000" y="3238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9855" y="3378518"/>
              <a:ext cx="1036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R² = 0.9491</a:t>
              </a:r>
              <a:endParaRPr lang="zh-CN" sz="1350" b="1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3665" y="36776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 = 0.9491，说明自变量可以解释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3665" y="3887152"/>
              <a:ext cx="2434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94.91%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的因变量变异 → 拟合效果非常好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98614" y="4048125"/>
            <a:ext cx="3279771" cy="2476500"/>
            <a:chOff x="1598614" y="4048125"/>
            <a:chExt cx="3279771" cy="2476500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98614" y="4048125"/>
              <a:ext cx="3279771" cy="2476500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7035184" y="4048125"/>
            <a:ext cx="3836632" cy="2476500"/>
            <a:chOff x="7035184" y="4048125"/>
            <a:chExt cx="3836632" cy="247650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5184" y="4048125"/>
              <a:ext cx="3836632" cy="2476500"/>
            </a:xfrm>
            <a:prstGeom prst="rect">
              <a:avLst/>
            </a:prstGeom>
          </p:spPr>
        </p:pic>
      </p:grpSp>
      <p:sp>
        <p:nvSpPr>
          <p:cNvPr id="42" name="TextBox 42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37" grpId="0"/>
      <p:bldP spid="39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32087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作业4：回归系数与截距分析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285750"/>
            <a:chOff x="571500" y="1047750"/>
            <a:chExt cx="11049000" cy="2857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285750"/>
            </a:xfrm>
            <a:prstGeom prst="roundRect">
              <a:avLst>
                <a:gd name="adj" fmla="val 13333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618" y="1132999"/>
              <a:ext cx="4178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📌 回归系数(权重)和截距是多少？数学公式是什么？如何解读系数含义？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476375"/>
            <a:ext cx="5334000" cy="1905000"/>
            <a:chOff x="571500" y="1476375"/>
            <a:chExt cx="5334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76375"/>
              <a:ext cx="5334000" cy="1905000"/>
            </a:xfrm>
            <a:prstGeom prst="roundRect">
              <a:avLst>
                <a:gd name="adj" fmla="val 3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522" y="1644491"/>
              <a:ext cx="9945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获取系数（权重）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1834991"/>
              <a:ext cx="11485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bi = regressor.coef_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025491"/>
              <a:ext cx="5105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print(bi)</a:t>
              </a:r>
              <a:endParaRPr lang="zh-CN" sz="825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215991"/>
              <a:ext cx="20947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[0.77884104, 0.0293919, 0.03471025]</a:t>
              </a:r>
              <a:endParaRPr lang="zh-CN" sz="825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482691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获取截距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673191"/>
              <a:ext cx="14511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b0 = regressor.intercept_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2863691"/>
              <a:ext cx="5380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print(b0)</a:t>
              </a:r>
              <a:endParaRPr lang="zh-CN" sz="825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054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42989.01</a:t>
              </a:r>
              <a:endParaRPr lang="zh-CN" sz="825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476375"/>
            <a:ext cx="5334000" cy="2407444"/>
            <a:chOff x="6286500" y="1476375"/>
            <a:chExt cx="5334000" cy="2407444"/>
          </a:xfrm>
        </p:grpSpPr>
        <p:sp>
          <p:nvSpPr>
            <p:cNvPr id="20" name="Rectangle 20"/>
            <p:cNvSpPr/>
            <p:nvPr/>
          </p:nvSpPr>
          <p:spPr>
            <a:xfrm>
              <a:off x="6286500" y="1476375"/>
              <a:ext cx="5334000" cy="1905000"/>
            </a:xfrm>
            <a:prstGeom prst="roundRect">
              <a:avLst>
                <a:gd name="adj" fmla="val 3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1760" y="16611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最终回归公式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1993106"/>
              <a:ext cx="15643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Profit = 0.779 × R&amp;D</a:t>
              </a:r>
              <a:endParaRPr lang="zh-CN" sz="112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2712" y="2240756"/>
              <a:ext cx="1202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+ 0.029 × Admin</a:t>
              </a:r>
              <a:endParaRPr lang="zh-CN" sz="112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2712" y="2488406"/>
              <a:ext cx="1548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+ 0.035 × Marketing</a:t>
              </a:r>
              <a:endParaRPr lang="zh-CN" sz="112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2712" y="27360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+ 42989.01</a:t>
              </a:r>
              <a:endParaRPr lang="zh-CN" sz="112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477000" y="3095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4618" y="3247549"/>
              <a:ext cx="27356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R&amp;D每增加1元 → 利润增加0.779元（最大影响）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466624"/>
              <a:ext cx="28721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Admin每增加1元 → 利润增加0.029元（影响最小）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68569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Marketing每增加1元 → 利润增加0.035元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5804" y="3619500"/>
            <a:ext cx="4545392" cy="2952750"/>
            <a:chOff x="965804" y="3619500"/>
            <a:chExt cx="4545392" cy="295275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5804" y="3619500"/>
              <a:ext cx="4545392" cy="2952750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6627803" y="3619500"/>
            <a:ext cx="4651394" cy="2952750"/>
            <a:chOff x="6627803" y="3619500"/>
            <a:chExt cx="4651394" cy="29527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7803" y="3619500"/>
              <a:ext cx="4651394" cy="2952750"/>
            </a:xfrm>
            <a:prstGeom prst="rect">
              <a:avLst/>
            </a:prstGeom>
          </p:spPr>
        </p:pic>
      </p:grpSp>
      <p:sp>
        <p:nvSpPr>
          <p:cNvPr id="35" name="TextBox 35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30" grpId="0"/>
      <p:bldP spid="3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56408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作业5&amp;6：分类变量影响 + Label化vs OneHot讨论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338739"/>
              <a:ext cx="24513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作业5：分类变量对回归的影响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77352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State是3类分类变量(CA/FL/NY)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915478"/>
              <a:ext cx="1972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OneHot展开为3列二进制特征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" y="2153602"/>
              <a:ext cx="26449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删除1列避免共线性后，剩下3个连续特征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91728"/>
              <a:ext cx="2210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State列被移除，不参与回归方程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629852"/>
              <a:ext cx="2736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影响：OneHot增维但不改变数值特征结构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887028"/>
              <a:ext cx="23859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⑥ 对于不同州的分析可以分别拟合模型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0808" y="1338739"/>
              <a:ext cx="28262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作业6：Label化(0,1,2)是否合理？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3665" y="1677352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❌ 不合理！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3665" y="1934528"/>
              <a:ext cx="25959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原因：LabelEncoder会赋予类别大小关系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3665" y="220122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假设 CA→0, FL→1, NY→2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665" y="2458402"/>
              <a:ext cx="26169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模型中FL的效应是CA的2倍，NY是CA的3倍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744152"/>
              <a:ext cx="2175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State(0,1,2)之间没有大小关系！</a:t>
              </a:r>
              <a:endParaRPr lang="zh-CN" sz="105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3010852"/>
              <a:ext cx="27570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正确做法：OneHot编码（不假定大小关系）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3277552"/>
              <a:ext cx="2743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或OrdinalEncoder（有序分类变量时可用）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000500"/>
            <a:ext cx="11049000" cy="2035969"/>
            <a:chOff x="571500" y="4000500"/>
            <a:chExt cx="11049000" cy="2035969"/>
          </a:xfrm>
        </p:grpSpPr>
        <p:sp>
          <p:nvSpPr>
            <p:cNvPr id="26" name="Rectangle 26"/>
            <p:cNvSpPr/>
            <p:nvPr/>
          </p:nvSpPr>
          <p:spPr>
            <a:xfrm>
              <a:off x="571500" y="4000500"/>
              <a:ext cx="11049000" cy="1714500"/>
            </a:xfrm>
            <a:prstGeom prst="roundRect">
              <a:avLst>
                <a:gd name="adj" fmla="val 555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42571" y="4171950"/>
              <a:ext cx="21068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作业总结与知识收获</a:t>
              </a:r>
              <a:endParaRPr lang="zh-CN" sz="15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1905000" y="452437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8665" y="4696778"/>
              <a:ext cx="364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4923949"/>
              <a:ext cx="33466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50条5列数据，3数值+1分类+1目标，R&amp;D与利润正相关最强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8665" y="51539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618" y="5381149"/>
              <a:ext cx="3379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LabelEncoder+OneHotEncoder+删列，避免虚拟变量陷阱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56111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5838349"/>
              <a:ext cx="31126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R²=0.9491（自变量解释94.91%变异），模型效果很好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68165" y="46967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作业4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69118" y="4923949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公式：Profit=0.779×R&amp;D+0.029×Admin+0.035×Marketing+42989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68165" y="51539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作业5</a:t>
              </a:r>
              <a:endParaRPr lang="zh-CN" sz="1050" b="1" dirty="0">
                <a:solidFill>
                  <a:srgbClr val="5DAD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69118" y="5381149"/>
              <a:ext cx="26900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OneHot编码后分类变量参与或不参与回归均可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4696778"/>
              <a:ext cx="401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BC9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作业6</a:t>
              </a:r>
              <a:endParaRPr lang="zh-CN" sz="1050" b="1" dirty="0">
                <a:solidFill>
                  <a:srgbClr val="1ABC9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9118" y="4923949"/>
              <a:ext cx="26705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✗ 直接Label不合理，赋予类别虚假的大小关系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特征重要性分析与模型诊断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095375"/>
            <a:ext cx="5334000" cy="2667000"/>
            <a:chOff x="571500" y="1095375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模型诊断一：特征贡献度分析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011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回归系数的绝对值反映特征对目标的影响大小：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914049"/>
              <a:ext cx="1435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|w₁| = 0.779 (R&amp;D投入)</a:t>
              </a:r>
              <a:endParaRPr lang="zh-CN" sz="975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61699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498D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|w₃| = 0.035 (Marketing投入)</a:t>
              </a:r>
              <a:endParaRPr lang="zh-CN" sz="975" dirty="0">
                <a:solidFill>
                  <a:srgbClr val="3498D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409349"/>
              <a:ext cx="1480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|w₂| = 0.029 (行政支出)</a:t>
              </a:r>
              <a:endParaRPr lang="zh-CN" sz="97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762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2934652"/>
              <a:ext cx="2175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结论：R&amp;D对利润的影响是Admin的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3172778"/>
              <a:ext cx="2070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26.8倍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，是Marketing的 </a:t>
              </a:r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22.4倍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466624"/>
              <a:ext cx="1955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创业公司应将资源优先投入研发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095375"/>
            <a:ext cx="5334000" cy="2997994"/>
            <a:chOff x="6286500" y="1095375"/>
            <a:chExt cx="5334000" cy="2997994"/>
          </a:xfrm>
        </p:grpSpPr>
        <p:sp>
          <p:nvSpPr>
            <p:cNvPr id="18" name="Rectangle 18"/>
            <p:cNvSpPr/>
            <p:nvPr/>
          </p:nvSpPr>
          <p:spPr>
            <a:xfrm>
              <a:off x="6286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0808" y="127206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模型诊断二：残差分析</a:t>
              </a:r>
              <a:endParaRPr lang="zh-CN" sz="12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3665" y="16011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残差 = 实际值 - 预测值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5570" y="1903095"/>
              <a:ext cx="17990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最大正残差：+10158（预测偏低）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5570" y="2131695"/>
              <a:ext cx="1769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最大负残差：−14115（预测偏高）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5570" y="2360295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残差均值 ≈ 0 ✓ （无偏估计）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477000" y="2714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3665" y="28870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线性回归的四大假设检验：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318087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线性关系 ✓ （散点图呈线性）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3418999"/>
              <a:ext cx="2098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残差独立（Durbin-Watson检验）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3657124"/>
              <a:ext cx="23260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残差同方差 ✓（残差图无明显喇叭形）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89524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残差正态（Q-Q图检验）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37870" y="3952875"/>
            <a:ext cx="4201259" cy="2667000"/>
            <a:chOff x="1137870" y="3952875"/>
            <a:chExt cx="4201259" cy="266700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37870" y="3952875"/>
              <a:ext cx="4201259" cy="2667000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6900742" y="3952875"/>
            <a:ext cx="4105516" cy="2667000"/>
            <a:chOff x="6900742" y="3952875"/>
            <a:chExt cx="4105516" cy="266700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0742" y="3952875"/>
              <a:ext cx="4105516" cy="2667000"/>
            </a:xfrm>
            <a:prstGeom prst="rect">
              <a:avLst/>
            </a:prstGeom>
          </p:spPr>
        </p:pic>
      </p:grpSp>
      <p:sp>
        <p:nvSpPr>
          <p:cNvPr id="35" name="TextBox 35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32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完整代码与学习反思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1095375"/>
            <a:ext cx="6667500" cy="4667250"/>
            <a:chOff x="571500" y="1095375"/>
            <a:chExt cx="666750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6667500" cy="4667250"/>
            </a:xfrm>
            <a:prstGeom prst="roundRect">
              <a:avLst>
                <a:gd name="adj" fmla="val 16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760" y="1280160"/>
              <a:ext cx="12570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完整Python代码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475" y="1614488"/>
              <a:ext cx="16442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pandas as pd, numpy as np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475" y="1785938"/>
              <a:ext cx="25243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sklearn.linear_model import LinearRegression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475" y="1957388"/>
              <a:ext cx="266438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sklearn.model_selection import train_test_split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128838"/>
              <a:ext cx="32344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sklearn.preprocessing import LabelEncoder, OneHotEncoder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475" y="2300288"/>
              <a:ext cx="24443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sklearn.compose import ColumnTransformer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475" y="25384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1. 加载数据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2728912"/>
              <a:ext cx="21693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dataset = pd.read_csv('50_Startups.csv')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2919412"/>
              <a:ext cx="31044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= dataset.iloc[:, 0:4].values; Y = dataset.iloc[:, 4].values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3157538"/>
              <a:ext cx="7941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2. OneHot编码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3348038"/>
              <a:ext cx="27843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le = LabelEncoder(); X[:,3] = le.fit_transform(X[:,3])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475" y="3538538"/>
              <a:ext cx="45446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ct = ColumnTransformer([('encoder', OneHotEncoder(), [3])], remainder='passthrough')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475" y="3729038"/>
              <a:ext cx="21943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 = np.array(ct.fit_transform(X))[:, 3:6]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3967162"/>
              <a:ext cx="844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3. 训练测试划分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475" y="4157662"/>
              <a:ext cx="45296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X_train, X_test, Y_train, Y_test = train_test_split(X, Y, test_size=0.2, random_state=0)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475" y="4395788"/>
              <a:ext cx="10741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4. 训练 + 预测 + 评估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475" y="4586288"/>
              <a:ext cx="325945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regressor = LinearRegression(); regressor.fit(X_train, Y_train)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475" y="4776788"/>
              <a:ext cx="181427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y_pred = regressor.predict(X_test)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475" y="4967288"/>
              <a:ext cx="13742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R2 = regressor.score(X, Y)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475" y="5157788"/>
              <a:ext cx="297942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coeff = regressor.coef_; intercept = regressor.intercept_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475" y="5395912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5. 输出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2475" y="5586412"/>
              <a:ext cx="335946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print(f'R2={R2:.4f}, coeff={coeff}, intercept={intercept:.2f}')</a:t>
              </a:r>
              <a:endParaRPr lang="zh-CN" sz="7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750" y="1095375"/>
            <a:ext cx="4095750" cy="4724400"/>
            <a:chOff x="7524750" y="1095375"/>
            <a:chExt cx="4095750" cy="4724400"/>
          </a:xfrm>
        </p:grpSpPr>
        <p:sp>
          <p:nvSpPr>
            <p:cNvPr id="31" name="Rectangle 31"/>
            <p:cNvSpPr/>
            <p:nvPr/>
          </p:nvSpPr>
          <p:spPr>
            <a:xfrm>
              <a:off x="7524750" y="1095375"/>
              <a:ext cx="4095750" cy="4667250"/>
            </a:xfrm>
            <a:prstGeom prst="roundRect">
              <a:avLst>
                <a:gd name="adj" fmla="val 186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99058" y="1291114"/>
              <a:ext cx="8982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💡 学习反思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7715250" y="1619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01915" y="17916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本次作业的核心收获：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02868" y="213312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1️⃣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数据预处理是基础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6695" y="23602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缺失值、分类变量编码、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46695" y="25507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特征缩放直接影响模型效果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02868" y="2847499"/>
              <a:ext cx="1383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2️⃣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OneHot编码必要性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6695" y="3074670"/>
              <a:ext cx="1643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分类变量不能直接用Label代替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6695" y="32651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防止模型学到错误的大小关系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02868" y="356187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3️⃣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R²不是万能的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6695" y="3789045"/>
              <a:ext cx="1235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R²高不代表模型一定好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46695" y="397954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需结合残差分析诊断模型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02868" y="4276249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4️⃣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业务解释同样重要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6695" y="45034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回归系数的经济含义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46695" y="4693920"/>
              <a:ext cx="15110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R&amp;D的26.8倍影响→决策建议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7715250" y="5048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01915" y="52016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多元线性回归的完整流程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03820" y="5446395"/>
              <a:ext cx="1457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EDA → 编码 → 划分 → 训练 →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03820" y="5636895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评估 → 诊断 → 解释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7-08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4612</Words>
  <Application>WPS 演示</Application>
  <PresentationFormat>On-screen Show (4:3)</PresentationFormat>
  <Paragraphs>388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2</cp:revision>
  <dcterms:created xsi:type="dcterms:W3CDTF">2013-01-27T09:14:00Z</dcterms:created>
  <dcterms:modified xsi:type="dcterms:W3CDTF">2026-06-14T09:28:43Z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CE2B0EBE878444B0A8C6ED91D9888239_12</vt:lpwstr>
  </property>
  <property fmtid="{D5CDD505-2E9C-101B-9397-08002B2CF9AE}" pid="3" name="KSOProductBuildVer">
    <vt:lpwstr>2052-12.1.0.24034</vt:lpwstr>
  </property>
</Properties>
</file>